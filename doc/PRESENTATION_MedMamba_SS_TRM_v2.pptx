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t>
            </a:r>
          </a:p>
          <a:p/>
          <a:p>
            <a:r>
              <a:t>The talk in one sentence: we took MedMamba, made it read a camera with any number of channels,</a:t>
            </a:r>
          </a:p>
          <a:p>
            <a:r>
              <a:t>then shrank it sixty-fold by using the same two layers over and over instead of storing twelve.</a:t>
            </a:r>
          </a:p>
          <a:p/>
          <a:p>
            <a:r>
              <a:t>I assume you know MedMamba, so Part one is one slide. I assume nothing about TRM, the paper in the</a:t>
            </a:r>
          </a:p>
          <a:p>
            <a:r>
              <a:t>middle — that gets taught, and none of it is ours.</a:t>
            </a:r>
          </a:p>
          <a:p/>
          <a:p>
            <a:r>
              <a:t>Twenty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Sort breast tissue into three classes from a microscope image.</a:t>
            </a:r>
          </a:p>
          <a:p/>
          <a:p>
            <a:r>
              <a:t>Healthy. D-C-I-S — carcinoma still contained inside the milk duct. I-D-C — carcinoma that has</a:t>
            </a:r>
          </a:p>
          <a:p>
            <a:r>
              <a:t>broken out. The middle one is the call that matters: contained or invasive changes how the patient</a:t>
            </a:r>
          </a:p>
          <a:p>
            <a:r>
              <a:t>is treated.</a:t>
            </a:r>
          </a:p>
          <a:p/>
          <a:p>
            <a:r>
              <a:t>Now the percentages, because they set a trap. Invasive is sixty-nine percent of our test data and</a:t>
            </a:r>
          </a:p>
          <a:p>
            <a:r>
              <a:t>every model gets it essentially perfect. So every number today is balanced accuracy or macro-F1,</a:t>
            </a:r>
          </a:p>
          <a:p>
            <a:r>
              <a:t>which weigh all three classes equally.</a:t>
            </a:r>
          </a:p>
          <a:p/>
          <a:p>
            <a:r>
              <a:t>And our camera gives thirty-two wavelength bands per pixel, not three colours.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holds the talk together.</a:t>
            </a:r>
          </a:p>
          <a:p/>
          <a:p>
            <a:r>
              <a:t>MedMamba has two numbers frozen into its weights at build time, before it sees any data.</a:t>
            </a:r>
          </a:p>
          <a:p/>
          <a:p>
            <a:r>
              <a:t>C — how many channels it can read, set by the shape of its first layer. The cost is not "works</a:t>
            </a:r>
          </a:p>
          <a:p>
            <a:r>
              <a:t>less well on another camera": the weights will not load. A wall, not a slope.</a:t>
            </a:r>
          </a:p>
          <a:p/>
          <a:p>
            <a:r>
              <a:t>And twelve — how many distinct blocks it stores. Twenty-seven million numbers, about ninety-nine</a:t>
            </a:r>
          </a:p>
          <a:p>
            <a:r>
              <a:t>percent of the model.</a:t>
            </a:r>
          </a:p>
          <a:p/>
          <a:p>
            <a:r>
              <a:t>Part two deletes the first, Part four the second. Part three is someone else's paper, and it is</a:t>
            </a:r>
          </a:p>
          <a:p>
            <a:r>
              <a:t>here because Part four needs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One slide, because you already know this.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reminder, and the only MedMamba slide. Two operations, repeated.</a:t>
            </a:r>
          </a:p>
          <a:p/>
          <a:p>
            <a:r>
              <a:t>Top row is the shape. Cut the image into four-by-four patches; each patch becomes ninety-six</a:t>
            </a:r>
          </a:p>
          <a:p>
            <a:r>
              <a:t>numbers, giving a fifty-six by fifty-six grid of cells. Then four stages — and between each one sits</a:t>
            </a:r>
          </a:p>
          <a:p>
            <a:r>
              <a:t>patch merging: glue every two-by-two group of cells into one, then halve the result. Grid halves,</a:t>
            </a:r>
          </a:p>
          <a:p>
            <a:r>
              <a:t>numbers per cell double. Four times over.</a:t>
            </a:r>
          </a:p>
          <a:p/>
          <a:p>
            <a:r>
              <a:t>Bottom row is the block, and this is the part that does the work. Split a cell's ninety-six numbers</a:t>
            </a:r>
          </a:p>
          <a:p>
            <a:r>
              <a:t>in half. The first forty-eight go through SS2D, which scans the whole grid in four directions</a:t>
            </a:r>
          </a:p>
          <a:p>
            <a:r>
              <a:t>carrying a memory along — the long-range operator. The other forty-eight go through a three-by-three</a:t>
            </a:r>
          </a:p>
          <a:p>
            <a:r>
              <a:t>convolution, which sees only neighbours — local detail. Glue them back, then shuffle the channels so</a:t>
            </a:r>
          </a:p>
          <a:p>
            <a:r>
              <a:t>the halves swap jobs next block.</a:t>
            </a:r>
          </a:p>
          <a:p/>
          <a:p>
            <a:r>
              <a:t>A long-range operator and a local one for about the price of one. We kept all of it.</a:t>
            </a:r>
          </a:p>
          <a:p/>
          <a:p>
            <a:r>
              <a:t>[point at the red box]</a:t>
            </a:r>
          </a:p>
          <a:p/>
          <a:p>
            <a:r>
              <a:t>The only thing we change is that red box.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From MedMamba to MedMamba-SS.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first layer is a convolution, and the input-channel count lives inside its</a:t>
            </a:r>
          </a:p>
          <a:p>
            <a:r>
              <a:t>weight tensor. Three on the left, thirty-two on the right. Different shapes.</a:t>
            </a:r>
          </a:p>
          <a:p/>
          <a:p>
            <a:r>
              <a:t>Say it precisely: it is not that a model trained on one sensor performs badly on another. The file</a:t>
            </a:r>
          </a:p>
          <a:p>
            <a:r>
              <a:t>will not load.</a:t>
            </a:r>
          </a:p>
          <a:p/>
          <a:p>
            <a:r>
              <a:t>Second consequence, subtler and more important. Nothing in that model represents which wavelength a</a:t>
            </a:r>
          </a:p>
          <a:p>
            <a:r>
              <a:t>channel is. Band seven is just index seven — and ours are not evenly spaced; there is a</a:t>
            </a:r>
          </a:p>
          <a:p>
            <a:r>
              <a:t>two-hundred-and-nineteen nanometre jump between two adjacent ones.</a:t>
            </a:r>
          </a:p>
          <a:p/>
          <a:p>
            <a:r>
              <a:t>A spectral model that cannot represent a wavelength is not a spectral model. So we deleted that</a:t>
            </a:r>
          </a:p>
          <a:p>
            <a:r>
              <a:t>layer.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This is the central trick of the first half.</a:t>
            </a:r>
          </a:p>
          <a:p/>
          <a:p>
            <a:r>
              <a:t>One patch has a spectrum — one number per band. Thirty-two if hyperspectral, three if RGB.</a:t>
            </a:r>
          </a:p>
          <a:p/>
          <a:p>
            <a:r>
              <a:t>The normal thing is to feed all of them into one layer at once. That layer needs a slot for each,</a:t>
            </a:r>
          </a:p>
          <a:p>
            <a:r>
              <a:t>and that is where C gets welded in.</a:t>
            </a:r>
          </a:p>
          <a:p/>
          <a:p>
            <a:r>
              <a:t>So we feed them in one at a time.</a:t>
            </a:r>
          </a:p>
          <a:p/>
          <a:p>
            <a:r>
              <a:t>There is a single small layer: linear, one number to thirty-two. It takes one band's value and</a:t>
            </a:r>
          </a:p>
          <a:p>
            <a:r>
              <a:t>returns a vector. Its weight is thirty-two numbers. There is no C in it — there cannot be, because</a:t>
            </a:r>
          </a:p>
          <a:p>
            <a:r>
              <a:t>it only ever sees one value, and cannot know how many times it will be called.</a:t>
            </a:r>
          </a:p>
          <a:p/>
          <a:p>
            <a:r>
              <a:t>Thirty-two bands gives thirty-two tokens. Three gives three. Same weights.</a:t>
            </a:r>
          </a:p>
          <a:p/>
          <a:p>
            <a:r>
              <a:t>Then we average. Thirty-two vectors averaged is one vector; three averaged is one vector. Same size.</a:t>
            </a:r>
          </a:p>
          <a:p>
            <a:r>
              <a:t>From there on, nothing downstream knows how many bands there were.</a:t>
            </a:r>
          </a:p>
          <a:p/>
          <a:p>
            <a:r>
              <a:t>That is the whole trick.</a:t>
            </a:r>
          </a:p>
          <a:p/>
          <a:p>
            <a:r>
              <a:t>[pause — count two]</a:t>
            </a:r>
          </a:p>
          <a:p/>
          <a:p>
            <a:r>
              <a:t>One loose end: averaging throws away order, so every token is first tagged with its wavelength in</a:t>
            </a:r>
          </a:p>
          <a:p>
            <a:r>
              <a:t>nanometres. A physical quantity, not an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receipt.</a:t>
            </a:r>
          </a:p>
          <a:p/>
          <a:p>
            <a:r>
              <a:t>We ran the same model twice and diffed the two config files field by field. They differ in exactly</a:t>
            </a:r>
          </a:p>
          <a:p>
            <a:r>
              <a:t>one place: which directory the data comes from. One points at the thirty-two-band cubes, the other</a:t>
            </a:r>
          </a:p>
          <a:p>
            <a:r>
              <a:t>at a three-channel rendering of the same captures.</a:t>
            </a:r>
          </a:p>
          <a:p/>
          <a:p>
            <a:r>
              <a:t>Four hundred and forty-six thousand, four hundred and nine parameters. Both times.</a:t>
            </a:r>
          </a:p>
          <a:p/>
          <a:p>
            <a:r>
              <a:t>I like this more than any other number here, because it is arithmetic, not statistics — it does not</a:t>
            </a:r>
          </a:p>
          <a:p>
            <a:r>
              <a:t>depend on seed, split or metric.</a:t>
            </a:r>
          </a:p>
          <a:p/>
          <a:p>
            <a:r>
              <a:t>But it is narrow. Storage does not depend on band count. Whether the model is any good at a band</a:t>
            </a:r>
          </a:p>
          <a:p>
            <a:r>
              <a:t>count it never trained on, we did not 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is gone. Now look at where the parameters are — this is the hinge.</a:t>
            </a:r>
          </a:p>
          <a:p/>
          <a:p>
            <a:r>
              <a:t>Everything I just spent five minutes on is thirty-eight thousand parameters: the orange sliver.</a:t>
            </a:r>
          </a:p>
          <a:p>
            <a:r>
              <a:t>Everything else is twenty-seven point four million.</a:t>
            </a:r>
          </a:p>
          <a:p/>
          <a:p>
            <a:r>
              <a:t>And plainly: our addition made the model bigger. MedMamba was three and a half million;</a:t>
            </a:r>
          </a:p>
          <a:p>
            <a:r>
              <a:t>MedMamba-S-S is twenty-seven. A model with more capacity that scores higher has not demonstrated a</a:t>
            </a:r>
          </a:p>
          <a:p>
            <a:r>
              <a:t>better idea.</a:t>
            </a:r>
          </a:p>
          <a:p/>
          <a:p>
            <a:r>
              <a:t>Which sets up one question. Can a backbone reuse the same weights instead of storing twelve sets?</a:t>
            </a:r>
          </a:p>
          <a:p/>
          <a:p>
            <a:r>
              <a:t>That has an answer in a paper from October twenty twenty-five. Nothing in the next seven minutes is</a:t>
            </a:r>
          </a:p>
          <a:p>
            <a:r>
              <a:t>ours.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Nothing in the next seven minutes is ours.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on the paper TRM starts from, because TRM is defined</a:t>
            </a:r>
          </a:p>
          <a:p>
            <a:r>
              <a:t>by what it deleted.</a:t>
            </a:r>
          </a:p>
          <a:p/>
          <a:p>
            <a:r>
              <a:t>HRM — the Hierarchical Reasoning Model. Two small recurrent networks at two speeds: a slow one</a:t>
            </a:r>
          </a:p>
          <a:p>
            <a:r>
              <a:t>updating rarely, a fast one updating often, passing state back and forth. Four layers each,</a:t>
            </a:r>
          </a:p>
          <a:p>
            <a:r>
              <a:t>twenty-seven million parameters. On about a thousand examples it beat the large language models on</a:t>
            </a:r>
          </a:p>
          <a:p>
            <a:r>
              <a:t>Sudoku, mazes and ARC.</a:t>
            </a:r>
          </a:p>
          <a:p/>
          <a:p>
            <a:r>
              <a:t>But it justified its design with two things that should make an engineer uneasy. Biology — arguments</a:t>
            </a:r>
          </a:p>
          <a:p>
            <a:r>
              <a:t>about timescales in the brain. And a fixed-point theorem: assume the loop settles, and you only</a:t>
            </a:r>
          </a:p>
          <a:p>
            <a:r>
              <a:t>backpropagate the last two steps of six.</a:t>
            </a:r>
          </a:p>
          <a:p/>
          <a:p>
            <a:r>
              <a:t>TRM says the loop never settles. Hold that — it comes back in two slides.</a:t>
            </a:r>
          </a:p>
          <a:p/>
          <a:p>
            <a:r>
              <a:t>So TRM is a list of deletions. Two networks to one. Four layers to two. Biology and theorem gone.</a:t>
            </a:r>
          </a:p>
          <a:p>
            <a:r>
              <a:t>Twenty-seven million parameters to seven — and every benchmark goes 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first; the maths is the next slide.</a:t>
            </a:r>
          </a:p>
          <a:p/>
          <a:p>
            <a:r>
              <a:t>You are given a maze — a photograph of one. That is x, the question. You look at it once and it</a:t>
            </a:r>
          </a:p>
          <a:p>
            <a:r>
              <a:t>never changes.</a:t>
            </a:r>
          </a:p>
          <a:p/>
          <a:p>
            <a:r>
              <a:t>You draw a line, start to finish, your best guess, committed, in pencil. That is y, your current</a:t>
            </a:r>
          </a:p>
          <a:p>
            <a:r>
              <a:t>answer — and it is a real answer at every moment. Stop me halfway and I point at the line.</a:t>
            </a:r>
          </a:p>
          <a:p/>
          <a:p>
            <a:r>
              <a:t>Now you look again. That stretch was a dead end. So you rub out that stretch and redraw just that</a:t>
            </a:r>
          </a:p>
          <a:p>
            <a:r>
              <a:t>stretch. You do not start again.</a:t>
            </a:r>
          </a:p>
          <a:p/>
          <a:p>
            <a:r>
              <a:t>f, the circle, is you. One brain — the only thing here with any weights in it. And before each</a:t>
            </a:r>
          </a:p>
          <a:p>
            <a:r>
              <a:t>stroke you think: you rule out corridors, none of it on the paper. That is z, the working.</a:t>
            </a:r>
          </a:p>
          <a:p/>
          <a:p>
            <a:r>
              <a:t>[slow down]</a:t>
            </a:r>
          </a:p>
          <a:p/>
          <a:p>
            <a:r>
              <a:t>Here is the idea that makes it work. The model is never asked "solve this maze". It is asked: "here</a:t>
            </a:r>
          </a:p>
          <a:p>
            <a:r>
              <a:t>is a line that is wrong in places — make it less wrong."</a:t>
            </a:r>
          </a:p>
          <a:p/>
          <a:p>
            <a:r>
              <a:t>A model that must be right in one shot needs the capacity to be right in one shot. A model that only</a:t>
            </a:r>
          </a:p>
          <a:p>
            <a:r>
              <a:t>has to make an answer less wrong does not. It borrows what it is missing from time.</a:t>
            </a:r>
          </a:p>
          <a:p/>
          <a:p>
            <a:r>
              <a:t>[pause — count two]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idea, exactly. Three lines, and it is the whole algorithm.</a:t>
            </a:r>
          </a:p>
          <a:p/>
          <a:p>
            <a:r>
              <a:t>Six times: z equals f of z plus y plus x — update the working. Then once: y equals f of y plus z —</a:t>
            </a:r>
          </a:p>
          <a:p>
            <a:r>
              <a:t>update the answer. That is one round.</a:t>
            </a:r>
          </a:p>
          <a:p/>
          <a:p>
            <a:r>
              <a:t>Three things to notice.</a:t>
            </a:r>
          </a:p>
          <a:p/>
          <a:p>
            <a:r>
              <a:t>One. Both calls are the same network. Same weights, called again. That is the entire parameter</a:t>
            </a:r>
          </a:p>
          <a:p>
            <a:r>
              <a:t>saving.</a:t>
            </a:r>
          </a:p>
          <a:p/>
          <a:p>
            <a:r>
              <a:t>Two. The inputs are added, not stuck side by side. So f's input is the same shape on call one and</a:t>
            </a:r>
          </a:p>
          <a:p>
            <a:r>
              <a:t>call sixty-three. Concatenate instead and the input grows every round.</a:t>
            </a:r>
          </a:p>
          <a:p/>
          <a:p>
            <a:r>
              <a:t>Three, my favourite. Look at what is missing from the answer line. The question. x is in the</a:t>
            </a:r>
          </a:p>
          <a:p>
            <a:r>
              <a:t>scribble line, not the stroke line — the only thing telling one shared network which job it is on.</a:t>
            </a:r>
          </a:p>
          <a:p>
            <a:r>
              <a:t>See x, you are thinking. Do not, you are answering.</a:t>
            </a:r>
          </a:p>
          <a:p/>
          <a:p>
            <a:r>
              <a:t>Which is why a second network is unnecessary, and they measured it: eighty-two point four at ten</a:t>
            </a:r>
          </a:p>
          <a:p>
            <a:r>
              <a:t>million, against eighty-seven point four at five.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with running something twenty-one times: gradients through all of</a:t>
            </a:r>
          </a:p>
          <a:p>
            <a:r>
              <a:t>it means storing twenty-one sets of activations, and you have thrown away the saving you came for.</a:t>
            </a:r>
          </a:p>
          <a:p/>
          <a:p>
            <a:r>
              <a:t>HRM's answer was that fixed-point theorem — backpropagate only the last two steps of six. TRM's</a:t>
            </a:r>
          </a:p>
          <a:p>
            <a:r>
              <a:t>objection: there is no stable point. HRM runs four steps and then asserts it converged. Its own</a:t>
            </a:r>
          </a:p>
          <a:p>
            <a:r>
              <a:t>plots never reach zero.</a:t>
            </a:r>
          </a:p>
          <a:p/>
          <a:p>
            <a:r>
              <a:t>TRM instead runs three rounds per pass, the first two with gradients off. The last carries gradient</a:t>
            </a:r>
          </a:p>
          <a:p>
            <a:r>
              <a:t>through the whole round.</a:t>
            </a:r>
          </a:p>
          <a:p/>
          <a:p>
            <a:r>
              <a:t>The justification is not a theorem, it is the training objective. Deep supervision runs the whole</a:t>
            </a:r>
          </a:p>
          <a:p>
            <a:r>
              <a:t>recursion, takes a loss, then hands its answer and working to another run of itself. So every pass</a:t>
            </a:r>
          </a:p>
          <a:p>
            <a:r>
              <a:t>is handed an imperfect answer and graded on improving it — which is exactly what the gradient-free</a:t>
            </a:r>
          </a:p>
          <a:p>
            <a:r>
              <a:t>rounds rely on.</a:t>
            </a:r>
          </a:p>
          <a:p/>
          <a:p>
            <a:r>
              <a:t>Now the number. Full round backpropagated: eighty-seven point four. HRM's one-step gradient,</a:t>
            </a:r>
          </a:p>
          <a:p>
            <a:r>
              <a:t>everything else identical: fifty-six point five.</a:t>
            </a:r>
          </a:p>
          <a:p/>
          <a:p>
            <a:r>
              <a:t>[pause — count two]</a:t>
            </a:r>
          </a:p>
          <a:p/>
          <a:p>
            <a:r>
              <a:t>Thirty-one points — the largest single effect in the paper. And TRM's version costs more memory,</a:t>
            </a:r>
          </a:p>
          <a:p>
            <a:r>
              <a:t>not less.</a:t>
            </a:r>
          </a:p>
          <a:p/>
          <a:p>
            <a:r>
              <a:t>That is the end of the part that is not ours.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Back to us — and I want to be precise about where TRM goes.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MedMamba-SS is three parts stacked up: the spectral pathway at the front,</a:t>
            </a:r>
          </a:p>
          <a:p>
            <a:r>
              <a:t>the four-stage hierarchy in the middle, the head on top.</a:t>
            </a:r>
          </a:p>
          <a:p/>
          <a:p>
            <a:r>
              <a:t>We replace exactly one — the middle one.</a:t>
            </a:r>
          </a:p>
          <a:p/>
          <a:p>
            <a:r>
              <a:t>The spectral pathway is reused byte for byte. So is the head. Only the backbone is swapped, and it</a:t>
            </a:r>
          </a:p>
          <a:p>
            <a:r>
              <a:t>is swapped behind an interface that does not move: same input shape in, same output keys out.</a:t>
            </a:r>
          </a:p>
          <a:p/>
          <a:p>
            <a:r>
              <a:t>That is what makes this a clean substitution rather than two different models with similar names.</a:t>
            </a:r>
          </a:p>
          <a:p>
            <a:r>
              <a:t>One line in the config decides which backbone runs.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maze, x was a photograph and y a pencil line.</a:t>
            </a:r>
          </a:p>
          <a:p>
            <a:r>
              <a:t>Here they are four tensors.</a:t>
            </a:r>
          </a:p>
          <a:p/>
          <a:p>
            <a:r>
              <a:t>x is the spectral pathway's output through the stem: a grid of feature vectors, one per patch, a</a:t>
            </a:r>
          </a:p>
          <a:p>
            <a:r>
              <a:t>hundred and twenty-eight wide. Computed once, before the recursion, and held fixed for all</a:t>
            </a:r>
          </a:p>
          <a:p>
            <a:r>
              <a:t>sixty-three calls.</a:t>
            </a:r>
          </a:p>
          <a:p/>
          <a:p>
            <a:r>
              <a:t>It has to be fixed. x is the only term in the loop still referring to the image. If it drifted with</a:t>
            </a:r>
          </a:p>
          <a:p>
            <a:r>
              <a:t>the states, the recursion would lose contact with what it is classifying.</a:t>
            </a:r>
          </a:p>
          <a:p/>
          <a:p>
            <a:r>
              <a:t>y is the answer, same shape — literally the grid the head reads. z is the working: same shape, never</a:t>
            </a:r>
          </a:p>
          <a:p>
            <a:r>
              <a:t>decoded.</a:t>
            </a:r>
          </a:p>
          <a:p/>
          <a:p>
            <a:r>
              <a:t>f is two blocks — a mixer, then a gated MLP, each under a post-normalised residual. Three hundred</a:t>
            </a:r>
          </a:p>
          <a:p>
            <a:r>
              <a:t>and ninety-eight thousand parameters, which is eighty-nine percent of the model.</a:t>
            </a:r>
          </a:p>
          <a:p/>
          <a:p>
            <a:r>
              <a:t>One trap: the start states are buffers, not parameters. The first round that reads them is inside</a:t>
            </a:r>
          </a:p>
          <a:p>
            <a:r>
              <a:t>the gradient-free block, so a parameter there would never train. Silently, with no warning.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changes. Four small; one with consequences.</a:t>
            </a:r>
          </a:p>
          <a:p/>
          <a:p>
            <a:r>
              <a:t>Shape — they work on token sequences, we on a two-dimensional grid, because we classify images.</a:t>
            </a:r>
          </a:p>
          <a:p/>
          <a:p>
            <a:r>
              <a:t>The mixer inside f — they use self-attention, we use a depthwise three-by-three convolution. On an</a:t>
            </a:r>
          </a:p>
          <a:p>
            <a:r>
              <a:t>eleven-by-eleven grid attention is overkill, and their own ablation says the mixer is</a:t>
            </a:r>
          </a:p>
          <a:p>
            <a:r>
              <a:t>task-dependent.</a:t>
            </a:r>
          </a:p>
          <a:p/>
          <a:p>
            <a:r>
              <a:t>Passes — sixteen became three: sixty-three calls, not three hundred and thirty-six.</a:t>
            </a:r>
          </a:p>
          <a:p/>
          <a:p>
            <a:r>
              <a:t>Deep supervision is the one with consequences. Ours runs all passes inside one forward, because</a:t>
            </a:r>
          </a:p>
          <a:p>
            <a:r>
              <a:t>every stability check we had is written per batch. The price is memory proportional to passes, which</a:t>
            </a:r>
          </a:p>
          <a:p>
            <a:r>
              <a:t>is why gradient checkpointing stopped being optional.</a:t>
            </a:r>
          </a:p>
          <a:p/>
          <a:p>
            <a:r>
              <a:t>Halting — off. It sat at chance for thirty-three epochs.</a:t>
            </a:r>
          </a:p>
          <a:p/>
          <a:p>
            <a:r>
              <a:t>And be precise: we implemented TRM's recursion, not TRM's blocks.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And the warning up front: single seed, five patients.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cleanest experiment in the project. Two runs whose config files differ</a:t>
            </a:r>
          </a:p>
          <a:p>
            <a:r>
              <a:t>in exactly one field — the input directory. Same model, same recipe, same patients, same three</a:t>
            </a:r>
          </a:p>
          <a:p>
            <a:r>
              <a:t>hundred and forty-eight thousand test patches.</a:t>
            </a:r>
          </a:p>
          <a:p/>
          <a:p>
            <a:r>
              <a:t>Left panel: balanced accuracy, ninety point seven against seventy-five point seven. Fifteen points.</a:t>
            </a:r>
          </a:p>
          <a:p/>
          <a:p>
            <a:r>
              <a:t>But the right panel carries the meaning. Invasive carcinoma: both score zero point nine nine nine.</a:t>
            </a:r>
          </a:p>
          <a:p>
            <a:r>
              <a:t>Identical — and that is sixty-nine percent of the test set, so it says nothing about which is</a:t>
            </a:r>
          </a:p>
          <a:p>
            <a:r>
              <a:t>better.</a:t>
            </a:r>
          </a:p>
          <a:p/>
          <a:p>
            <a:r>
              <a:t>The whole margin is the healthy-versus-D-C-I-S boundary, and most of it is D-C-I-S: the seven</a:t>
            </a:r>
          </a:p>
          <a:p>
            <a:r>
              <a:t>percent minority class, and the consequential call.</a:t>
            </a:r>
          </a:p>
          <a:p/>
          <a:p>
            <a:r>
              <a:t>It survives every threshold-free measure, and it survives an asymmetry against it — the</a:t>
            </a:r>
          </a:p>
          <a:p>
            <a:r>
              <a:t>hyperspectral arm stopped early at twelve epochs while RGB trained all twenty.</a:t>
            </a:r>
          </a:p>
          <a:p/>
          <a:p>
            <a:r>
              <a:t>What weakens it: the validation gap is two points against fifteen on test, and the RGB arm is the</a:t>
            </a:r>
          </a:p>
          <a:p>
            <a:r>
              <a:t>collection's own rendering.</a:t>
            </a:r>
          </a:p>
          <a:p/>
          <a:p>
            <a:r>
              <a:t>One seed, five patients.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 most likely to be useful to someone else — a negative one.</a:t>
            </a:r>
          </a:p>
          <a:p/>
          <a:p>
            <a:r>
              <a:t>Three numbers, read together. Parameters: eight times smaller, which is the number people quote.</a:t>
            </a:r>
          </a:p>
          <a:p>
            <a:r>
              <a:t>FLOPs: a hundred and ninety-one times more arithmetic. Wall-clock: four point four times slower per</a:t>
            </a:r>
          </a:p>
          <a:p>
            <a:r>
              <a:t>epoch.</a:t>
            </a:r>
          </a:p>
          <a:p/>
          <a:p>
            <a:r>
              <a:t>Weight sharing did not reduce the work. It multiplied it by the number of times you share.</a:t>
            </a:r>
          </a:p>
          <a:p/>
          <a:p>
            <a:r>
              <a:t>Two consequences. The forward pass runs the full recursion, so inference pays it too. And without</a:t>
            </a:r>
          </a:p>
          <a:p>
            <a:r>
              <a:t>gradient checkpointing a four-hundred-and-forty-seven thousand parameter model exhausts a</a:t>
            </a:r>
          </a:p>
          <a:p>
            <a:r>
              <a:t>sixteen-gigabyte card, because all sixty-three applications hold their activations alive at once.</a:t>
            </a:r>
          </a:p>
          <a:p/>
          <a:p>
            <a:r>
              <a:t>So: parameter count in a recursive model reports storage, and is close to an inverse indicator of</a:t>
            </a:r>
          </a:p>
          <a:p>
            <a:r>
              <a:t>compute. Quoting nought point four five million without the sixty-three core applications is half a</a:t>
            </a:r>
          </a:p>
          <a:p>
            <a:r>
              <a:t>result.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gaps, because I would rather say them than have them asked.</a:t>
            </a:r>
          </a:p>
          <a:p/>
          <a:p>
            <a:r>
              <a:t>Does the recursion help our model? We do not know. No depth ablation, no hierarchical-versus-</a:t>
            </a:r>
          </a:p>
          <a:p>
            <a:r>
              <a:t>recursive comparison under matched conditions. One flag away, never run.</a:t>
            </a:r>
          </a:p>
          <a:p/>
          <a:p>
            <a:r>
              <a:t>Do we inherit TRM's results? No. Theirs are puzzle grids with a verifiable answer; ours is patch</a:t>
            </a:r>
          </a:p>
          <a:p>
            <a:r>
              <a:t>classification on medical images. We inherited the schedule, not the evidence.</a:t>
            </a:r>
          </a:p>
          <a:p/>
          <a:p>
            <a:r>
              <a:t>Why a convolution and not the scan? Speed — ours is a pure Python loop, thirty-nine times slower at</a:t>
            </a:r>
          </a:p>
          <a:p>
            <a:r>
              <a:t>dataset scale.</a:t>
            </a:r>
          </a:p>
          <a:p/>
          <a:p>
            <a:r>
              <a:t>And underneath all of it: single seed, five patients.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a:t>
            </a:r>
          </a:p>
          <a:p/>
          <a:p>
            <a:r>
              <a:t>Delete C from your weight shapes, and one model serves every sensor.</a:t>
            </a:r>
          </a:p>
          <a:p/>
          <a:p>
            <a:r>
              <a:t>TRM is two lines: working six times, answer once, most of it with gradients off.</a:t>
            </a:r>
          </a:p>
          <a:p/>
          <a:p>
            <a:r>
              <a:t>Three is the one I would keep. Refinement beats capacity — a model that only has to make an answer</a:t>
            </a:r>
          </a:p>
          <a:p>
            <a:r>
              <a:t>less wrong can be far smaller than one that has to be right in one shot.</a:t>
            </a:r>
          </a:p>
          <a:p/>
          <a:p>
            <a:r>
              <a:t>But weight sharing trades storage for compute, steeply. Report both numbers.</a:t>
            </a:r>
          </a:p>
          <a:p/>
          <a:p>
            <a:r>
              <a:t>And be precise about provenance: TRM's recursion, not TRM's blocks.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in the repository — the manuscript with provenance on every</a:t>
            </a:r>
          </a:p>
          <a:p>
            <a:r>
              <a:t>number, the architecture document with the line-by-line citations, and the figures.</a:t>
            </a:r>
          </a:p>
          <a:p/>
          <a:p>
            <a:r>
              <a:t>There are backup slides after this: the full architecture, the results against MedMamba itself, and</a:t>
            </a:r>
          </a:p>
          <a:p>
            <a:r>
              <a:t>the TRM ablation table.</a:t>
            </a:r>
          </a:p>
          <a:p/>
          <a:p>
            <a:r>
              <a:t>Thank you.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Not presented.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reference sheet, drawn in the MedMamba paper figure's own style so the two can</a:t>
            </a:r>
          </a:p>
          <a:p>
            <a:r>
              <a:t>sit side by side. This is the one to print and pin up rather than read from the back of a room.</a:t>
            </a:r>
          </a:p>
          <a:p/>
          <a:p>
            <a:r>
              <a:t>Left panel is the spectral pathway — follow it down to "mean over the band axis", which is where</a:t>
            </a:r>
          </a:p>
          <a:p>
            <a:r>
              <a:t>C disappears. Right panel is the recursive core — the schedule on top, what f actually is</a:t>
            </a:r>
          </a:p>
          <a:p>
            <a:r>
              <a:t>underneath.</a:t>
            </a:r>
          </a:p>
          <a:p/>
          <a:p>
            <a:r>
              <a:t>Two things worth pointing at if the question comes up. The red box under the pipeline is the</a:t>
            </a:r>
          </a:p>
          <a:p>
            <a:r>
              <a:t>auxiliary reconstruction decoder: it exists, it is tested, it is gated, and it is off in every</a:t>
            </a:r>
          </a:p>
          <a:p>
            <a:r>
              <a:t>run we report. And bottom right: every call to f is gradient-checkpointed.</a:t>
            </a:r>
          </a:p>
          <a:p/>
          <a:p>
            <a:r>
              <a:t>This figure carries the earlier name, G-MedMamba-R.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somebody asks what SS2D is.</a:t>
            </a:r>
          </a:p>
          <a:p/>
          <a:p>
            <a:r>
              <a:t>State-space models read a sequence one step at a time carrying a memory forward, built so a GPU</a:t>
            </a:r>
          </a:p>
          <a:p>
            <a:r>
              <a:t>can run it fast — near-linear in sequence length where attention is quadratic. The catch is they</a:t>
            </a:r>
          </a:p>
          <a:p>
            <a:r>
              <a:t>read a line, and an image is not a line.</a:t>
            </a:r>
          </a:p>
          <a:p/>
          <a:p>
            <a:r>
              <a:t>MedMamba's answer: read it four ways and add the readings. The orange is our one change — learn a</a:t>
            </a:r>
          </a:p>
          <a:p>
            <a:r>
              <a:t>weight per direction, so a reading order can be turned down if it is not earning its place.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recursion again, one row per line of code, if the four-line version went too fast</a:t>
            </a:r>
          </a:p>
          <a:p>
            <a:r>
              <a:t>for somebody.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 ablation, if somebody wants a row I did not show. Every line is T-R-M with</a:t>
            </a:r>
          </a:p>
          <a:p>
            <a:r>
              <a:t>one thing put back, against eighty-seven point four as published.</a:t>
            </a:r>
          </a:p>
          <a:p/>
          <a:p>
            <a:r>
              <a:t>The last block is the one I find most telling: they tried actual fixed-point iteration, with</a:t>
            </a:r>
          </a:p>
          <a:p>
            <a:r>
              <a:t>TorchDEQ, and it was both slower and generalized worse. That is the strongest evidence that the</a:t>
            </a:r>
          </a:p>
          <a:p>
            <a:r>
              <a:t>fixed point was never what made H-R-M work.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anyone has seen an older G-MedMamba diagram in circulation, this is the one, and it</a:t>
            </a:r>
          </a:p>
          <a:p>
            <a:r>
              <a:t>does not describe the code.</a:t>
            </a:r>
          </a:p>
          <a:p/>
          <a:p>
            <a:r>
              <a:t>It shows two parallel branches, dense three-D convolutions, spectral pooling and a multi-modal</a:t>
            </a:r>
          </a:p>
          <a:p>
            <a:r>
              <a:t>fusion block. Three of those were never built. The source file says outright that this codebase</a:t>
            </a:r>
          </a:p>
          <a:p>
            <a:r>
              <a:t>never had a dense Conv3D spectral branch.</a:t>
            </a:r>
          </a:p>
          <a:p/>
          <a:p>
            <a:r>
              <a:t>Every row of this figure was checked against the source. Treat that older figure as a design</a:t>
            </a:r>
          </a:p>
          <a:p>
            <a:r>
              <a:t>proposal rather than as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answers, if I need them.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names, because you will hear all three and I do not want</a:t>
            </a:r>
          </a:p>
          <a:p>
            <a:r>
              <a:t>them to blur.</a:t>
            </a:r>
          </a:p>
          <a:p/>
          <a:p>
            <a:r>
              <a:t>MedMamba is the published baseline. Four stages, twelve distinct blocks, and a first layer with</a:t>
            </a:r>
          </a:p>
          <a:p>
            <a:r>
              <a:t>the channel count welded in.</a:t>
            </a:r>
          </a:p>
          <a:p/>
          <a:p>
            <a:r>
              <a:t>MedMamba-S-S is ours. It is MedMamba with one thing added — a spectral pathway at the front that</a:t>
            </a:r>
          </a:p>
          <a:p>
            <a:r>
              <a:t>reads the bands properly. S-S is spectral-spatial. After that change, C is gone.</a:t>
            </a:r>
          </a:p>
          <a:p/>
          <a:p>
            <a:r>
              <a:t>MedMamba-S-S-T-R-M is also ours. It is the middle one with one thing swapped: the four-stage</a:t>
            </a:r>
          </a:p>
          <a:p>
            <a:r>
              <a:t>hierarchy replaced by a single small core called sixty-three times. T-R-M is the paper we</a:t>
            </a:r>
          </a:p>
          <a:p>
            <a:r>
              <a:t>borrowed that from.</a:t>
            </a:r>
          </a:p>
          <a:p/>
          <a:p>
            <a:r>
              <a:t>Look at the parameter counts. Three and a half million, twenty-seven million, then four hundred</a:t>
            </a:r>
          </a:p>
          <a:p>
            <a:r>
              <a:t>and forty-seven thousand. Yes — our first change made the model bigger. I will come back to that</a:t>
            </a:r>
          </a:p>
          <a:p>
            <a:r>
              <a:t>honestly.</a:t>
            </a:r>
          </a:p>
          <a:p/>
          <a:p>
            <a:r>
              <a:t>One housekeeping note: some of our older figures call the third one G-MedMamba-R. Same model,</a:t>
            </a:r>
          </a:p>
          <a:p>
            <a:r>
              <a:t>earlier name.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thing: the camera.</a:t>
            </a:r>
          </a:p>
          <a:p/>
          <a:p>
            <a:r>
              <a:t>An ordinary camera gives you three numbers per pixel — red, green, blue. Three wide,</a:t>
            </a:r>
          </a:p>
          <a:p>
            <a:r>
              <a:t>overlapping buckets. Anything finer than a bucket is averaged away before you see it.</a:t>
            </a:r>
          </a:p>
          <a:p/>
          <a:p>
            <a:r>
              <a:t>A hyperspectral camera gives you thirty-two narrow bands per pixel, chosen out of seven hundred</a:t>
            </a:r>
          </a:p>
          <a:p>
            <a:r>
              <a:t>and forty the instrument can capture. So each pixel carries a small curve: an actual spectrum.</a:t>
            </a:r>
          </a:p>
          <a:p/>
          <a:p>
            <a:r>
              <a:t>That matters because light is absorbed and scattered by tissue according to what the tissue is</a:t>
            </a:r>
          </a:p>
          <a:p>
            <a:r>
              <a:t>made of. A spectrum carries some of that chemistry. Three wide buckets integrate most of it</a:t>
            </a:r>
          </a:p>
          <a:p>
            <a:r>
              <a:t>away.</a:t>
            </a:r>
          </a:p>
          <a:p/>
          <a:p>
            <a:r>
              <a:t>Whether the extra chemistry actually helps a diagnosis is an empirical question, and Part 5 is</a:t>
            </a:r>
          </a:p>
          <a:p>
            <a:r>
              <a:t>our answer — for one dataset. I am not claiming it in general.</a:t>
            </a:r>
          </a:p>
          <a:p/>
          <a:p>
            <a:r>
              <a:t>But notice the engineering problem it creates. If your model is built for three channels and the</a:t>
            </a:r>
          </a:p>
          <a:p>
            <a:r>
              <a:t>camera gives you thirty-two, you are stuck.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you already know MedMamba, so this is a reminder, not a tutorial, and it is</a:t>
            </a:r>
          </a:p>
          <a:p>
            <a:r>
              <a:t>the only MedMamba slide in the talk.</a:t>
            </a:r>
          </a:p>
          <a:p/>
          <a:p>
            <a:r>
              <a:t>Four stages. The picture halves, the features double. Average at the end, one linear layer, done.</a:t>
            </a:r>
          </a:p>
          <a:p>
            <a:r>
              <a:t>Inside each stage is the SS-Conv-SSM block: split the channels, send one half through a</a:t>
            </a:r>
          </a:p>
          <a:p>
            <a:r>
              <a:t>two-dimensional selective scan and the other through convolutions, concatenate and shuffle. A</a:t>
            </a:r>
          </a:p>
          <a:p>
            <a:r>
              <a:t>global operator and a local one for roughly the price of one.</a:t>
            </a:r>
          </a:p>
          <a:p/>
          <a:p>
            <a:r>
              <a:t>We kept all of that. It is worth inheriting and we did not touch it.</a:t>
            </a:r>
          </a:p>
          <a:p/>
          <a:p>
            <a:r>
              <a:t>The only thing on this slide that matters for the next forty minutes is the red box on the far</a:t>
            </a:r>
          </a:p>
          <a:p>
            <a:r>
              <a:t>left. The patch embedding. The very first layer.</a:t>
            </a:r>
          </a:p>
          <a:p/>
          <a:p>
            <a:r>
              <a:t>[point at the red callout]</a:t>
            </a:r>
          </a:p>
          <a:p/>
          <a:p>
            <a:r>
              <a:t>Everything in Part 2 comes out of that one box.</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deleted that layer.</a:t>
            </a:r>
          </a:p>
          <a:p/>
          <a:p>
            <a:r>
              <a:t>Top row is MedMamba. Image, one convolution with C baked in, backbone. Locked to one sensor for</a:t>
            </a:r>
          </a:p>
          <a:p>
            <a:r>
              <a:t>life.</a:t>
            </a:r>
          </a:p>
          <a:p/>
          <a:p>
            <a:r>
              <a:t>Bottom row is ours. Same image, then a chain of small steps — patchify, tokenize, encode,</a:t>
            </a:r>
          </a:p>
          <a:p>
            <a:r>
              <a:t>average, compress — and then the backbone. The next slide is entirely about those two orange</a:t>
            </a:r>
          </a:p>
          <a:p>
            <a:r>
              <a:t>boxes.</a:t>
            </a:r>
          </a:p>
          <a:p/>
          <a:p>
            <a:r>
              <a:t>Now the cost, and I am putting it on the slide rather than saving it for a limitations section,</a:t>
            </a:r>
          </a:p>
          <a:p>
            <a:r>
              <a:t>because it is the first thing a careful listener objects to.</a:t>
            </a:r>
          </a:p>
          <a:p/>
          <a:p>
            <a:r>
              <a:t>The backbone no longer sees pixels. It sees a summary of each patch's spectrum. So texture</a:t>
            </a:r>
          </a:p>
          <a:p>
            <a:r>
              <a:t>inside a patch is gone before the backbone runs.</a:t>
            </a:r>
          </a:p>
          <a:p/>
          <a:p>
            <a:r>
              <a:t>How bad that is depends entirely on patch size. At patch size one, a patch is a single pixel and</a:t>
            </a:r>
          </a:p>
          <a:p>
            <a:r>
              <a:t>you have lost nothing. At patch size eight, it is sixty-four pixels and you have thrown most of</a:t>
            </a:r>
          </a:p>
          <a:p>
            <a:r>
              <a:t>the image away. We use one on the tissue data, which is why this is a fair trade there.</a:t>
            </a:r>
          </a:p>
          <a:p/>
          <a:p>
            <a:r>
              <a:t>That is the cost. Here is what it buys.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spectral pathway hands out a context map. This slide is what we do with it.</a:t>
            </a:r>
          </a:p>
          <a:p/>
          <a:p>
            <a:r>
              <a:t>Grey is MedMamba's block, untouched — you know it, so I am not going to walk it again.</a:t>
            </a:r>
          </a:p>
          <a:p/>
          <a:p>
            <a:r>
              <a:t>The orange badges are ours, and badge one is the only one that matters. The spectrum conditions</a:t>
            </a:r>
          </a:p>
          <a:p>
            <a:r>
              <a:t>the block at every stage, not just once at the input. Concretely: the context map modulates the</a:t>
            </a:r>
          </a:p>
          <a:p>
            <a:r>
              <a:t>features at all four stages, through a FiLM-style scale and shift, plus a per-stage band selector.</a:t>
            </a:r>
          </a:p>
          <a:p/>
          <a:p>
            <a:r>
              <a:t>Why that rather than just feeding the spectrum in at the front? Because a signal injected once at</a:t>
            </a:r>
          </a:p>
          <a:p>
            <a:r>
              <a:t>the input has to survive four stages of downsampling and channel mixing to still be doing work at</a:t>
            </a:r>
          </a:p>
          <a:p>
            <a:r>
              <a:t>the top. Conditioning at every stage means it never has to.</a:t>
            </a:r>
          </a:p>
          <a:p/>
          <a:p>
            <a:r>
              <a:t>Badges two and three are ordinary engineering — a learnable dial on the residual branch, and a</a:t>
            </a:r>
          </a:p>
          <a:p>
            <a:r>
              <a:t>feed-forward block.</a:t>
            </a:r>
          </a:p>
          <a:p/>
          <a:p>
            <a:r>
              <a:t>And the honest cost of all of this is on the next slide but one.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minute on the version that did not work, because if I only show</a:t>
            </a:r>
          </a:p>
          <a:p>
            <a:r>
              <a:t>you the clean result I am selling you something.</a:t>
            </a:r>
          </a:p>
          <a:p/>
          <a:p>
            <a:r>
              <a:t>Every band token gets a value and a wavelength tag. The obvious thing is to add them. One line</a:t>
            </a:r>
          </a:p>
          <a:p>
            <a:r>
              <a:t>of code. That is what we did first.</a:t>
            </a:r>
          </a:p>
          <a:p/>
          <a:p>
            <a:r>
              <a:t>Then we measured the two things we were adding. The embedded band value came out around zero</a:t>
            </a:r>
          </a:p>
          <a:p>
            <a:r>
              <a:t>point zero zero six. The wavelength tag, around zero point five five. The actual signal was</a:t>
            </a:r>
          </a:p>
          <a:p>
            <a:r>
              <a:t>eighty-six to ninety-three times smaller than a tag that is identical for every patch in the</a:t>
            </a:r>
          </a:p>
          <a:p>
            <a:r>
              <a:t>dataset.</a:t>
            </a:r>
          </a:p>
          <a:p/>
          <a:p>
            <a:r>
              <a:t>So we measured how much the output moved when the input changed. Zero point two five percent.</a:t>
            </a:r>
          </a:p>
          <a:p>
            <a:r>
              <a:t>That front end was, to a good approximation, ignoring its own input.</a:t>
            </a:r>
          </a:p>
          <a:p/>
          <a:p>
            <a:r>
              <a:t>Here is the part that should bother you. Nothing crashed. No warning. The loss went down. We</a:t>
            </a:r>
          </a:p>
          <a:p>
            <a:r>
              <a:t>only found it because we had a gate that asserts the embedding must move when the input moves.</a:t>
            </a:r>
          </a:p>
          <a:p/>
          <a:p>
            <a:r>
              <a:t>The fix is on the slide: stop adding, concatenate and put a small network on top.</a:t>
            </a:r>
          </a:p>
          <a:p/>
          <a:p>
            <a:r>
              <a:t>So if anyone asks whether deleting C is a free lunch — no. The idea is cheap. Making it actually</a:t>
            </a:r>
          </a:p>
          <a:p>
            <a:r>
              <a:t>see its input was not.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watch what is actually being asked of the model, because this</a:t>
            </a:r>
          </a:p>
          <a:p>
            <a:r>
              <a:t>is the idea that makes the whole thing work.</a:t>
            </a:r>
          </a:p>
          <a:p/>
          <a:p>
            <a:r>
              <a:t>It is never asked "solve this maze."</a:t>
            </a:r>
          </a:p>
          <a:p/>
          <a:p>
            <a:r>
              <a:t>It is asked: "here is a maze, and here is a line that is wrong in places. Make it less wrong."</a:t>
            </a:r>
          </a:p>
          <a:p/>
          <a:p>
            <a:r>
              <a:t>Follow the panels. A confident start, straight into a dead end. That stretch rubbed out, but the</a:t>
            </a:r>
          </a:p>
          <a:p>
            <a:r>
              <a:t>next one still wrong. Both detours gone, but the line stops short. Then it is right.</a:t>
            </a:r>
          </a:p>
          <a:p/>
          <a:p>
            <a:r>
              <a:t>Every one of those arrows is the same two layers doing the same job.</a:t>
            </a:r>
          </a:p>
          <a:p/>
          <a:p>
            <a:r>
              <a:t>[slow down]</a:t>
            </a:r>
          </a:p>
          <a:p/>
          <a:p>
            <a:r>
              <a:t>A model that has to be right in one shot needs the capacity to be right in one shot. A model</a:t>
            </a:r>
          </a:p>
          <a:p>
            <a:r>
              <a:t>that only has to make an answer less wrong does not. It borrows the capacity it is missing from</a:t>
            </a:r>
          </a:p>
          <a:p>
            <a:r>
              <a:t>time — from being run again.</a:t>
            </a:r>
          </a:p>
          <a:p/>
          <a:p>
            <a:r>
              <a:t>[pause — count two]</a:t>
            </a:r>
          </a:p>
          <a:p/>
          <a:p>
            <a:r>
              <a:t>If you remember one sentence from this part, that is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paper's own language, because you will meet</a:t>
            </a:r>
          </a:p>
          <a:p>
            <a:r>
              <a:t>both letters.</a:t>
            </a:r>
          </a:p>
          <a:p/>
          <a:p>
            <a:r>
              <a:t>y is the answer — and that is a checkable claim, not a figure of speech. Push y through the</a:t>
            </a:r>
          </a:p>
          <a:p>
            <a:r>
              <a:t>output head and you get an actual Sudoku grid. The paper prints one. Decode y halfway through</a:t>
            </a:r>
          </a:p>
          <a:p>
            <a:r>
              <a:t>and you see a partly solved puzzle, getting better.</a:t>
            </a:r>
          </a:p>
          <a:p/>
          <a:p>
            <a:r>
              <a:t>z is the working. Decode z through the same head and you get nothing meaningful. Nobody looks at</a:t>
            </a:r>
          </a:p>
          <a:p>
            <a:r>
              <a:t>it — not you, not the loss.</a:t>
            </a:r>
          </a:p>
          <a:p/>
          <a:p>
            <a:r>
              <a:t>So why exactly two? They tested it, and the bars are the answer.</a:t>
            </a:r>
          </a:p>
          <a:p/>
          <a:p>
            <a:r>
              <a:t>Take z away and it drops to seventy-one point nine — it forgets how it got where it is, so every</a:t>
            </a:r>
          </a:p>
          <a:p>
            <a:r>
              <a:t>pass starts from scratch. Split z into seven features instead of one and it drops to</a:t>
            </a:r>
          </a:p>
          <a:p>
            <a:r>
              <a:t>seventy-seven point six — you have bought capacity and overfitting and nothing else.</a:t>
            </a:r>
          </a:p>
          <a:p/>
          <a:p>
            <a:r>
              <a:t>Both, as published: eighty-seven point four.</a:t>
            </a:r>
          </a:p>
          <a:p/>
          <a:p>
            <a:r>
              <a:t>Hold on to that number, because it makes the rest of this part easy. Every table from here is</a:t>
            </a:r>
          </a:p>
          <a:p>
            <a:r>
              <a:t>the same model with exactly one thing put back. So you never have to remember a table — only</a:t>
            </a:r>
          </a:p>
          <a:p>
            <a:r>
              <a:t>whether the number went down.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idea, and it is what holds up the slide I just</a:t>
            </a:r>
          </a:p>
          <a:p>
            <a:r>
              <a:t>showed you.</a:t>
            </a:r>
          </a:p>
          <a:p/>
          <a:p>
            <a:r>
              <a:t>One loss at the end of a forty-two-deep chain is a miserable thing to train. So instead: run the</a:t>
            </a:r>
          </a:p>
          <a:p>
            <a:r>
              <a:t>whole recursion, check the answer, take a loss — then hand that answer and that working to</a:t>
            </a:r>
          </a:p>
          <a:p>
            <a:r>
              <a:t>another run of the same recursion as its starting point. Up to sixteen times.</a:t>
            </a:r>
          </a:p>
          <a:p/>
          <a:p>
            <a:r>
              <a:t>Between passes you detach, so pass three does not backpropagate into pass one.</a:t>
            </a:r>
          </a:p>
          <a:p/>
          <a:p>
            <a:r>
              <a:t>Now notice what that trains, because this is the bit people miss. Every pass is handed an</a:t>
            </a:r>
          </a:p>
          <a:p>
            <a:r>
              <a:t>imperfect answer and graded on improving it. Which is exactly the property the no-gradient</a:t>
            </a:r>
          </a:p>
          <a:p>
            <a:r>
              <a:t>rounds relied on one slide ago.</a:t>
            </a:r>
          </a:p>
          <a:p/>
          <a:p>
            <a:r>
              <a:t>So the two ideas hold each other up. Deep supervision is what makes the no-grad prelude</a:t>
            </a:r>
          </a:p>
          <a:p>
            <a:r>
              <a:t>legitimate rather than a hack. You cannot take one without the other, and that is what people</a:t>
            </a:r>
          </a:p>
          <a:p>
            <a:r>
              <a:t>get wrong when they reimplement this.</a:t>
            </a:r>
          </a:p>
          <a:p/>
          <a:p>
            <a:r>
              <a:t>The arithmetic: two layers, times seven calls, times three rounds, times sixteen passes. Six</a:t>
            </a:r>
          </a:p>
          <a:p>
            <a:r>
              <a:t>hundred and seventy-two layers of effective depth, out of two layers of stored weights.</a:t>
            </a:r>
          </a:p>
          <a:p/>
          <a:p>
            <a:r>
              <a:t>Last piece: halting. A second tiny head looks at the answer and outputs one number — "is this</a:t>
            </a:r>
          </a:p>
          <a:p>
            <a:r>
              <a:t>already right?". Training-time only, so you stop burning sixteen passes on something you solved</a:t>
            </a:r>
          </a:p>
          <a:p>
            <a:r>
              <a:t>in two.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receipts, and the limits. I am not going to read the numbers.</a:t>
            </a:r>
          </a:p>
          <a:p/>
          <a:p>
            <a:r>
              <a:t>Seven million parameters, about a thousand training examples. On Sudoku and mazes, every large</a:t>
            </a:r>
          </a:p>
          <a:p>
            <a:r>
              <a:t>language model in the comparison scores a flat zero. T-R-M scores eighty-seven and eighty-five.</a:t>
            </a:r>
          </a:p>
          <a:p/>
          <a:p>
            <a:r>
              <a:t>But the bottom row is the one that keeps you honest. Grok-4 beats it on A-R-C. The abstract says</a:t>
            </a:r>
          </a:p>
          <a:p>
            <a:r>
              <a:t>"higher than most large language models" and it means most. Quote this paper as "tiny model</a:t>
            </a:r>
          </a:p>
          <a:p>
            <a:r>
              <a:t>beats the frontier" and somebody will correct you, and you will deserve it.</a:t>
            </a:r>
          </a:p>
          <a:p/>
          <a:p>
            <a:r>
              <a:t>Three more limits. It is not generative — one input, one deterministic answer. Bigger is worse</a:t>
            </a:r>
          </a:p>
          <a:p>
            <a:r>
              <a:t>and nobody knows why: four layers lose to two, and the authors say outright they suspect</a:t>
            </a:r>
          </a:p>
          <a:p>
            <a:r>
              <a:t>overfitting but have no theory. And none of this is measured on medical images.</a:t>
            </a:r>
          </a:p>
          <a:p/>
          <a:p>
            <a:r>
              <a:t>When we get to Part four, we inherited their recursion schedule. We did not inherit their</a:t>
            </a:r>
          </a:p>
          <a:p>
            <a:r>
              <a:t>evidence.</a:t>
            </a:r>
          </a:p>
          <a:p/>
          <a:p>
            <a:r>
              <a:t>And that is the end of the part that is not ours.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minutes compressed into three cards. If you have been</a:t>
            </a:r>
          </a:p>
          <a:p>
            <a:r>
              <a:t>half-listening, start again now, because these three are all you need for Part four.</a:t>
            </a:r>
          </a:p>
          <a:p/>
          <a:p>
            <a:r>
              <a:t>One. Refinement beats capacity. The model is never asked to solve the problem, only to improve a</a:t>
            </a:r>
          </a:p>
          <a:p>
            <a:r>
              <a:t>wrong answer — so it never needs the capacity to be right in one shot.</a:t>
            </a:r>
          </a:p>
          <a:p/>
          <a:p>
            <a:r>
              <a:t>Two. One network, two jobs. Whether it can see the question is the only thing that tells it</a:t>
            </a:r>
          </a:p>
          <a:p>
            <a:r>
              <a:t>which job it is on.</a:t>
            </a:r>
          </a:p>
          <a:p/>
          <a:p>
            <a:r>
              <a:t>Three. Differentiate a whole round, not one step. That was worth thirty-one points.</a:t>
            </a:r>
          </a:p>
          <a:p/>
          <a:p>
            <a:r>
              <a:t>Everything from here is ours again.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swap itself.</a:t>
            </a:r>
          </a:p>
          <a:p/>
          <a:p>
            <a:r>
              <a:t>Same spectral front end. Same head. Same trainer, same metrics, same output keys. One line in</a:t>
            </a:r>
          </a:p>
          <a:p>
            <a:r>
              <a:t>the config decides what goes in the middle.</a:t>
            </a:r>
          </a:p>
          <a:p/>
          <a:p>
            <a:r>
              <a:t>Top row: four stages, twelve distinct blocks, each stored once. Bottom row: a single core — two</a:t>
            </a:r>
          </a:p>
          <a:p>
            <a:r>
              <a:t>blocks, stored once, called a hundred and twenty-six times.</a:t>
            </a:r>
          </a:p>
          <a:p/>
          <a:p>
            <a:r>
              <a:t>The structural claim is the one that does not move, and I would defend it anywhere: twelve</a:t>
            </a:r>
          </a:p>
          <a:p>
            <a:r>
              <a:t>distinct blocks stored, against two stored and applied a hundred and twenty-six times, behind an</a:t>
            </a:r>
          </a:p>
          <a:p>
            <a:r>
              <a:t>interface you cannot tell apart from outside.</a:t>
            </a:r>
          </a:p>
          <a:p/>
          <a:p>
            <a:r>
              <a:t>The multiplier does move, so let me get in front of it. You will see "sixty-one times fewer</a:t>
            </a:r>
          </a:p>
          <a:p>
            <a:r>
              <a:t>parameters" in our write-up. That is against a backbone at MedMamba's widths. Against our own</a:t>
            </a:r>
          </a:p>
          <a:p>
            <a:r>
              <a:t>narrower configuration it is about six. Both are true; they are different comparisons. If I just</a:t>
            </a:r>
          </a:p>
          <a:p>
            <a:r>
              <a:t>said sixty-one and somebody checked, they would find the six — and then wonder what else I had</a:t>
            </a:r>
          </a:p>
          <a:p>
            <a:r>
              <a:t>rounded in my favour.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finished model, in five boxes.</a:t>
            </a:r>
          </a:p>
          <a:p/>
          <a:p>
            <a:r>
              <a:t>A cube goes in, with any number of bands. The spectral pathway turns it into a per-patch summary</a:t>
            </a:r>
          </a:p>
          <a:p>
            <a:r>
              <a:t>— and C disappears at the "mean over the band axis" step. The stem widens it to a hundred and</a:t>
            </a:r>
          </a:p>
          <a:p>
            <a:r>
              <a:t>twenty-eight. The recursive core runs sixty-three times. The head normalises, pools, and picks a</a:t>
            </a:r>
          </a:p>
          <a:p>
            <a:r>
              <a:t>class.</a:t>
            </a:r>
          </a:p>
          <a:p/>
          <a:p>
            <a:r>
              <a:t>Notice what is not here, especially next to the MedMamba diagram from Part one. No stages. No</a:t>
            </a:r>
          </a:p>
          <a:p>
            <a:r>
              <a:t>patch merging. No downsampling. A hundred and twenty-eight wide from the stem to the head.</a:t>
            </a:r>
          </a:p>
          <a:p/>
          <a:p>
            <a:r>
              <a:t>Two things to point at. Left: same front end, same head, same trainer as the hierarchical</a:t>
            </a:r>
          </a:p>
          <a:p>
            <a:r>
              <a:t>version, so the comparison between them really is one flag.</a:t>
            </a:r>
          </a:p>
          <a:p/>
          <a:p>
            <a:r>
              <a:t>Right, in red: every call to f is gradient-checkpointed. That is not a tuning knob. It is the</a:t>
            </a:r>
          </a:p>
          <a:p>
            <a:r>
              <a:t>only reason this fits on the card, and I will show you the number behind that in Part five.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took, and from where.</a:t>
            </a:r>
          </a:p>
          <a:p/>
          <a:p>
            <a:r>
              <a:t>Left, from MedMamba: the scan, the block, the patch merging, the channel shuffle, the</a:t>
            </a:r>
          </a:p>
          <a:p>
            <a:r>
              <a:t>initialisation policy. Several near-verbatim.</a:t>
            </a:r>
          </a:p>
          <a:p/>
          <a:p>
            <a:r>
              <a:t>Middle, from T-R-M: the recursion, the no-gradient prelude, the detaching, the buffer start</a:t>
            </a:r>
          </a:p>
          <a:p>
            <a:r>
              <a:t>states, and the weight-averaging helper — which is a straight copy of their file and says so in</a:t>
            </a:r>
          </a:p>
          <a:p>
            <a:r>
              <a:t>its own docstring.</a:t>
            </a:r>
          </a:p>
          <a:p/>
          <a:p>
            <a:r>
              <a:t>Right, ours: everything spectral, and the starred one, replacing the stem.</a:t>
            </a:r>
          </a:p>
          <a:p/>
          <a:p>
            <a:r>
              <a:t>One subtlety worth twenty seconds, because it is my favourite thing in this codebase.</a:t>
            </a:r>
          </a:p>
          <a:p/>
          <a:p>
            <a:r>
              <a:t>Those start states for z and y are buffers, not learnable parameters. Why does that matter? The</a:t>
            </a:r>
          </a:p>
          <a:p>
            <a:r>
              <a:t>first round that reads them runs inside the no-gradient block. Make them learnable and they</a:t>
            </a:r>
          </a:p>
          <a:p>
            <a:r>
              <a:t>would never receive a gradient. Not once. Silently. No crash, no warning, and the loss curve</a:t>
            </a:r>
          </a:p>
          <a:p>
            <a:r>
              <a:t>would look identical.</a:t>
            </a:r>
          </a:p>
          <a:p/>
          <a:p>
            <a:r>
              <a:t>T-R-M uses buffers. We use buffers. And our source says why, so the next person does not have to</a:t>
            </a:r>
          </a:p>
          <a:p>
            <a:r>
              <a:t>rediscover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result: against MedMamba itself.</a:t>
            </a:r>
          </a:p>
          <a:p/>
          <a:p>
            <a:r>
              <a:t>We trained a MedMamba on the same patient split, holding batch size, precision, seed, checkpoint</a:t>
            </a:r>
          </a:p>
          <a:p>
            <a:r>
              <a:t>rule and GPU fixed. Both are scored on exactly the same test patches.</a:t>
            </a:r>
          </a:p>
          <a:p/>
          <a:p>
            <a:r>
              <a:t>At an eighth of the parameters, ours leads every aggregate metric. Balanced accuracy by four</a:t>
            </a:r>
          </a:p>
          <a:p>
            <a:r>
              <a:t>points. And on D-C-I-S, the class that matters, F1 of zero point seven against zero point</a:t>
            </a:r>
          </a:p>
          <a:p>
            <a:r>
              <a:t>six four.</a:t>
            </a:r>
          </a:p>
          <a:p/>
          <a:p>
            <a:r>
              <a:t>And it costs four point four times the wall-clock to get there.</a:t>
            </a:r>
          </a:p>
          <a:p/>
          <a:p>
            <a:r>
              <a:t>Now the caveat, and take it seriously, because it is large. MedMamba trained on a class-balanced</a:t>
            </a:r>
          </a:p>
          <a:p>
            <a:r>
              <a:t>build. Ours drew from the natural thirteen-to-one imbalance and compensated in the loss instead.</a:t>
            </a:r>
          </a:p>
          <a:p>
            <a:r>
              <a:t>Two different ways of fixing the same problem — and ours also sees more distinct patches over</a:t>
            </a:r>
          </a:p>
          <a:p>
            <a:r>
              <a:t>the run. A model that sees more data and is still reweighted toward the minority class is well</a:t>
            </a:r>
          </a:p>
          <a:p>
            <a:r>
              <a:t>placed to lead both raw and balanced accuracy at once, which is exactly the pattern you are</a:t>
            </a:r>
          </a:p>
          <a:p>
            <a:r>
              <a:t>looking at.</a:t>
            </a:r>
          </a:p>
          <a:p/>
          <a:p>
            <a:r>
              <a:t>Five dimensions are unmatched. So this is indicative, not controlled. I would not attribute that</a:t>
            </a:r>
          </a:p>
          <a:p>
            <a:r>
              <a:t>margin to the backbone, and the experiment that would settle it is one flag away and has not</a:t>
            </a:r>
          </a:p>
          <a:p>
            <a:r>
              <a:t>been run.</a:t>
            </a:r>
          </a:p>
          <a:p/>
          <a:p>
            <a:r>
              <a:t>One thing it does establish, about the dataset rather than about us: MedMamba peaks at epoch</a:t>
            </a:r>
          </a:p>
          <a:p>
            <a:r>
              <a:t>three of thirty and then declines. A three-and-a-half million parameter model saturates this</a:t>
            </a:r>
          </a:p>
          <a:p>
            <a:r>
              <a:t>training set in three epochs.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237744"/>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66560"/>
            <a:ext cx="12191969" cy="91440"/>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737360"/>
            <a:ext cx="10271729" cy="1371600"/>
          </a:xfrm>
          <a:prstGeom prst="rect">
            <a:avLst/>
          </a:prstGeom>
          <a:noFill/>
        </p:spPr>
        <p:txBody>
          <a:bodyPr wrap="square" anchor="t" lIns="0" rIns="0" tIns="0" bIns="0">
            <a:spAutoFit/>
          </a:bodyPr>
          <a:lstStyle/>
          <a:p>
            <a:pPr algn="l"/>
            <a:r>
              <a:rPr sz="4000" b="1">
                <a:solidFill>
                  <a:srgbClr val="1C2430"/>
                </a:solidFill>
                <a:latin typeface="Calibri"/>
              </a:rPr>
              <a:t>One model. Any camera. A twelfth of the weights.</a:t>
            </a:r>
          </a:p>
        </p:txBody>
      </p:sp>
      <p:sp>
        <p:nvSpPr>
          <p:cNvPr id="6" name="TextBox 5"/>
          <p:cNvSpPr txBox="1"/>
          <p:nvPr/>
        </p:nvSpPr>
        <p:spPr>
          <a:xfrm>
            <a:off x="960120" y="2788920"/>
            <a:ext cx="10271729" cy="822960"/>
          </a:xfrm>
          <a:prstGeom prst="rect">
            <a:avLst/>
          </a:prstGeom>
          <a:noFill/>
        </p:spPr>
        <p:txBody>
          <a:bodyPr wrap="square" anchor="t" lIns="0" rIns="0" tIns="0" bIns="0">
            <a:spAutoFit/>
          </a:bodyPr>
          <a:lstStyle/>
          <a:p>
            <a:pPr algn="l"/>
            <a:r>
              <a:rPr sz="2000" b="0">
                <a:solidFill>
                  <a:srgbClr val="5A6472"/>
                </a:solidFill>
                <a:latin typeface="Calibri"/>
              </a:rPr>
              <a:t>MedMamba → MedMamba-SS → MedMamba-SS-TRM</a:t>
            </a:r>
          </a:p>
        </p:txBody>
      </p:sp>
      <p:sp>
        <p:nvSpPr>
          <p:cNvPr id="7" name="Rounded Rectangle 6"/>
          <p:cNvSpPr/>
          <p:nvPr/>
        </p:nvSpPr>
        <p:spPr>
          <a:xfrm>
            <a:off x="960120" y="3703320"/>
            <a:ext cx="2194560" cy="32004"/>
          </a:xfrm>
          <a:prstGeom prst="round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977639"/>
            <a:ext cx="10271729" cy="1920240"/>
          </a:xfrm>
          <a:prstGeom prst="rect">
            <a:avLst/>
          </a:prstGeom>
          <a:noFill/>
        </p:spPr>
        <p:txBody>
          <a:bodyPr wrap="square" anchor="t" lIns="0" rIns="0" tIns="0" bIns="0">
            <a:spAutoFit/>
          </a:bodyPr>
          <a:lstStyle/>
          <a:p>
            <a:pPr algn="l">
              <a:spcAft>
                <a:spcPts val="700"/>
              </a:spcAft>
            </a:pPr>
            <a:r>
              <a:rPr sz="1400" b="0">
                <a:solidFill>
                  <a:srgbClr val="7B8794"/>
                </a:solidFill>
                <a:latin typeface="Calibri"/>
              </a:rPr>
              <a:t>Gabriel M. Del Valle Lopez  ·  Department of Computer Science</a:t>
            </a:r>
          </a:p>
          <a:p>
            <a:pPr algn="l">
              <a:spcAft>
                <a:spcPts val="700"/>
              </a:spcAft>
            </a:pPr>
            <a:r>
              <a:rPr sz="1400" b="0">
                <a:solidFill>
                  <a:srgbClr val="7B8794"/>
                </a:solidFill>
                <a:latin typeface="Calibri"/>
              </a:rPr>
              <a:t>Assumes you have seen </a:t>
            </a:r>
            <a:r>
              <a:rPr sz="1400" b="1">
                <a:solidFill>
                  <a:srgbClr val="7B8794"/>
                </a:solidFill>
                <a:latin typeface="Calibri"/>
              </a:rPr>
              <a:t>MedMamba</a:t>
            </a:r>
            <a:r>
              <a:rPr sz="1400" b="0">
                <a:solidFill>
                  <a:srgbClr val="7B8794"/>
                </a:solidFill>
                <a:latin typeface="Calibri"/>
              </a:rPr>
              <a:t>. Assumes nothing about </a:t>
            </a:r>
            <a:r>
              <a:rPr sz="1400" b="1">
                <a:solidFill>
                  <a:srgbClr val="7B8794"/>
                </a:solidFill>
                <a:latin typeface="Calibri"/>
              </a:rPr>
              <a:t>TRM</a:t>
            </a:r>
            <a:r>
              <a:rPr sz="1400" b="0">
                <a:solidFill>
                  <a:srgbClr val="7B8794"/>
                </a:solidFill>
                <a:latin typeface="Calibri"/>
              </a:rPr>
              <a:t> — that is taught from scratch, and none of it is ours.</a:t>
            </a:r>
          </a:p>
          <a:p>
            <a:pPr algn="l">
              <a:spcAft>
                <a:spcPts val="700"/>
              </a:spcAft>
            </a:pPr>
            <a:r>
              <a:rPr sz="1400" b="0">
                <a:solidFill>
                  <a:srgbClr val="7B8794"/>
                </a:solidFill>
                <a:latin typeface="Calibri"/>
              </a:rPr>
              <a:t>MedMamba → what we changed → TRM → how we integrated it → does it work.</a:t>
            </a:r>
          </a:p>
          <a:p>
            <a:pPr algn="l">
              <a:spcAft>
                <a:spcPts val="700"/>
              </a:spcAft>
            </a:pPr>
            <a:r>
              <a:rPr sz="1400" b="1">
                <a:solidFill>
                  <a:srgbClr val="7B8794"/>
                </a:solidFill>
                <a:latin typeface="Calibri"/>
              </a:rPr>
              <a:t>20 minutes.</a:t>
            </a:r>
            <a:r>
              <a:rPr sz="1400" b="0">
                <a:solidFill>
                  <a:srgbClr val="7B8794"/>
                </a:solidFill>
                <a:latin typeface="Calibri"/>
              </a:rPr>
              <a:t> Five parts, a map on every divider, a picture on every 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5A6472"/>
                </a:solidFill>
                <a:latin typeface="Calibri"/>
              </a:rPr>
              <a:t>THE JOB</a:t>
            </a:r>
          </a:p>
        </p:txBody>
      </p:sp>
      <p:sp>
        <p:nvSpPr>
          <p:cNvPr id="4" name="Rectangle 3"/>
          <p:cNvSpPr/>
          <p:nvPr/>
        </p:nvSpPr>
        <p:spPr>
          <a:xfrm>
            <a:off x="429768" y="5792216"/>
            <a:ext cx="11332433" cy="663448"/>
          </a:xfrm>
          <a:prstGeom prst="rect">
            <a:avLst/>
          </a:prstGeom>
          <a:solidFill>
            <a:srgbClr val="E8F3ED"/>
          </a:solidFill>
          <a:ln w="15875">
            <a:solidFill>
              <a:srgbClr val="4E8C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69 % of the test set is a class everybody already gets right.</a:t>
            </a:r>
            <a:r>
              <a:rPr sz="1400" b="0">
                <a:solidFill>
                  <a:srgbClr val="1C2430"/>
                </a:solidFill>
                <a:latin typeface="Calibri"/>
              </a:rPr>
              <a:t> So every number today is balanced accuracy or macro-F1 — never plain accuracy.</a:t>
            </a:r>
          </a:p>
        </p:txBody>
      </p:sp>
      <p:pic>
        <p:nvPicPr>
          <p:cNvPr id="7" name="Picture 6" descr="fig23_the_task.png"/>
          <p:cNvPicPr>
            <a:picLocks noChangeAspect="1"/>
          </p:cNvPicPr>
          <p:nvPr/>
        </p:nvPicPr>
        <p:blipFill>
          <a:blip r:embed="rId2"/>
          <a:stretch>
            <a:fillRect/>
          </a:stretch>
        </p:blipFill>
        <p:spPr>
          <a:xfrm>
            <a:off x="429768" y="1007222"/>
            <a:ext cx="11332433" cy="4362986"/>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5A6472"/>
                </a:solidFill>
                <a:latin typeface="Calibri"/>
              </a:rPr>
              <a:t>THE SPINE</a:t>
            </a:r>
          </a:p>
        </p:txBody>
      </p:sp>
      <p:sp>
        <p:nvSpPr>
          <p:cNvPr id="4" name="Rectangle 3"/>
          <p:cNvSpPr/>
          <p:nvPr/>
        </p:nvSpPr>
        <p:spPr>
          <a:xfrm>
            <a:off x="429768" y="5792216"/>
            <a:ext cx="11332433" cy="663448"/>
          </a:xfrm>
          <a:prstGeom prst="rect">
            <a:avLst/>
          </a:prstGeom>
          <a:solidFill>
            <a:srgbClr val="F2F4F7"/>
          </a:solidFill>
          <a:ln w="15875">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Two numbers are frozen into the weights at build time.</a:t>
            </a:r>
            <a:r>
              <a:rPr sz="1400" b="0">
                <a:solidFill>
                  <a:srgbClr val="1C2430"/>
                </a:solidFill>
                <a:latin typeface="Calibri"/>
              </a:rPr>
              <a:t> Part 2 deletes the first. Part 4 deletes the second. Part 3 is the tool Part 4 needs.</a:t>
            </a:r>
          </a:p>
        </p:txBody>
      </p:sp>
      <p:pic>
        <p:nvPicPr>
          <p:cNvPr id="7" name="Picture 6" descr="fig21_story_map.png"/>
          <p:cNvPicPr>
            <a:picLocks noChangeAspect="1"/>
          </p:cNvPicPr>
          <p:nvPr/>
        </p:nvPicPr>
        <p:blipFill>
          <a:blip r:embed="rId2"/>
          <a:stretch>
            <a:fillRect/>
          </a:stretch>
        </p:blipFill>
        <p:spPr>
          <a:xfrm>
            <a:off x="429768" y="845735"/>
            <a:ext cx="11332433" cy="4685961"/>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9814529" cy="640080"/>
          </a:xfrm>
          <a:prstGeom prst="rect">
            <a:avLst/>
          </a:prstGeom>
          <a:noFill/>
        </p:spPr>
        <p:txBody>
          <a:bodyPr wrap="square" anchor="t" lIns="0" rIns="0" tIns="0" bIns="0">
            <a:spAutoFit/>
          </a:bodyPr>
          <a:lstStyle/>
          <a:p>
            <a:pPr algn="l"/>
            <a:r>
              <a:rPr sz="1700" b="1">
                <a:solidFill>
                  <a:srgbClr val="5A6472"/>
                </a:solidFill>
                <a:latin typeface="Calibri"/>
              </a:rPr>
              <a:t>PART 1</a:t>
            </a:r>
          </a:p>
        </p:txBody>
      </p:sp>
      <p:sp>
        <p:nvSpPr>
          <p:cNvPr id="5" name="TextBox 4"/>
          <p:cNvSpPr txBox="1"/>
          <p:nvPr/>
        </p:nvSpPr>
        <p:spPr>
          <a:xfrm>
            <a:off x="1188720" y="2304288"/>
            <a:ext cx="9814529" cy="1051560"/>
          </a:xfrm>
          <a:prstGeom prst="rect">
            <a:avLst/>
          </a:prstGeom>
          <a:noFill/>
        </p:spPr>
        <p:txBody>
          <a:bodyPr wrap="square" anchor="t" lIns="0" rIns="0" tIns="0" bIns="0">
            <a:spAutoFit/>
          </a:bodyPr>
          <a:lstStyle/>
          <a:p>
            <a:pPr algn="l"/>
            <a:r>
              <a:rPr sz="4400" b="1">
                <a:solidFill>
                  <a:srgbClr val="1C2430"/>
                </a:solidFill>
                <a:latin typeface="Calibri"/>
              </a:rPr>
              <a:t>MedMamba</a:t>
            </a:r>
          </a:p>
        </p:txBody>
      </p:sp>
      <p:sp>
        <p:nvSpPr>
          <p:cNvPr id="6" name="Rounded Rectangle 5"/>
          <p:cNvSpPr/>
          <p:nvPr/>
        </p:nvSpPr>
        <p:spPr>
          <a:xfrm>
            <a:off x="1188720" y="3493008"/>
            <a:ext cx="2011680" cy="32004"/>
          </a:xfrm>
          <a:prstGeom prst="round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767328"/>
            <a:ext cx="9083009" cy="1737360"/>
          </a:xfrm>
          <a:prstGeom prst="rect">
            <a:avLst/>
          </a:prstGeom>
          <a:noFill/>
        </p:spPr>
        <p:txBody>
          <a:bodyPr wrap="square" anchor="t" lIns="0" rIns="0" tIns="0" bIns="0">
            <a:spAutoFit/>
          </a:bodyPr>
          <a:lstStyle/>
          <a:p>
            <a:pPr algn="l">
              <a:spcAft>
                <a:spcPts val="800"/>
              </a:spcAft>
            </a:pPr>
            <a:r>
              <a:rPr sz="1600" b="0">
                <a:solidFill>
                  <a:srgbClr val="5A6472"/>
                </a:solidFill>
                <a:latin typeface="Calibri"/>
              </a:rPr>
              <a:t>One slide. A reminder, not a tutorial.</a:t>
            </a:r>
          </a:p>
        </p:txBody>
      </p:sp>
      <p:sp>
        <p:nvSpPr>
          <p:cNvPr id="8" name="Rectangle 7"/>
          <p:cNvSpPr/>
          <p:nvPr/>
        </p:nvSpPr>
        <p:spPr>
          <a:xfrm>
            <a:off x="429768" y="5760720"/>
            <a:ext cx="2164073" cy="457200"/>
          </a:xfrm>
          <a:prstGeom prst="rect">
            <a:avLst/>
          </a:prstGeom>
          <a:solidFill>
            <a:srgbClr val="F2F4F7"/>
          </a:solidFill>
          <a:ln w="17780">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 y="5760720"/>
            <a:ext cx="1908041" cy="457200"/>
          </a:xfrm>
          <a:prstGeom prst="rect">
            <a:avLst/>
          </a:prstGeom>
          <a:noFill/>
        </p:spPr>
        <p:txBody>
          <a:bodyPr wrap="square" anchor="ctr" lIns="0" rIns="0" tIns="0" bIns="0">
            <a:spAutoFit/>
          </a:bodyPr>
          <a:lstStyle/>
          <a:p>
            <a:r>
              <a:rPr sz="1150" b="1">
                <a:solidFill>
                  <a:srgbClr val="1C2430"/>
                </a:solidFill>
                <a:latin typeface="Calibri"/>
              </a:rPr>
              <a:t>1  MedMamba</a:t>
            </a:r>
          </a:p>
        </p:txBody>
      </p:sp>
      <p:sp>
        <p:nvSpPr>
          <p:cNvPr id="10" name="Rectangle 9"/>
          <p:cNvSpPr/>
          <p:nvPr/>
        </p:nvSpPr>
        <p:spPr>
          <a:xfrm>
            <a:off x="272185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9873" y="5760720"/>
            <a:ext cx="1908041" cy="457200"/>
          </a:xfrm>
          <a:prstGeom prst="rect">
            <a:avLst/>
          </a:prstGeom>
          <a:noFill/>
        </p:spPr>
        <p:txBody>
          <a:bodyPr wrap="square" anchor="ctr" lIns="0" rIns="0" tIns="0" bIns="0">
            <a:spAutoFit/>
          </a:bodyPr>
          <a:lstStyle/>
          <a:p>
            <a:r>
              <a:rPr sz="1150" b="0">
                <a:solidFill>
                  <a:srgbClr val="A6ADB6"/>
                </a:solidFill>
                <a:latin typeface="Calibri"/>
              </a:rPr>
              <a:t>2  → MedMamba-SS</a:t>
            </a:r>
          </a:p>
        </p:txBody>
      </p:sp>
      <p:sp>
        <p:nvSpPr>
          <p:cNvPr id="12" name="Rectangle 11"/>
          <p:cNvSpPr/>
          <p:nvPr/>
        </p:nvSpPr>
        <p:spPr>
          <a:xfrm>
            <a:off x="501394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1963" y="5760720"/>
            <a:ext cx="1908041" cy="457200"/>
          </a:xfrm>
          <a:prstGeom prst="rect">
            <a:avLst/>
          </a:prstGeom>
          <a:noFill/>
        </p:spPr>
        <p:txBody>
          <a:bodyPr wrap="square" anchor="ctr" lIns="0" rIns="0" tIns="0" bIns="0">
            <a:spAutoFit/>
          </a:bodyPr>
          <a:lstStyle/>
          <a:p>
            <a:r>
              <a:rPr sz="1150" b="0">
                <a:solidFill>
                  <a:srgbClr val="A6ADB6"/>
                </a:solidFill>
                <a:latin typeface="Calibri"/>
              </a:rPr>
              <a:t>3  TRM</a:t>
            </a:r>
          </a:p>
        </p:txBody>
      </p:sp>
      <p:sp>
        <p:nvSpPr>
          <p:cNvPr id="14" name="Rectangle 13"/>
          <p:cNvSpPr/>
          <p:nvPr/>
        </p:nvSpPr>
        <p:spPr>
          <a:xfrm>
            <a:off x="730603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34053" y="5760720"/>
            <a:ext cx="1908041" cy="457200"/>
          </a:xfrm>
          <a:prstGeom prst="rect">
            <a:avLst/>
          </a:prstGeom>
          <a:noFill/>
        </p:spPr>
        <p:txBody>
          <a:bodyPr wrap="square" anchor="ctr" lIns="0" rIns="0" tIns="0" bIns="0">
            <a:spAutoFit/>
          </a:bodyPr>
          <a:lstStyle/>
          <a:p>
            <a:r>
              <a:rPr sz="1150" b="0">
                <a:solidFill>
                  <a:srgbClr val="A6ADB6"/>
                </a:solidFill>
                <a:latin typeface="Calibri"/>
              </a:rPr>
              <a:t>4  → MedMamba-SS-TRM</a:t>
            </a:r>
          </a:p>
        </p:txBody>
      </p:sp>
      <p:sp>
        <p:nvSpPr>
          <p:cNvPr id="16" name="Rectangle 15"/>
          <p:cNvSpPr/>
          <p:nvPr/>
        </p:nvSpPr>
        <p:spPr>
          <a:xfrm>
            <a:off x="959812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26143" y="5760720"/>
            <a:ext cx="1908041" cy="457200"/>
          </a:xfrm>
          <a:prstGeom prst="rect">
            <a:avLst/>
          </a:prstGeom>
          <a:noFill/>
        </p:spPr>
        <p:txBody>
          <a:bodyPr wrap="square" anchor="ctr" lIns="0" rIns="0" tIns="0" bIns="0">
            <a:spAutoFit/>
          </a:bodyPr>
          <a:lstStyle/>
          <a:p>
            <a:r>
              <a:rPr sz="1150" b="0">
                <a:solidFill>
                  <a:srgbClr val="A6ADB6"/>
                </a:solidFill>
                <a:latin typeface="Calibri"/>
              </a:rPr>
              <a:t>5  Results</a:t>
            </a:r>
          </a:p>
        </p:txBody>
      </p:sp>
      <p:sp>
        <p:nvSpPr>
          <p:cNvPr id="18" name="TextBox 1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9" name="TextBox 1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5A6472"/>
                </a:solidFill>
                <a:latin typeface="Calibri"/>
              </a:rPr>
              <a:t>PART 1 · MEDMAMBA, IN ONE SLIDE</a:t>
            </a:r>
          </a:p>
        </p:txBody>
      </p:sp>
      <p:sp>
        <p:nvSpPr>
          <p:cNvPr id="4" name="Rectangle 3"/>
          <p:cNvSpPr/>
          <p:nvPr/>
        </p:nvSpPr>
        <p:spPr>
          <a:xfrm>
            <a:off x="429768" y="5888736"/>
            <a:ext cx="11332433" cy="56692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888736"/>
            <a:ext cx="68580" cy="56692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888736"/>
            <a:ext cx="10829513" cy="566928"/>
          </a:xfrm>
          <a:prstGeom prst="rect">
            <a:avLst/>
          </a:prstGeom>
          <a:noFill/>
        </p:spPr>
        <p:txBody>
          <a:bodyPr wrap="square" anchor="ctr" lIns="0" rIns="0" tIns="0" bIns="0">
            <a:spAutoFit/>
          </a:bodyPr>
          <a:lstStyle/>
          <a:p>
            <a:pPr algn="l"/>
            <a:r>
              <a:rPr sz="1550" b="1">
                <a:solidFill>
                  <a:srgbClr val="1C2430"/>
                </a:solidFill>
                <a:latin typeface="Calibri"/>
              </a:rPr>
              <a:t>Two operations, repeated:</a:t>
            </a:r>
            <a:r>
              <a:rPr sz="1550" b="0">
                <a:solidFill>
                  <a:srgbClr val="1C2430"/>
                </a:solidFill>
                <a:latin typeface="Calibri"/>
              </a:rPr>
              <a:t> patch merging shrinks the grid, the block does the work.</a:t>
            </a:r>
          </a:p>
        </p:txBody>
      </p:sp>
      <p:pic>
        <p:nvPicPr>
          <p:cNvPr id="7" name="Picture 6" descr="fig38_medmamba_clear.png"/>
          <p:cNvPicPr>
            <a:picLocks noChangeAspect="1"/>
          </p:cNvPicPr>
          <p:nvPr/>
        </p:nvPicPr>
        <p:blipFill>
          <a:blip r:embed="rId2"/>
          <a:stretch>
            <a:fillRect/>
          </a:stretch>
        </p:blipFill>
        <p:spPr>
          <a:xfrm>
            <a:off x="1573146" y="713232"/>
            <a:ext cx="9045677" cy="504748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FB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9814529" cy="640080"/>
          </a:xfrm>
          <a:prstGeom prst="rect">
            <a:avLst/>
          </a:prstGeom>
          <a:noFill/>
        </p:spPr>
        <p:txBody>
          <a:bodyPr wrap="square" anchor="t" lIns="0" rIns="0" tIns="0" bIns="0">
            <a:spAutoFit/>
          </a:bodyPr>
          <a:lstStyle/>
          <a:p>
            <a:pPr algn="l"/>
            <a:r>
              <a:rPr sz="1700" b="1">
                <a:solidFill>
                  <a:srgbClr val="C2703A"/>
                </a:solidFill>
                <a:latin typeface="Calibri"/>
              </a:rPr>
              <a:t>PART 2</a:t>
            </a:r>
          </a:p>
        </p:txBody>
      </p:sp>
      <p:sp>
        <p:nvSpPr>
          <p:cNvPr id="5" name="TextBox 4"/>
          <p:cNvSpPr txBox="1"/>
          <p:nvPr/>
        </p:nvSpPr>
        <p:spPr>
          <a:xfrm>
            <a:off x="1188720" y="2304288"/>
            <a:ext cx="9814529" cy="1051560"/>
          </a:xfrm>
          <a:prstGeom prst="rect">
            <a:avLst/>
          </a:prstGeom>
          <a:noFill/>
        </p:spPr>
        <p:txBody>
          <a:bodyPr wrap="square" anchor="t" lIns="0" rIns="0" tIns="0" bIns="0">
            <a:spAutoFit/>
          </a:bodyPr>
          <a:lstStyle/>
          <a:p>
            <a:pPr algn="l"/>
            <a:r>
              <a:rPr sz="4400" b="1">
                <a:solidFill>
                  <a:srgbClr val="1C2430"/>
                </a:solidFill>
                <a:latin typeface="Calibri"/>
              </a:rPr>
              <a:t>→ MedMamba-SS</a:t>
            </a:r>
          </a:p>
        </p:txBody>
      </p:sp>
      <p:sp>
        <p:nvSpPr>
          <p:cNvPr id="6" name="Rounded Rectangle 5"/>
          <p:cNvSpPr/>
          <p:nvPr/>
        </p:nvSpPr>
        <p:spPr>
          <a:xfrm>
            <a:off x="1188720" y="3493008"/>
            <a:ext cx="2011680" cy="32004"/>
          </a:xfrm>
          <a:prstGeom prst="round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767328"/>
            <a:ext cx="9083009" cy="1737360"/>
          </a:xfrm>
          <a:prstGeom prst="rect">
            <a:avLst/>
          </a:prstGeom>
          <a:noFill/>
        </p:spPr>
        <p:txBody>
          <a:bodyPr wrap="square" anchor="t" lIns="0" rIns="0" tIns="0" bIns="0">
            <a:spAutoFit/>
          </a:bodyPr>
          <a:lstStyle/>
          <a:p>
            <a:pPr algn="l">
              <a:spcAft>
                <a:spcPts val="800"/>
              </a:spcAft>
            </a:pPr>
            <a:r>
              <a:rPr sz="1600" b="0">
                <a:solidFill>
                  <a:srgbClr val="5A6472"/>
                </a:solidFill>
                <a:latin typeface="Calibri"/>
              </a:rPr>
              <a:t>The channel count is welded into that first layer. We take it out.</a:t>
            </a:r>
          </a:p>
        </p:txBody>
      </p:sp>
      <p:sp>
        <p:nvSpPr>
          <p:cNvPr id="8" name="Rectangle 7"/>
          <p:cNvSpPr/>
          <p:nvPr/>
        </p:nvSpPr>
        <p:spPr>
          <a:xfrm>
            <a:off x="429768"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 y="5760720"/>
            <a:ext cx="1908041" cy="457200"/>
          </a:xfrm>
          <a:prstGeom prst="rect">
            <a:avLst/>
          </a:prstGeom>
          <a:noFill/>
        </p:spPr>
        <p:txBody>
          <a:bodyPr wrap="square" anchor="ctr" lIns="0" rIns="0" tIns="0" bIns="0">
            <a:spAutoFit/>
          </a:bodyPr>
          <a:lstStyle/>
          <a:p>
            <a:r>
              <a:rPr sz="1150" b="0">
                <a:solidFill>
                  <a:srgbClr val="A6ADB6"/>
                </a:solidFill>
                <a:latin typeface="Calibri"/>
              </a:rPr>
              <a:t>1  MedMamba</a:t>
            </a:r>
          </a:p>
        </p:txBody>
      </p:sp>
      <p:sp>
        <p:nvSpPr>
          <p:cNvPr id="10" name="Rectangle 9"/>
          <p:cNvSpPr/>
          <p:nvPr/>
        </p:nvSpPr>
        <p:spPr>
          <a:xfrm>
            <a:off x="2721857" y="5760720"/>
            <a:ext cx="2164073" cy="457200"/>
          </a:xfrm>
          <a:prstGeom prst="rect">
            <a:avLst/>
          </a:prstGeom>
          <a:solidFill>
            <a:srgbClr val="FBEEE3"/>
          </a:solidFill>
          <a:ln w="17780">
            <a:solidFill>
              <a:srgbClr val="C27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9873" y="5760720"/>
            <a:ext cx="1908041" cy="457200"/>
          </a:xfrm>
          <a:prstGeom prst="rect">
            <a:avLst/>
          </a:prstGeom>
          <a:noFill/>
        </p:spPr>
        <p:txBody>
          <a:bodyPr wrap="square" anchor="ctr" lIns="0" rIns="0" tIns="0" bIns="0">
            <a:spAutoFit/>
          </a:bodyPr>
          <a:lstStyle/>
          <a:p>
            <a:r>
              <a:rPr sz="1150" b="1">
                <a:solidFill>
                  <a:srgbClr val="1C2430"/>
                </a:solidFill>
                <a:latin typeface="Calibri"/>
              </a:rPr>
              <a:t>2  → MedMamba-SS</a:t>
            </a:r>
          </a:p>
        </p:txBody>
      </p:sp>
      <p:sp>
        <p:nvSpPr>
          <p:cNvPr id="12" name="Rectangle 11"/>
          <p:cNvSpPr/>
          <p:nvPr/>
        </p:nvSpPr>
        <p:spPr>
          <a:xfrm>
            <a:off x="501394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1963" y="5760720"/>
            <a:ext cx="1908041" cy="457200"/>
          </a:xfrm>
          <a:prstGeom prst="rect">
            <a:avLst/>
          </a:prstGeom>
          <a:noFill/>
        </p:spPr>
        <p:txBody>
          <a:bodyPr wrap="square" anchor="ctr" lIns="0" rIns="0" tIns="0" bIns="0">
            <a:spAutoFit/>
          </a:bodyPr>
          <a:lstStyle/>
          <a:p>
            <a:r>
              <a:rPr sz="1150" b="0">
                <a:solidFill>
                  <a:srgbClr val="A6ADB6"/>
                </a:solidFill>
                <a:latin typeface="Calibri"/>
              </a:rPr>
              <a:t>3  TRM</a:t>
            </a:r>
          </a:p>
        </p:txBody>
      </p:sp>
      <p:sp>
        <p:nvSpPr>
          <p:cNvPr id="14" name="Rectangle 13"/>
          <p:cNvSpPr/>
          <p:nvPr/>
        </p:nvSpPr>
        <p:spPr>
          <a:xfrm>
            <a:off x="730603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34053" y="5760720"/>
            <a:ext cx="1908041" cy="457200"/>
          </a:xfrm>
          <a:prstGeom prst="rect">
            <a:avLst/>
          </a:prstGeom>
          <a:noFill/>
        </p:spPr>
        <p:txBody>
          <a:bodyPr wrap="square" anchor="ctr" lIns="0" rIns="0" tIns="0" bIns="0">
            <a:spAutoFit/>
          </a:bodyPr>
          <a:lstStyle/>
          <a:p>
            <a:r>
              <a:rPr sz="1150" b="0">
                <a:solidFill>
                  <a:srgbClr val="A6ADB6"/>
                </a:solidFill>
                <a:latin typeface="Calibri"/>
              </a:rPr>
              <a:t>4  → MedMamba-SS-TRM</a:t>
            </a:r>
          </a:p>
        </p:txBody>
      </p:sp>
      <p:sp>
        <p:nvSpPr>
          <p:cNvPr id="16" name="Rectangle 15"/>
          <p:cNvSpPr/>
          <p:nvPr/>
        </p:nvSpPr>
        <p:spPr>
          <a:xfrm>
            <a:off x="959812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26143" y="5760720"/>
            <a:ext cx="1908041" cy="457200"/>
          </a:xfrm>
          <a:prstGeom prst="rect">
            <a:avLst/>
          </a:prstGeom>
          <a:noFill/>
        </p:spPr>
        <p:txBody>
          <a:bodyPr wrap="square" anchor="ctr" lIns="0" rIns="0" tIns="0" bIns="0">
            <a:spAutoFit/>
          </a:bodyPr>
          <a:lstStyle/>
          <a:p>
            <a:r>
              <a:rPr sz="1150" b="0">
                <a:solidFill>
                  <a:srgbClr val="A6ADB6"/>
                </a:solidFill>
                <a:latin typeface="Calibri"/>
              </a:rPr>
              <a:t>5  Results</a:t>
            </a:r>
          </a:p>
        </p:txBody>
      </p:sp>
      <p:sp>
        <p:nvSpPr>
          <p:cNvPr id="18" name="TextBox 1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9" name="TextBox 1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B4553F"/>
                </a:solidFill>
                <a:latin typeface="Calibri"/>
              </a:rPr>
              <a:t>PART 2 · THE PROBLEM</a:t>
            </a:r>
          </a:p>
        </p:txBody>
      </p:sp>
      <p:sp>
        <p:nvSpPr>
          <p:cNvPr id="4" name="Rectangle 3"/>
          <p:cNvSpPr/>
          <p:nvPr/>
        </p:nvSpPr>
        <p:spPr>
          <a:xfrm>
            <a:off x="429768" y="5888736"/>
            <a:ext cx="11332433" cy="56692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888736"/>
            <a:ext cx="68580" cy="56692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888736"/>
            <a:ext cx="10829513" cy="566928"/>
          </a:xfrm>
          <a:prstGeom prst="rect">
            <a:avLst/>
          </a:prstGeom>
          <a:noFill/>
        </p:spPr>
        <p:txBody>
          <a:bodyPr wrap="square" anchor="ctr" lIns="0" rIns="0" tIns="0" bIns="0">
            <a:spAutoFit/>
          </a:bodyPr>
          <a:lstStyle/>
          <a:p>
            <a:pPr algn="l"/>
            <a:r>
              <a:rPr sz="1550" b="0">
                <a:solidFill>
                  <a:srgbClr val="1C2430"/>
                </a:solidFill>
                <a:latin typeface="Calibri"/>
              </a:rPr>
              <a:t>Not "performs badly on another sensor" — </a:t>
            </a:r>
            <a:r>
              <a:rPr sz="1550" b="1">
                <a:solidFill>
                  <a:srgbClr val="1C2430"/>
                </a:solidFill>
                <a:latin typeface="Calibri"/>
              </a:rPr>
              <a:t>the weights are a different shape, so they cannot load at all.</a:t>
            </a:r>
          </a:p>
        </p:txBody>
      </p:sp>
      <p:pic>
        <p:nvPicPr>
          <p:cNvPr id="7" name="Picture 6" descr="fig04_the_problem.png"/>
          <p:cNvPicPr>
            <a:picLocks noChangeAspect="1"/>
          </p:cNvPicPr>
          <p:nvPr/>
        </p:nvPicPr>
        <p:blipFill>
          <a:blip r:embed="rId2"/>
          <a:stretch>
            <a:fillRect/>
          </a:stretch>
        </p:blipFill>
        <p:spPr>
          <a:xfrm>
            <a:off x="429768" y="1384123"/>
            <a:ext cx="11332433" cy="3705705"/>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C2703A"/>
                </a:solidFill>
                <a:latin typeface="Calibri"/>
              </a:rPr>
              <a:t>PART 2 · WHY C DISAPPEARS</a:t>
            </a:r>
          </a:p>
        </p:txBody>
      </p:sp>
      <p:sp>
        <p:nvSpPr>
          <p:cNvPr id="4" name="5-Point Star 3"/>
          <p:cNvSpPr/>
          <p:nvPr/>
        </p:nvSpPr>
        <p:spPr>
          <a:xfrm>
            <a:off x="11487881" y="274320"/>
            <a:ext cx="256032" cy="256032"/>
          </a:xfrm>
          <a:prstGeom prst="star5">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888736"/>
            <a:ext cx="11332433" cy="566928"/>
          </a:xfrm>
          <a:prstGeom prst="rect">
            <a:avLst/>
          </a:prstGeom>
          <a:solidFill>
            <a:srgbClr val="FBEEE3"/>
          </a:solidFill>
          <a:ln w="15875">
            <a:solidFill>
              <a:srgbClr val="C27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768" y="5888736"/>
            <a:ext cx="68580" cy="566928"/>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5888736"/>
            <a:ext cx="10829513" cy="566928"/>
          </a:xfrm>
          <a:prstGeom prst="rect">
            <a:avLst/>
          </a:prstGeom>
          <a:noFill/>
        </p:spPr>
        <p:txBody>
          <a:bodyPr wrap="square" anchor="ctr" lIns="0" rIns="0" tIns="0" bIns="0">
            <a:spAutoFit/>
          </a:bodyPr>
          <a:lstStyle/>
          <a:p>
            <a:pPr algn="l"/>
            <a:r>
              <a:rPr sz="1550" b="0">
                <a:solidFill>
                  <a:srgbClr val="1C2430"/>
                </a:solidFill>
                <a:latin typeface="Calibri"/>
              </a:rPr>
              <a:t>Feed the bands in </a:t>
            </a:r>
            <a:r>
              <a:rPr sz="1550" b="1">
                <a:solidFill>
                  <a:srgbClr val="1C2430"/>
                </a:solidFill>
                <a:latin typeface="Calibri"/>
              </a:rPr>
              <a:t>one at a time</a:t>
            </a:r>
            <a:r>
              <a:rPr sz="1550" b="0">
                <a:solidFill>
                  <a:srgbClr val="1C2430"/>
                </a:solidFill>
                <a:latin typeface="Calibri"/>
              </a:rPr>
              <a:t>, and no weight ever learns how many there are.</a:t>
            </a:r>
          </a:p>
        </p:txBody>
      </p:sp>
      <p:pic>
        <p:nvPicPr>
          <p:cNvPr id="8" name="Picture 7" descr="fig06_why_c_vanishes.png"/>
          <p:cNvPicPr>
            <a:picLocks noChangeAspect="1"/>
          </p:cNvPicPr>
          <p:nvPr/>
        </p:nvPicPr>
        <p:blipFill>
          <a:blip r:embed="rId2"/>
          <a:stretch>
            <a:fillRect/>
          </a:stretch>
        </p:blipFill>
        <p:spPr>
          <a:xfrm>
            <a:off x="512480" y="713232"/>
            <a:ext cx="11167008" cy="5047488"/>
          </a:xfrm>
          <a:prstGeom prst="rect">
            <a:avLst/>
          </a:prstGeom>
        </p:spPr>
      </p:pic>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4E8C6A"/>
                </a:solidFill>
                <a:latin typeface="Calibri"/>
              </a:rPr>
              <a:t>PART 2 · THE PROOF</a:t>
            </a:r>
          </a:p>
        </p:txBody>
      </p:sp>
      <p:sp>
        <p:nvSpPr>
          <p:cNvPr id="4" name="Rectangle 3"/>
          <p:cNvSpPr/>
          <p:nvPr/>
        </p:nvSpPr>
        <p:spPr>
          <a:xfrm>
            <a:off x="429768" y="5888736"/>
            <a:ext cx="11332433" cy="566928"/>
          </a:xfrm>
          <a:prstGeom prst="rect">
            <a:avLst/>
          </a:prstGeom>
          <a:solidFill>
            <a:srgbClr val="E8F3ED"/>
          </a:solidFill>
          <a:ln w="15875">
            <a:solidFill>
              <a:srgbClr val="4E8C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888736"/>
            <a:ext cx="68580" cy="566928"/>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888736"/>
            <a:ext cx="10829513" cy="566928"/>
          </a:xfrm>
          <a:prstGeom prst="rect">
            <a:avLst/>
          </a:prstGeom>
          <a:noFill/>
        </p:spPr>
        <p:txBody>
          <a:bodyPr wrap="square" anchor="ctr" lIns="0" rIns="0" tIns="0" bIns="0">
            <a:spAutoFit/>
          </a:bodyPr>
          <a:lstStyle/>
          <a:p>
            <a:pPr algn="l"/>
            <a:r>
              <a:rPr sz="1550" b="1">
                <a:solidFill>
                  <a:srgbClr val="1C2430"/>
                </a:solidFill>
                <a:latin typeface="Calibri"/>
              </a:rPr>
              <a:t>446,409 = 446,409.</a:t>
            </a:r>
            <a:r>
              <a:rPr sz="1550" b="0">
                <a:solidFill>
                  <a:srgbClr val="1C2430"/>
                </a:solidFill>
                <a:latin typeface="Calibri"/>
              </a:rPr>
              <a:t> Not "about the same". Identical — this is arithmetic, not a measurement.</a:t>
            </a:r>
          </a:p>
        </p:txBody>
      </p:sp>
      <p:pic>
        <p:nvPicPr>
          <p:cNvPr id="7" name="Picture 6" descr="fig25_param_proof.png"/>
          <p:cNvPicPr>
            <a:picLocks noChangeAspect="1"/>
          </p:cNvPicPr>
          <p:nvPr/>
        </p:nvPicPr>
        <p:blipFill>
          <a:blip r:embed="rId2"/>
          <a:stretch>
            <a:fillRect/>
          </a:stretch>
        </p:blipFill>
        <p:spPr>
          <a:xfrm>
            <a:off x="429768" y="1055482"/>
            <a:ext cx="11332433" cy="4362986"/>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cuttable (1)</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2 · THE HINGE</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Everything Part 2 did is </a:t>
            </a:r>
            <a:r>
              <a:rPr sz="1400" b="1">
                <a:solidFill>
                  <a:srgbClr val="1C2430"/>
                </a:solidFill>
                <a:latin typeface="Calibri"/>
              </a:rPr>
              <a:t>0.1 % of the model</a:t>
            </a:r>
            <a:r>
              <a:rPr sz="1400" b="0">
                <a:solidFill>
                  <a:srgbClr val="1C2430"/>
                </a:solidFill>
                <a:latin typeface="Calibri"/>
              </a:rPr>
              <a:t>. So: can a backbone </a:t>
            </a:r>
            <a:r>
              <a:rPr sz="1400" b="1">
                <a:solidFill>
                  <a:srgbClr val="1C2430"/>
                </a:solidFill>
                <a:latin typeface="Calibri"/>
              </a:rPr>
              <a:t>reuse</a:t>
            </a:r>
            <a:r>
              <a:rPr sz="1400" b="0">
                <a:solidFill>
                  <a:srgbClr val="1C2430"/>
                </a:solidFill>
                <a:latin typeface="Calibri"/>
              </a:rPr>
              <a:t> the same weights instead of storing twelve sets?</a:t>
            </a:r>
          </a:p>
        </p:txBody>
      </p:sp>
      <p:pic>
        <p:nvPicPr>
          <p:cNvPr id="7" name="Picture 6" descr="fig26_where_params_live.png"/>
          <p:cNvPicPr>
            <a:picLocks noChangeAspect="1"/>
          </p:cNvPicPr>
          <p:nvPr/>
        </p:nvPicPr>
        <p:blipFill>
          <a:blip r:embed="rId2"/>
          <a:stretch>
            <a:fillRect/>
          </a:stretch>
        </p:blipFill>
        <p:spPr>
          <a:xfrm>
            <a:off x="429768" y="735244"/>
            <a:ext cx="11332433" cy="4906943"/>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EC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9814529" cy="640080"/>
          </a:xfrm>
          <a:prstGeom prst="rect">
            <a:avLst/>
          </a:prstGeom>
          <a:noFill/>
        </p:spPr>
        <p:txBody>
          <a:bodyPr wrap="square" anchor="t" lIns="0" rIns="0" tIns="0" bIns="0">
            <a:spAutoFit/>
          </a:bodyPr>
          <a:lstStyle/>
          <a:p>
            <a:pPr algn="l"/>
            <a:r>
              <a:rPr sz="1700" b="1">
                <a:solidFill>
                  <a:srgbClr val="6A5A92"/>
                </a:solidFill>
                <a:latin typeface="Calibri"/>
              </a:rPr>
              <a:t>PART 3</a:t>
            </a:r>
          </a:p>
        </p:txBody>
      </p:sp>
      <p:sp>
        <p:nvSpPr>
          <p:cNvPr id="5" name="TextBox 4"/>
          <p:cNvSpPr txBox="1"/>
          <p:nvPr/>
        </p:nvSpPr>
        <p:spPr>
          <a:xfrm>
            <a:off x="1188720" y="2304288"/>
            <a:ext cx="9814529" cy="1051560"/>
          </a:xfrm>
          <a:prstGeom prst="rect">
            <a:avLst/>
          </a:prstGeom>
          <a:noFill/>
        </p:spPr>
        <p:txBody>
          <a:bodyPr wrap="square" anchor="t" lIns="0" rIns="0" tIns="0" bIns="0">
            <a:spAutoFit/>
          </a:bodyPr>
          <a:lstStyle/>
          <a:p>
            <a:pPr algn="l"/>
            <a:r>
              <a:rPr sz="4400" b="1">
                <a:solidFill>
                  <a:srgbClr val="1C2430"/>
                </a:solidFill>
                <a:latin typeface="Calibri"/>
              </a:rPr>
              <a:t>TRM</a:t>
            </a:r>
          </a:p>
        </p:txBody>
      </p:sp>
      <p:sp>
        <p:nvSpPr>
          <p:cNvPr id="6" name="Rounded Rectangle 5"/>
          <p:cNvSpPr/>
          <p:nvPr/>
        </p:nvSpPr>
        <p:spPr>
          <a:xfrm>
            <a:off x="1188720" y="3493008"/>
            <a:ext cx="2011680" cy="32004"/>
          </a:xfrm>
          <a:prstGeom prst="round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767328"/>
            <a:ext cx="9083009" cy="1737360"/>
          </a:xfrm>
          <a:prstGeom prst="rect">
            <a:avLst/>
          </a:prstGeom>
          <a:noFill/>
        </p:spPr>
        <p:txBody>
          <a:bodyPr wrap="square" anchor="t" lIns="0" rIns="0" tIns="0" bIns="0">
            <a:spAutoFit/>
          </a:bodyPr>
          <a:lstStyle/>
          <a:p>
            <a:pPr algn="l">
              <a:spcAft>
                <a:spcPts val="800"/>
              </a:spcAft>
            </a:pPr>
            <a:r>
              <a:rPr sz="1600" b="1">
                <a:solidFill>
                  <a:srgbClr val="5A6472"/>
                </a:solidFill>
                <a:latin typeface="Calibri"/>
              </a:rPr>
              <a:t>Nothing in this part is ours.</a:t>
            </a:r>
            <a:r>
              <a:rPr sz="1600" b="0">
                <a:solidFill>
                  <a:srgbClr val="5A6472"/>
                </a:solidFill>
                <a:latin typeface="Calibri"/>
              </a:rPr>
              <a:t> One paper, October 2025.</a:t>
            </a:r>
          </a:p>
          <a:p>
            <a:pPr algn="l">
              <a:spcAft>
                <a:spcPts val="800"/>
              </a:spcAft>
            </a:pPr>
            <a:r>
              <a:rPr sz="1600" b="0">
                <a:solidFill>
                  <a:srgbClr val="7B8794"/>
                </a:solidFill>
                <a:latin typeface="Calibri"/>
              </a:rPr>
              <a:t>"Less is More: Recursive Reasoning with Tiny Networks" · Jolicoeur-Martineau, Samsung SAIL Montréal · arXiv:2510.04871</a:t>
            </a:r>
          </a:p>
        </p:txBody>
      </p:sp>
      <p:sp>
        <p:nvSpPr>
          <p:cNvPr id="8" name="Rectangle 7"/>
          <p:cNvSpPr/>
          <p:nvPr/>
        </p:nvSpPr>
        <p:spPr>
          <a:xfrm>
            <a:off x="429768"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 y="5760720"/>
            <a:ext cx="1908041" cy="457200"/>
          </a:xfrm>
          <a:prstGeom prst="rect">
            <a:avLst/>
          </a:prstGeom>
          <a:noFill/>
        </p:spPr>
        <p:txBody>
          <a:bodyPr wrap="square" anchor="ctr" lIns="0" rIns="0" tIns="0" bIns="0">
            <a:spAutoFit/>
          </a:bodyPr>
          <a:lstStyle/>
          <a:p>
            <a:r>
              <a:rPr sz="1150" b="0">
                <a:solidFill>
                  <a:srgbClr val="A6ADB6"/>
                </a:solidFill>
                <a:latin typeface="Calibri"/>
              </a:rPr>
              <a:t>1  MedMamba</a:t>
            </a:r>
          </a:p>
        </p:txBody>
      </p:sp>
      <p:sp>
        <p:nvSpPr>
          <p:cNvPr id="10" name="Rectangle 9"/>
          <p:cNvSpPr/>
          <p:nvPr/>
        </p:nvSpPr>
        <p:spPr>
          <a:xfrm>
            <a:off x="272185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9873" y="5760720"/>
            <a:ext cx="1908041" cy="457200"/>
          </a:xfrm>
          <a:prstGeom prst="rect">
            <a:avLst/>
          </a:prstGeom>
          <a:noFill/>
        </p:spPr>
        <p:txBody>
          <a:bodyPr wrap="square" anchor="ctr" lIns="0" rIns="0" tIns="0" bIns="0">
            <a:spAutoFit/>
          </a:bodyPr>
          <a:lstStyle/>
          <a:p>
            <a:r>
              <a:rPr sz="1150" b="0">
                <a:solidFill>
                  <a:srgbClr val="A6ADB6"/>
                </a:solidFill>
                <a:latin typeface="Calibri"/>
              </a:rPr>
              <a:t>2  → MedMamba-SS</a:t>
            </a:r>
          </a:p>
        </p:txBody>
      </p:sp>
      <p:sp>
        <p:nvSpPr>
          <p:cNvPr id="12" name="Rectangle 11"/>
          <p:cNvSpPr/>
          <p:nvPr/>
        </p:nvSpPr>
        <p:spPr>
          <a:xfrm>
            <a:off x="5013947" y="5760720"/>
            <a:ext cx="2164073" cy="457200"/>
          </a:xfrm>
          <a:prstGeom prst="rect">
            <a:avLst/>
          </a:prstGeom>
          <a:solidFill>
            <a:srgbClr val="ECE9F3"/>
          </a:solidFill>
          <a:ln w="17780">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1963" y="5760720"/>
            <a:ext cx="1908041" cy="457200"/>
          </a:xfrm>
          <a:prstGeom prst="rect">
            <a:avLst/>
          </a:prstGeom>
          <a:noFill/>
        </p:spPr>
        <p:txBody>
          <a:bodyPr wrap="square" anchor="ctr" lIns="0" rIns="0" tIns="0" bIns="0">
            <a:spAutoFit/>
          </a:bodyPr>
          <a:lstStyle/>
          <a:p>
            <a:r>
              <a:rPr sz="1150" b="1">
                <a:solidFill>
                  <a:srgbClr val="1C2430"/>
                </a:solidFill>
                <a:latin typeface="Calibri"/>
              </a:rPr>
              <a:t>3  TRM</a:t>
            </a:r>
          </a:p>
        </p:txBody>
      </p:sp>
      <p:sp>
        <p:nvSpPr>
          <p:cNvPr id="14" name="Rectangle 13"/>
          <p:cNvSpPr/>
          <p:nvPr/>
        </p:nvSpPr>
        <p:spPr>
          <a:xfrm>
            <a:off x="730603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34053" y="5760720"/>
            <a:ext cx="1908041" cy="457200"/>
          </a:xfrm>
          <a:prstGeom prst="rect">
            <a:avLst/>
          </a:prstGeom>
          <a:noFill/>
        </p:spPr>
        <p:txBody>
          <a:bodyPr wrap="square" anchor="ctr" lIns="0" rIns="0" tIns="0" bIns="0">
            <a:spAutoFit/>
          </a:bodyPr>
          <a:lstStyle/>
          <a:p>
            <a:r>
              <a:rPr sz="1150" b="0">
                <a:solidFill>
                  <a:srgbClr val="A6ADB6"/>
                </a:solidFill>
                <a:latin typeface="Calibri"/>
              </a:rPr>
              <a:t>4  → MedMamba-SS-TRM</a:t>
            </a:r>
          </a:p>
        </p:txBody>
      </p:sp>
      <p:sp>
        <p:nvSpPr>
          <p:cNvPr id="16" name="Rectangle 15"/>
          <p:cNvSpPr/>
          <p:nvPr/>
        </p:nvSpPr>
        <p:spPr>
          <a:xfrm>
            <a:off x="959812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26143" y="5760720"/>
            <a:ext cx="1908041" cy="457200"/>
          </a:xfrm>
          <a:prstGeom prst="rect">
            <a:avLst/>
          </a:prstGeom>
          <a:noFill/>
        </p:spPr>
        <p:txBody>
          <a:bodyPr wrap="square" anchor="ctr" lIns="0" rIns="0" tIns="0" bIns="0">
            <a:spAutoFit/>
          </a:bodyPr>
          <a:lstStyle/>
          <a:p>
            <a:r>
              <a:rPr sz="1150" b="0">
                <a:solidFill>
                  <a:srgbClr val="A6ADB6"/>
                </a:solidFill>
                <a:latin typeface="Calibri"/>
              </a:rPr>
              <a:t>5  Results</a:t>
            </a:r>
          </a:p>
        </p:txBody>
      </p:sp>
      <p:sp>
        <p:nvSpPr>
          <p:cNvPr id="18" name="TextBox 1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9" name="TextBox 1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3 · THE PAPER TRM STARTS FROM</a:t>
            </a:r>
          </a:p>
        </p:txBody>
      </p:sp>
      <p:sp>
        <p:nvSpPr>
          <p:cNvPr id="4" name="Rectangle 3"/>
          <p:cNvSpPr/>
          <p:nvPr/>
        </p:nvSpPr>
        <p:spPr>
          <a:xfrm>
            <a:off x="429768" y="5888736"/>
            <a:ext cx="11332433" cy="56692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888736"/>
            <a:ext cx="68580" cy="56692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888736"/>
            <a:ext cx="10829513" cy="566928"/>
          </a:xfrm>
          <a:prstGeom prst="rect">
            <a:avLst/>
          </a:prstGeom>
          <a:noFill/>
        </p:spPr>
        <p:txBody>
          <a:bodyPr wrap="square" anchor="ctr" lIns="0" rIns="0" tIns="0" bIns="0">
            <a:spAutoFit/>
          </a:bodyPr>
          <a:lstStyle/>
          <a:p>
            <a:pPr algn="l"/>
            <a:r>
              <a:rPr sz="1550" b="1">
                <a:solidFill>
                  <a:srgbClr val="1C2430"/>
                </a:solidFill>
                <a:latin typeface="Calibri"/>
              </a:rPr>
              <a:t>TRM is HRM with things deleted</a:t>
            </a:r>
            <a:r>
              <a:rPr sz="1550" b="0">
                <a:solidFill>
                  <a:srgbClr val="1C2430"/>
                </a:solidFill>
                <a:latin typeface="Calibri"/>
              </a:rPr>
              <a:t> — and every deletion made it better.</a:t>
            </a:r>
          </a:p>
        </p:txBody>
      </p:sp>
      <p:pic>
        <p:nvPicPr>
          <p:cNvPr id="7" name="Picture 6" descr="fig39_hrm.png"/>
          <p:cNvPicPr>
            <a:picLocks noChangeAspect="1"/>
          </p:cNvPicPr>
          <p:nvPr/>
        </p:nvPicPr>
        <p:blipFill>
          <a:blip r:embed="rId2"/>
          <a:stretch>
            <a:fillRect/>
          </a:stretch>
        </p:blipFill>
        <p:spPr>
          <a:xfrm>
            <a:off x="1605337" y="713232"/>
            <a:ext cx="8981295" cy="504748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3 · THE WHOLE IDEA, IN A PICTURE</a:t>
            </a:r>
          </a:p>
        </p:txBody>
      </p:sp>
      <p:sp>
        <p:nvSpPr>
          <p:cNvPr id="4" name="5-Point Star 3"/>
          <p:cNvSpPr/>
          <p:nvPr/>
        </p:nvSpPr>
        <p:spPr>
          <a:xfrm>
            <a:off x="11487881" y="274320"/>
            <a:ext cx="256032" cy="256032"/>
          </a:xfrm>
          <a:prstGeom prst="star5">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The model is </a:t>
            </a:r>
            <a:r>
              <a:rPr sz="1400" b="1">
                <a:solidFill>
                  <a:srgbClr val="1C2430"/>
                </a:solidFill>
                <a:latin typeface="Calibri"/>
              </a:rPr>
              <a:t>never</a:t>
            </a:r>
            <a:r>
              <a:rPr sz="1400" b="0">
                <a:solidFill>
                  <a:srgbClr val="1C2430"/>
                </a:solidFill>
                <a:latin typeface="Calibri"/>
              </a:rPr>
              <a:t> asked "solve this". It is asked "here is a wrong answer — make it less wrong". </a:t>
            </a:r>
            <a:r>
              <a:rPr sz="1400" b="1">
                <a:solidFill>
                  <a:srgbClr val="1C2430"/>
                </a:solidFill>
                <a:latin typeface="Calibri"/>
              </a:rPr>
              <a:t>That is why a tiny network is enough.</a:t>
            </a:r>
          </a:p>
        </p:txBody>
      </p:sp>
      <p:pic>
        <p:nvPicPr>
          <p:cNvPr id="8" name="Picture 7" descr="fig19_trm_maze.png"/>
          <p:cNvPicPr>
            <a:picLocks noChangeAspect="1"/>
          </p:cNvPicPr>
          <p:nvPr/>
        </p:nvPicPr>
        <p:blipFill>
          <a:blip r:embed="rId2"/>
          <a:stretch>
            <a:fillRect/>
          </a:stretch>
        </p:blipFill>
        <p:spPr>
          <a:xfrm>
            <a:off x="619250" y="713232"/>
            <a:ext cx="10953469" cy="4950968"/>
          </a:xfrm>
          <a:prstGeom prst="rect">
            <a:avLst/>
          </a:prstGeom>
        </p:spPr>
      </p:pic>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3 · THE SAME THING, PRECISELY</a:t>
            </a:r>
          </a:p>
        </p:txBody>
      </p:sp>
      <p:sp>
        <p:nvSpPr>
          <p:cNvPr id="4" name="5-Point Star 3"/>
          <p:cNvSpPr/>
          <p:nvPr/>
        </p:nvSpPr>
        <p:spPr>
          <a:xfrm>
            <a:off x="11487881" y="274320"/>
            <a:ext cx="256032" cy="256032"/>
          </a:xfrm>
          <a:prstGeom prst="star5">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888736"/>
            <a:ext cx="11332433" cy="566928"/>
          </a:xfrm>
          <a:prstGeom prst="rect">
            <a:avLst/>
          </a:prstGeom>
          <a:solidFill>
            <a:srgbClr val="E8F3ED"/>
          </a:solidFill>
          <a:ln w="15875">
            <a:solidFill>
              <a:srgbClr val="4E8C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768" y="5888736"/>
            <a:ext cx="68580" cy="566928"/>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5888736"/>
            <a:ext cx="10829513" cy="566928"/>
          </a:xfrm>
          <a:prstGeom prst="rect">
            <a:avLst/>
          </a:prstGeom>
          <a:noFill/>
        </p:spPr>
        <p:txBody>
          <a:bodyPr wrap="square" anchor="ctr" lIns="0" rIns="0" tIns="0" bIns="0">
            <a:spAutoFit/>
          </a:bodyPr>
          <a:lstStyle/>
          <a:p>
            <a:pPr algn="l"/>
            <a:r>
              <a:rPr sz="1500" b="0">
                <a:solidFill>
                  <a:srgbClr val="1C2430"/>
                </a:solidFill>
                <a:latin typeface="Calibri"/>
              </a:rPr>
              <a:t>One shared network: </a:t>
            </a:r>
            <a:r>
              <a:rPr sz="1500" b="1">
                <a:solidFill>
                  <a:srgbClr val="1C2430"/>
                </a:solidFill>
                <a:latin typeface="Calibri"/>
              </a:rPr>
              <a:t>87.4 % at 5 M</a:t>
            </a:r>
            <a:r>
              <a:rPr sz="1500" b="0">
                <a:solidFill>
                  <a:srgbClr val="1C2430"/>
                </a:solidFill>
                <a:latin typeface="Calibri"/>
              </a:rPr>
              <a:t>. Two separate ones: </a:t>
            </a:r>
            <a:r>
              <a:rPr sz="1500" b="1">
                <a:solidFill>
                  <a:srgbClr val="1C2430"/>
                </a:solidFill>
                <a:latin typeface="Calibri"/>
              </a:rPr>
              <a:t>82.4 % at 10 M</a:t>
            </a:r>
            <a:r>
              <a:rPr sz="1500" b="0">
                <a:solidFill>
                  <a:srgbClr val="1C2430"/>
                </a:solidFill>
                <a:latin typeface="Calibri"/>
              </a:rPr>
              <a:t>. Half the size and five points better.</a:t>
            </a:r>
          </a:p>
        </p:txBody>
      </p:sp>
      <p:pic>
        <p:nvPicPr>
          <p:cNvPr id="8" name="Picture 7" descr="fig28_code.png"/>
          <p:cNvPicPr>
            <a:picLocks noChangeAspect="1"/>
          </p:cNvPicPr>
          <p:nvPr/>
        </p:nvPicPr>
        <p:blipFill>
          <a:blip r:embed="rId2"/>
          <a:stretch>
            <a:fillRect/>
          </a:stretch>
        </p:blipFill>
        <p:spPr>
          <a:xfrm>
            <a:off x="512480" y="713232"/>
            <a:ext cx="11167008" cy="5047488"/>
          </a:xfrm>
          <a:prstGeom prst="rect">
            <a:avLst/>
          </a:prstGeom>
        </p:spPr>
      </p:pic>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3 · THE PAPER’S REAL RESULT</a:t>
            </a:r>
          </a:p>
        </p:txBody>
      </p:sp>
      <p:sp>
        <p:nvSpPr>
          <p:cNvPr id="4" name="5-Point Star 3"/>
          <p:cNvSpPr/>
          <p:nvPr/>
        </p:nvSpPr>
        <p:spPr>
          <a:xfrm>
            <a:off x="11487881" y="274320"/>
            <a:ext cx="256032" cy="256032"/>
          </a:xfrm>
          <a:prstGeom prst="star5">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888736"/>
            <a:ext cx="11332433" cy="566928"/>
          </a:xfrm>
          <a:prstGeom prst="rect">
            <a:avLst/>
          </a:prstGeom>
          <a:solidFill>
            <a:srgbClr val="E8F3ED"/>
          </a:solidFill>
          <a:ln w="15875">
            <a:solidFill>
              <a:srgbClr val="4E8C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768" y="5888736"/>
            <a:ext cx="68580" cy="566928"/>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5888736"/>
            <a:ext cx="10829513" cy="566928"/>
          </a:xfrm>
          <a:prstGeom prst="rect">
            <a:avLst/>
          </a:prstGeom>
          <a:noFill/>
        </p:spPr>
        <p:txBody>
          <a:bodyPr wrap="square" anchor="ctr" lIns="0" rIns="0" tIns="0" bIns="0">
            <a:spAutoFit/>
          </a:bodyPr>
          <a:lstStyle/>
          <a:p>
            <a:pPr algn="l"/>
            <a:r>
              <a:rPr sz="1550" b="1">
                <a:solidFill>
                  <a:srgbClr val="1C2430"/>
                </a:solidFill>
                <a:latin typeface="Calibri"/>
              </a:rPr>
              <a:t>31 points</a:t>
            </a:r>
            <a:r>
              <a:rPr sz="1550" b="0">
                <a:solidFill>
                  <a:srgbClr val="1C2430"/>
                </a:solidFill>
                <a:latin typeface="Calibri"/>
              </a:rPr>
              <a:t> — the largest single effect in the paper. And TRM’s version costs MORE memory, not less.</a:t>
            </a:r>
          </a:p>
        </p:txBody>
      </p:sp>
      <p:pic>
        <p:nvPicPr>
          <p:cNvPr id="8" name="Picture 7" descr="fig10_nograd.png"/>
          <p:cNvPicPr>
            <a:picLocks noChangeAspect="1"/>
          </p:cNvPicPr>
          <p:nvPr/>
        </p:nvPicPr>
        <p:blipFill>
          <a:blip r:embed="rId2"/>
          <a:stretch>
            <a:fillRect/>
          </a:stretch>
        </p:blipFill>
        <p:spPr>
          <a:xfrm>
            <a:off x="429768" y="1165973"/>
            <a:ext cx="11332433" cy="4142004"/>
          </a:xfrm>
          <a:prstGeom prst="rect">
            <a:avLst/>
          </a:prstGeom>
        </p:spPr>
      </p:pic>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EC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9814529" cy="640080"/>
          </a:xfrm>
          <a:prstGeom prst="rect">
            <a:avLst/>
          </a:prstGeom>
          <a:noFill/>
        </p:spPr>
        <p:txBody>
          <a:bodyPr wrap="square" anchor="t" lIns="0" rIns="0" tIns="0" bIns="0">
            <a:spAutoFit/>
          </a:bodyPr>
          <a:lstStyle/>
          <a:p>
            <a:pPr algn="l"/>
            <a:r>
              <a:rPr sz="1700" b="1">
                <a:solidFill>
                  <a:srgbClr val="6A5A92"/>
                </a:solidFill>
                <a:latin typeface="Calibri"/>
              </a:rPr>
              <a:t>PART 4</a:t>
            </a:r>
          </a:p>
        </p:txBody>
      </p:sp>
      <p:sp>
        <p:nvSpPr>
          <p:cNvPr id="5" name="TextBox 4"/>
          <p:cNvSpPr txBox="1"/>
          <p:nvPr/>
        </p:nvSpPr>
        <p:spPr>
          <a:xfrm>
            <a:off x="1188720" y="2304288"/>
            <a:ext cx="9814529" cy="1051560"/>
          </a:xfrm>
          <a:prstGeom prst="rect">
            <a:avLst/>
          </a:prstGeom>
          <a:noFill/>
        </p:spPr>
        <p:txBody>
          <a:bodyPr wrap="square" anchor="t" lIns="0" rIns="0" tIns="0" bIns="0">
            <a:spAutoFit/>
          </a:bodyPr>
          <a:lstStyle/>
          <a:p>
            <a:pPr algn="l"/>
            <a:r>
              <a:rPr sz="4400" b="1">
                <a:solidFill>
                  <a:srgbClr val="1C2430"/>
                </a:solidFill>
                <a:latin typeface="Calibri"/>
              </a:rPr>
              <a:t>→ MedMamba-SS-TRM</a:t>
            </a:r>
          </a:p>
        </p:txBody>
      </p:sp>
      <p:sp>
        <p:nvSpPr>
          <p:cNvPr id="6" name="Rounded Rectangle 5"/>
          <p:cNvSpPr/>
          <p:nvPr/>
        </p:nvSpPr>
        <p:spPr>
          <a:xfrm>
            <a:off x="1188720" y="3493008"/>
            <a:ext cx="2011680" cy="32004"/>
          </a:xfrm>
          <a:prstGeom prst="round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767328"/>
            <a:ext cx="9083009" cy="1737360"/>
          </a:xfrm>
          <a:prstGeom prst="rect">
            <a:avLst/>
          </a:prstGeom>
          <a:noFill/>
        </p:spPr>
        <p:txBody>
          <a:bodyPr wrap="square" anchor="t" lIns="0" rIns="0" tIns="0" bIns="0">
            <a:spAutoFit/>
          </a:bodyPr>
          <a:lstStyle/>
          <a:p>
            <a:pPr algn="l">
              <a:spcAft>
                <a:spcPts val="800"/>
              </a:spcAft>
            </a:pPr>
            <a:r>
              <a:rPr sz="1600" b="0">
                <a:solidFill>
                  <a:srgbClr val="5A6472"/>
                </a:solidFill>
                <a:latin typeface="Calibri"/>
              </a:rPr>
              <a:t>The recursion is TRM’s. Now we put it inside MedMamba-SS.</a:t>
            </a:r>
          </a:p>
        </p:txBody>
      </p:sp>
      <p:sp>
        <p:nvSpPr>
          <p:cNvPr id="8" name="Rectangle 7"/>
          <p:cNvSpPr/>
          <p:nvPr/>
        </p:nvSpPr>
        <p:spPr>
          <a:xfrm>
            <a:off x="429768"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 y="5760720"/>
            <a:ext cx="1908041" cy="457200"/>
          </a:xfrm>
          <a:prstGeom prst="rect">
            <a:avLst/>
          </a:prstGeom>
          <a:noFill/>
        </p:spPr>
        <p:txBody>
          <a:bodyPr wrap="square" anchor="ctr" lIns="0" rIns="0" tIns="0" bIns="0">
            <a:spAutoFit/>
          </a:bodyPr>
          <a:lstStyle/>
          <a:p>
            <a:r>
              <a:rPr sz="1150" b="0">
                <a:solidFill>
                  <a:srgbClr val="A6ADB6"/>
                </a:solidFill>
                <a:latin typeface="Calibri"/>
              </a:rPr>
              <a:t>1  MedMamba</a:t>
            </a:r>
          </a:p>
        </p:txBody>
      </p:sp>
      <p:sp>
        <p:nvSpPr>
          <p:cNvPr id="10" name="Rectangle 9"/>
          <p:cNvSpPr/>
          <p:nvPr/>
        </p:nvSpPr>
        <p:spPr>
          <a:xfrm>
            <a:off x="272185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9873" y="5760720"/>
            <a:ext cx="1908041" cy="457200"/>
          </a:xfrm>
          <a:prstGeom prst="rect">
            <a:avLst/>
          </a:prstGeom>
          <a:noFill/>
        </p:spPr>
        <p:txBody>
          <a:bodyPr wrap="square" anchor="ctr" lIns="0" rIns="0" tIns="0" bIns="0">
            <a:spAutoFit/>
          </a:bodyPr>
          <a:lstStyle/>
          <a:p>
            <a:r>
              <a:rPr sz="1150" b="0">
                <a:solidFill>
                  <a:srgbClr val="A6ADB6"/>
                </a:solidFill>
                <a:latin typeface="Calibri"/>
              </a:rPr>
              <a:t>2  → MedMamba-SS</a:t>
            </a:r>
          </a:p>
        </p:txBody>
      </p:sp>
      <p:sp>
        <p:nvSpPr>
          <p:cNvPr id="12" name="Rectangle 11"/>
          <p:cNvSpPr/>
          <p:nvPr/>
        </p:nvSpPr>
        <p:spPr>
          <a:xfrm>
            <a:off x="501394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1963" y="5760720"/>
            <a:ext cx="1908041" cy="457200"/>
          </a:xfrm>
          <a:prstGeom prst="rect">
            <a:avLst/>
          </a:prstGeom>
          <a:noFill/>
        </p:spPr>
        <p:txBody>
          <a:bodyPr wrap="square" anchor="ctr" lIns="0" rIns="0" tIns="0" bIns="0">
            <a:spAutoFit/>
          </a:bodyPr>
          <a:lstStyle/>
          <a:p>
            <a:r>
              <a:rPr sz="1150" b="0">
                <a:solidFill>
                  <a:srgbClr val="A6ADB6"/>
                </a:solidFill>
                <a:latin typeface="Calibri"/>
              </a:rPr>
              <a:t>3  TRM</a:t>
            </a:r>
          </a:p>
        </p:txBody>
      </p:sp>
      <p:sp>
        <p:nvSpPr>
          <p:cNvPr id="14" name="Rectangle 13"/>
          <p:cNvSpPr/>
          <p:nvPr/>
        </p:nvSpPr>
        <p:spPr>
          <a:xfrm>
            <a:off x="7306037" y="5760720"/>
            <a:ext cx="2164073" cy="457200"/>
          </a:xfrm>
          <a:prstGeom prst="rect">
            <a:avLst/>
          </a:prstGeom>
          <a:solidFill>
            <a:srgbClr val="ECE9F3"/>
          </a:solidFill>
          <a:ln w="17780">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34053" y="5760720"/>
            <a:ext cx="1908041" cy="457200"/>
          </a:xfrm>
          <a:prstGeom prst="rect">
            <a:avLst/>
          </a:prstGeom>
          <a:noFill/>
        </p:spPr>
        <p:txBody>
          <a:bodyPr wrap="square" anchor="ctr" lIns="0" rIns="0" tIns="0" bIns="0">
            <a:spAutoFit/>
          </a:bodyPr>
          <a:lstStyle/>
          <a:p>
            <a:r>
              <a:rPr sz="1150" b="1">
                <a:solidFill>
                  <a:srgbClr val="1C2430"/>
                </a:solidFill>
                <a:latin typeface="Calibri"/>
              </a:rPr>
              <a:t>4  → MedMamba-SS-TRM</a:t>
            </a:r>
          </a:p>
        </p:txBody>
      </p:sp>
      <p:sp>
        <p:nvSpPr>
          <p:cNvPr id="16" name="Rectangle 15"/>
          <p:cNvSpPr/>
          <p:nvPr/>
        </p:nvSpPr>
        <p:spPr>
          <a:xfrm>
            <a:off x="959812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26143" y="5760720"/>
            <a:ext cx="1908041" cy="457200"/>
          </a:xfrm>
          <a:prstGeom prst="rect">
            <a:avLst/>
          </a:prstGeom>
          <a:noFill/>
        </p:spPr>
        <p:txBody>
          <a:bodyPr wrap="square" anchor="ctr" lIns="0" rIns="0" tIns="0" bIns="0">
            <a:spAutoFit/>
          </a:bodyPr>
          <a:lstStyle/>
          <a:p>
            <a:r>
              <a:rPr sz="1150" b="0">
                <a:solidFill>
                  <a:srgbClr val="A6ADB6"/>
                </a:solidFill>
                <a:latin typeface="Calibri"/>
              </a:rPr>
              <a:t>5  Results</a:t>
            </a:r>
          </a:p>
        </p:txBody>
      </p:sp>
      <p:sp>
        <p:nvSpPr>
          <p:cNvPr id="18" name="TextBox 1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9" name="TextBox 1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4 · WHERE TRM LANDS</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One of the three parts is replaced. The spectral pathway and the head are reused </a:t>
            </a:r>
            <a:r>
              <a:rPr sz="1400" b="1">
                <a:solidFill>
                  <a:srgbClr val="1C2430"/>
                </a:solidFill>
                <a:latin typeface="Calibri"/>
              </a:rPr>
              <a:t>byte for byte</a:t>
            </a:r>
            <a:r>
              <a:rPr sz="1400" b="0">
                <a:solidFill>
                  <a:srgbClr val="1C2430"/>
                </a:solidFill>
                <a:latin typeface="Calibri"/>
              </a:rPr>
              <a:t> — which is the only reason the comparison is one flag.</a:t>
            </a:r>
          </a:p>
        </p:txBody>
      </p:sp>
      <p:pic>
        <p:nvPicPr>
          <p:cNvPr id="7" name="Picture 6" descr="fig36_integration.png"/>
          <p:cNvPicPr>
            <a:picLocks noChangeAspect="1"/>
          </p:cNvPicPr>
          <p:nvPr/>
        </p:nvPicPr>
        <p:blipFill>
          <a:blip r:embed="rId2"/>
          <a:stretch>
            <a:fillRect/>
          </a:stretch>
        </p:blipFill>
        <p:spPr>
          <a:xfrm>
            <a:off x="429768" y="735244"/>
            <a:ext cx="11332433" cy="4906943"/>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cuttable (2)</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4 · WHAT X, Y AND Z ACTUALLY ARE HERE</a:t>
            </a:r>
          </a:p>
        </p:txBody>
      </p:sp>
      <p:sp>
        <p:nvSpPr>
          <p:cNvPr id="4" name="5-Point Star 3"/>
          <p:cNvSpPr/>
          <p:nvPr/>
        </p:nvSpPr>
        <p:spPr>
          <a:xfrm>
            <a:off x="11487881" y="274320"/>
            <a:ext cx="256032" cy="256032"/>
          </a:xfrm>
          <a:prstGeom prst="star5">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888736"/>
            <a:ext cx="11332433" cy="56692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768" y="5888736"/>
            <a:ext cx="68580" cy="56692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5888736"/>
            <a:ext cx="10829513" cy="566928"/>
          </a:xfrm>
          <a:prstGeom prst="rect">
            <a:avLst/>
          </a:prstGeom>
          <a:noFill/>
        </p:spPr>
        <p:txBody>
          <a:bodyPr wrap="square" anchor="ctr" lIns="0" rIns="0" tIns="0" bIns="0">
            <a:spAutoFit/>
          </a:bodyPr>
          <a:lstStyle/>
          <a:p>
            <a:pPr algn="l"/>
            <a:r>
              <a:rPr sz="1500" b="0">
                <a:solidFill>
                  <a:srgbClr val="1C2430"/>
                </a:solidFill>
                <a:latin typeface="Consolas"/>
              </a:rPr>
              <a:t>x</a:t>
            </a:r>
            <a:r>
              <a:rPr sz="1550" b="0">
                <a:solidFill>
                  <a:srgbClr val="1C2430"/>
                </a:solidFill>
                <a:latin typeface="Calibri"/>
              </a:rPr>
              <a:t> is computed </a:t>
            </a:r>
            <a:r>
              <a:rPr sz="1550" b="1">
                <a:solidFill>
                  <a:srgbClr val="1C2430"/>
                </a:solidFill>
                <a:latin typeface="Calibri"/>
              </a:rPr>
              <a:t>once</a:t>
            </a:r>
            <a:r>
              <a:rPr sz="1550" b="0">
                <a:solidFill>
                  <a:srgbClr val="1C2430"/>
                </a:solidFill>
                <a:latin typeface="Calibri"/>
              </a:rPr>
              <a:t> and held fixed. </a:t>
            </a:r>
            <a:r>
              <a:rPr sz="1500" b="0">
                <a:solidFill>
                  <a:srgbClr val="1C2430"/>
                </a:solidFill>
                <a:latin typeface="Consolas"/>
              </a:rPr>
              <a:t>y</a:t>
            </a:r>
            <a:r>
              <a:rPr sz="1550" b="0">
                <a:solidFill>
                  <a:srgbClr val="1C2430"/>
                </a:solidFill>
                <a:latin typeface="Calibri"/>
              </a:rPr>
              <a:t> is what the head reads. </a:t>
            </a:r>
            <a:r>
              <a:rPr sz="1500" b="0">
                <a:solidFill>
                  <a:srgbClr val="1C2430"/>
                </a:solidFill>
                <a:latin typeface="Consolas"/>
              </a:rPr>
              <a:t>z</a:t>
            </a:r>
            <a:r>
              <a:rPr sz="1550" b="0">
                <a:solidFill>
                  <a:srgbClr val="1C2430"/>
                </a:solidFill>
                <a:latin typeface="Calibri"/>
              </a:rPr>
              <a:t> is the working.</a:t>
            </a:r>
          </a:p>
        </p:txBody>
      </p:sp>
      <p:pic>
        <p:nvPicPr>
          <p:cNvPr id="8" name="Picture 7" descr="fig37_trm_mapping.png"/>
          <p:cNvPicPr>
            <a:picLocks noChangeAspect="1"/>
          </p:cNvPicPr>
          <p:nvPr/>
        </p:nvPicPr>
        <p:blipFill>
          <a:blip r:embed="rId2"/>
          <a:stretch>
            <a:fillRect/>
          </a:stretch>
        </p:blipFill>
        <p:spPr>
          <a:xfrm>
            <a:off x="849115" y="713232"/>
            <a:ext cx="10493738" cy="5047488"/>
          </a:xfrm>
          <a:prstGeom prst="rect">
            <a:avLst/>
          </a:prstGeom>
        </p:spPr>
      </p:pic>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C2703A"/>
                </a:solidFill>
                <a:latin typeface="Calibri"/>
              </a:rPr>
              <a:t>PART 4 · WHAT WE CHANGED, AND WHY</a:t>
            </a:r>
          </a:p>
        </p:txBody>
      </p:sp>
      <p:sp>
        <p:nvSpPr>
          <p:cNvPr id="4" name="Rectangle 3"/>
          <p:cNvSpPr/>
          <p:nvPr/>
        </p:nvSpPr>
        <p:spPr>
          <a:xfrm>
            <a:off x="429768" y="5888736"/>
            <a:ext cx="11332433" cy="566928"/>
          </a:xfrm>
          <a:prstGeom prst="rect">
            <a:avLst/>
          </a:prstGeom>
          <a:solidFill>
            <a:srgbClr val="FBEEE3"/>
          </a:solidFill>
          <a:ln w="15875">
            <a:solidFill>
              <a:srgbClr val="C27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888736"/>
            <a:ext cx="68580" cy="566928"/>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888736"/>
            <a:ext cx="10829513" cy="566928"/>
          </a:xfrm>
          <a:prstGeom prst="rect">
            <a:avLst/>
          </a:prstGeom>
          <a:noFill/>
        </p:spPr>
        <p:txBody>
          <a:bodyPr wrap="square" anchor="ctr" lIns="0" rIns="0" tIns="0" bIns="0">
            <a:spAutoFit/>
          </a:bodyPr>
          <a:lstStyle/>
          <a:p>
            <a:pPr algn="l"/>
            <a:r>
              <a:rPr sz="1450" b="0">
                <a:solidFill>
                  <a:srgbClr val="1C2430"/>
                </a:solidFill>
                <a:latin typeface="Calibri"/>
              </a:rPr>
              <a:t>We implemented TRM’s </a:t>
            </a:r>
            <a:r>
              <a:rPr sz="1450" b="1">
                <a:solidFill>
                  <a:srgbClr val="1C2430"/>
                </a:solidFill>
                <a:latin typeface="Calibri"/>
              </a:rPr>
              <a:t>recursion</a:t>
            </a:r>
            <a:r>
              <a:rPr sz="1450" b="0">
                <a:solidFill>
                  <a:srgbClr val="1C2430"/>
                </a:solidFill>
                <a:latin typeface="Calibri"/>
              </a:rPr>
              <a:t>, not TRM’s </a:t>
            </a:r>
            <a:r>
              <a:rPr sz="1450" b="1">
                <a:solidFill>
                  <a:srgbClr val="1C2430"/>
                </a:solidFill>
                <a:latin typeface="Calibri"/>
              </a:rPr>
              <a:t>blocks</a:t>
            </a:r>
            <a:r>
              <a:rPr sz="1450" b="0">
                <a:solidFill>
                  <a:srgbClr val="1C2430"/>
                </a:solidFill>
                <a:latin typeface="Calibri"/>
              </a:rPr>
              <a:t>. They use attention; every real run of ours uses a convolution.</a:t>
            </a:r>
          </a:p>
        </p:txBody>
      </p:sp>
      <p:pic>
        <p:nvPicPr>
          <p:cNvPr id="7" name="Picture 6" descr="fig31_what_we_changed.png"/>
          <p:cNvPicPr>
            <a:picLocks noChangeAspect="1"/>
          </p:cNvPicPr>
          <p:nvPr/>
        </p:nvPicPr>
        <p:blipFill>
          <a:blip r:embed="rId2"/>
          <a:stretch>
            <a:fillRect/>
          </a:stretch>
        </p:blipFill>
        <p:spPr>
          <a:xfrm>
            <a:off x="512480" y="713232"/>
            <a:ext cx="11167008" cy="504748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E8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9814529" cy="640080"/>
          </a:xfrm>
          <a:prstGeom prst="rect">
            <a:avLst/>
          </a:prstGeom>
          <a:noFill/>
        </p:spPr>
        <p:txBody>
          <a:bodyPr wrap="square" anchor="t" lIns="0" rIns="0" tIns="0" bIns="0">
            <a:spAutoFit/>
          </a:bodyPr>
          <a:lstStyle/>
          <a:p>
            <a:pPr algn="l"/>
            <a:r>
              <a:rPr sz="1700" b="1">
                <a:solidFill>
                  <a:srgbClr val="4E8C6A"/>
                </a:solidFill>
                <a:latin typeface="Calibri"/>
              </a:rPr>
              <a:t>PART 5</a:t>
            </a:r>
          </a:p>
        </p:txBody>
      </p:sp>
      <p:sp>
        <p:nvSpPr>
          <p:cNvPr id="5" name="TextBox 4"/>
          <p:cNvSpPr txBox="1"/>
          <p:nvPr/>
        </p:nvSpPr>
        <p:spPr>
          <a:xfrm>
            <a:off x="1188720" y="2304288"/>
            <a:ext cx="9814529" cy="1051560"/>
          </a:xfrm>
          <a:prstGeom prst="rect">
            <a:avLst/>
          </a:prstGeom>
          <a:noFill/>
        </p:spPr>
        <p:txBody>
          <a:bodyPr wrap="square" anchor="t" lIns="0" rIns="0" tIns="0" bIns="0">
            <a:spAutoFit/>
          </a:bodyPr>
          <a:lstStyle/>
          <a:p>
            <a:pPr algn="l"/>
            <a:r>
              <a:rPr sz="4400" b="1">
                <a:solidFill>
                  <a:srgbClr val="1C2430"/>
                </a:solidFill>
                <a:latin typeface="Calibri"/>
              </a:rPr>
              <a:t>Results</a:t>
            </a:r>
          </a:p>
        </p:txBody>
      </p:sp>
      <p:sp>
        <p:nvSpPr>
          <p:cNvPr id="6" name="Rounded Rectangle 5"/>
          <p:cNvSpPr/>
          <p:nvPr/>
        </p:nvSpPr>
        <p:spPr>
          <a:xfrm>
            <a:off x="1188720" y="3493008"/>
            <a:ext cx="2011680" cy="32004"/>
          </a:xfrm>
          <a:prstGeom prst="round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767328"/>
            <a:ext cx="9083009" cy="1737360"/>
          </a:xfrm>
          <a:prstGeom prst="rect">
            <a:avLst/>
          </a:prstGeom>
          <a:noFill/>
        </p:spPr>
        <p:txBody>
          <a:bodyPr wrap="square" anchor="t" lIns="0" rIns="0" tIns="0" bIns="0">
            <a:spAutoFit/>
          </a:bodyPr>
          <a:lstStyle/>
          <a:p>
            <a:pPr algn="l">
              <a:spcAft>
                <a:spcPts val="800"/>
              </a:spcAft>
            </a:pPr>
            <a:r>
              <a:rPr sz="1600" b="0">
                <a:solidFill>
                  <a:srgbClr val="5A6472"/>
                </a:solidFill>
                <a:latin typeface="Calibri"/>
              </a:rPr>
              <a:t>Everything here is a </a:t>
            </a:r>
            <a:r>
              <a:rPr sz="1600" b="1">
                <a:solidFill>
                  <a:srgbClr val="5A6472"/>
                </a:solidFill>
                <a:latin typeface="Calibri"/>
              </a:rPr>
              <a:t>single seed</a:t>
            </a:r>
            <a:r>
              <a:rPr sz="1600" b="0">
                <a:solidFill>
                  <a:srgbClr val="5A6472"/>
                </a:solidFill>
                <a:latin typeface="Calibri"/>
              </a:rPr>
              <a:t> and </a:t>
            </a:r>
            <a:r>
              <a:rPr sz="1600" b="1">
                <a:solidFill>
                  <a:srgbClr val="5A6472"/>
                </a:solidFill>
                <a:latin typeface="Calibri"/>
              </a:rPr>
              <a:t>five held-out patients</a:t>
            </a:r>
            <a:r>
              <a:rPr sz="1600" b="0">
                <a:solidFill>
                  <a:srgbClr val="5A6472"/>
                </a:solidFill>
                <a:latin typeface="Calibri"/>
              </a:rPr>
              <a:t>.</a:t>
            </a:r>
          </a:p>
        </p:txBody>
      </p:sp>
      <p:sp>
        <p:nvSpPr>
          <p:cNvPr id="8" name="Rectangle 7"/>
          <p:cNvSpPr/>
          <p:nvPr/>
        </p:nvSpPr>
        <p:spPr>
          <a:xfrm>
            <a:off x="429768"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 y="5760720"/>
            <a:ext cx="1908041" cy="457200"/>
          </a:xfrm>
          <a:prstGeom prst="rect">
            <a:avLst/>
          </a:prstGeom>
          <a:noFill/>
        </p:spPr>
        <p:txBody>
          <a:bodyPr wrap="square" anchor="ctr" lIns="0" rIns="0" tIns="0" bIns="0">
            <a:spAutoFit/>
          </a:bodyPr>
          <a:lstStyle/>
          <a:p>
            <a:r>
              <a:rPr sz="1150" b="0">
                <a:solidFill>
                  <a:srgbClr val="A6ADB6"/>
                </a:solidFill>
                <a:latin typeface="Calibri"/>
              </a:rPr>
              <a:t>1  MedMamba</a:t>
            </a:r>
          </a:p>
        </p:txBody>
      </p:sp>
      <p:sp>
        <p:nvSpPr>
          <p:cNvPr id="10" name="Rectangle 9"/>
          <p:cNvSpPr/>
          <p:nvPr/>
        </p:nvSpPr>
        <p:spPr>
          <a:xfrm>
            <a:off x="272185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9873" y="5760720"/>
            <a:ext cx="1908041" cy="457200"/>
          </a:xfrm>
          <a:prstGeom prst="rect">
            <a:avLst/>
          </a:prstGeom>
          <a:noFill/>
        </p:spPr>
        <p:txBody>
          <a:bodyPr wrap="square" anchor="ctr" lIns="0" rIns="0" tIns="0" bIns="0">
            <a:spAutoFit/>
          </a:bodyPr>
          <a:lstStyle/>
          <a:p>
            <a:r>
              <a:rPr sz="1150" b="0">
                <a:solidFill>
                  <a:srgbClr val="A6ADB6"/>
                </a:solidFill>
                <a:latin typeface="Calibri"/>
              </a:rPr>
              <a:t>2  → MedMamba-SS</a:t>
            </a:r>
          </a:p>
        </p:txBody>
      </p:sp>
      <p:sp>
        <p:nvSpPr>
          <p:cNvPr id="12" name="Rectangle 11"/>
          <p:cNvSpPr/>
          <p:nvPr/>
        </p:nvSpPr>
        <p:spPr>
          <a:xfrm>
            <a:off x="501394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1963" y="5760720"/>
            <a:ext cx="1908041" cy="457200"/>
          </a:xfrm>
          <a:prstGeom prst="rect">
            <a:avLst/>
          </a:prstGeom>
          <a:noFill/>
        </p:spPr>
        <p:txBody>
          <a:bodyPr wrap="square" anchor="ctr" lIns="0" rIns="0" tIns="0" bIns="0">
            <a:spAutoFit/>
          </a:bodyPr>
          <a:lstStyle/>
          <a:p>
            <a:r>
              <a:rPr sz="1150" b="0">
                <a:solidFill>
                  <a:srgbClr val="A6ADB6"/>
                </a:solidFill>
                <a:latin typeface="Calibri"/>
              </a:rPr>
              <a:t>3  TRM</a:t>
            </a:r>
          </a:p>
        </p:txBody>
      </p:sp>
      <p:sp>
        <p:nvSpPr>
          <p:cNvPr id="14" name="Rectangle 13"/>
          <p:cNvSpPr/>
          <p:nvPr/>
        </p:nvSpPr>
        <p:spPr>
          <a:xfrm>
            <a:off x="730603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34053" y="5760720"/>
            <a:ext cx="1908041" cy="457200"/>
          </a:xfrm>
          <a:prstGeom prst="rect">
            <a:avLst/>
          </a:prstGeom>
          <a:noFill/>
        </p:spPr>
        <p:txBody>
          <a:bodyPr wrap="square" anchor="ctr" lIns="0" rIns="0" tIns="0" bIns="0">
            <a:spAutoFit/>
          </a:bodyPr>
          <a:lstStyle/>
          <a:p>
            <a:r>
              <a:rPr sz="1150" b="0">
                <a:solidFill>
                  <a:srgbClr val="A6ADB6"/>
                </a:solidFill>
                <a:latin typeface="Calibri"/>
              </a:rPr>
              <a:t>4  → MedMamba-SS-TRM</a:t>
            </a:r>
          </a:p>
        </p:txBody>
      </p:sp>
      <p:sp>
        <p:nvSpPr>
          <p:cNvPr id="16" name="Rectangle 15"/>
          <p:cNvSpPr/>
          <p:nvPr/>
        </p:nvSpPr>
        <p:spPr>
          <a:xfrm>
            <a:off x="9598127" y="5760720"/>
            <a:ext cx="2164073" cy="457200"/>
          </a:xfrm>
          <a:prstGeom prst="rect">
            <a:avLst/>
          </a:prstGeom>
          <a:solidFill>
            <a:srgbClr val="E8F3ED"/>
          </a:solidFill>
          <a:ln w="17780">
            <a:solidFill>
              <a:srgbClr val="4E8C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26143" y="5760720"/>
            <a:ext cx="1908041" cy="457200"/>
          </a:xfrm>
          <a:prstGeom prst="rect">
            <a:avLst/>
          </a:prstGeom>
          <a:noFill/>
        </p:spPr>
        <p:txBody>
          <a:bodyPr wrap="square" anchor="ctr" lIns="0" rIns="0" tIns="0" bIns="0">
            <a:spAutoFit/>
          </a:bodyPr>
          <a:lstStyle/>
          <a:p>
            <a:r>
              <a:rPr sz="1150" b="1">
                <a:solidFill>
                  <a:srgbClr val="1C2430"/>
                </a:solidFill>
                <a:latin typeface="Calibri"/>
              </a:rPr>
              <a:t>5  Results</a:t>
            </a:r>
          </a:p>
        </p:txBody>
      </p:sp>
      <p:sp>
        <p:nvSpPr>
          <p:cNvPr id="18" name="TextBox 1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9" name="TextBox 1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4E8C6A"/>
                </a:solidFill>
                <a:latin typeface="Calibri"/>
              </a:rPr>
              <a:t>PART 5 · DOES THE SPECTRUM EARN ITS PLACE</a:t>
            </a:r>
          </a:p>
        </p:txBody>
      </p:sp>
      <p:sp>
        <p:nvSpPr>
          <p:cNvPr id="4" name="5-Point Star 3"/>
          <p:cNvSpPr/>
          <p:nvPr/>
        </p:nvSpPr>
        <p:spPr>
          <a:xfrm>
            <a:off x="11487881" y="274320"/>
            <a:ext cx="256032" cy="256032"/>
          </a:xfrm>
          <a:prstGeom prst="star5">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11332433" cy="663448"/>
          </a:xfrm>
          <a:prstGeom prst="rect">
            <a:avLst/>
          </a:prstGeom>
          <a:solidFill>
            <a:srgbClr val="E8F3ED"/>
          </a:solidFill>
          <a:ln w="15875">
            <a:solidFill>
              <a:srgbClr val="4E8C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768" y="5792216"/>
            <a:ext cx="68580" cy="663448"/>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+15.0 points of balanced accuracy</a:t>
            </a:r>
            <a:r>
              <a:rPr sz="1400" b="0">
                <a:solidFill>
                  <a:srgbClr val="1C2430"/>
                </a:solidFill>
                <a:latin typeface="Calibri"/>
              </a:rPr>
              <a:t>, and essentially all of it is the healthy / DCIS boundary — the call that actually matters.</a:t>
            </a:r>
          </a:p>
        </p:txBody>
      </p:sp>
      <p:pic>
        <p:nvPicPr>
          <p:cNvPr id="8" name="Picture 7" descr="fig14_results.png"/>
          <p:cNvPicPr>
            <a:picLocks noChangeAspect="1"/>
          </p:cNvPicPr>
          <p:nvPr/>
        </p:nvPicPr>
        <p:blipFill>
          <a:blip r:embed="rId2"/>
          <a:stretch>
            <a:fillRect/>
          </a:stretch>
        </p:blipFill>
        <p:spPr>
          <a:xfrm>
            <a:off x="429768" y="845735"/>
            <a:ext cx="11332433" cy="4685961"/>
          </a:xfrm>
          <a:prstGeom prst="rect">
            <a:avLst/>
          </a:prstGeom>
        </p:spPr>
      </p:pic>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B4553F"/>
                </a:solidFill>
                <a:latin typeface="Calibri"/>
              </a:rPr>
              <a:t>PART 5 · THE CATCH</a:t>
            </a:r>
          </a:p>
        </p:txBody>
      </p:sp>
      <p:sp>
        <p:nvSpPr>
          <p:cNvPr id="4" name="5-Point Star 3"/>
          <p:cNvSpPr/>
          <p:nvPr/>
        </p:nvSpPr>
        <p:spPr>
          <a:xfrm>
            <a:off x="11487881" y="274320"/>
            <a:ext cx="256032" cy="256032"/>
          </a:xfrm>
          <a:prstGeom prst="star5">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Parameter count in a recursive model measures storage, and is close to an inverse indicator of compute.</a:t>
            </a:r>
            <a:r>
              <a:rPr sz="1400" b="0">
                <a:solidFill>
                  <a:srgbClr val="1C2430"/>
                </a:solidFill>
                <a:latin typeface="Calibri"/>
              </a:rPr>
              <a:t> The most transferable result here.</a:t>
            </a:r>
          </a:p>
        </p:txBody>
      </p:sp>
      <p:pic>
        <p:nvPicPr>
          <p:cNvPr id="8" name="Picture 7" descr="fig15_the_catch.png"/>
          <p:cNvPicPr>
            <a:picLocks noChangeAspect="1"/>
          </p:cNvPicPr>
          <p:nvPr/>
        </p:nvPicPr>
        <p:blipFill>
          <a:blip r:embed="rId2"/>
          <a:stretch>
            <a:fillRect/>
          </a:stretch>
        </p:blipFill>
        <p:spPr>
          <a:xfrm>
            <a:off x="429768" y="1007222"/>
            <a:ext cx="11332433" cy="4362986"/>
          </a:xfrm>
          <a:prstGeom prst="rect">
            <a:avLst/>
          </a:prstGeom>
        </p:spPr>
      </p:pic>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B4553F"/>
                </a:solidFill>
                <a:latin typeface="Calibri"/>
              </a:rPr>
              <a:t>PART 5 · WHAT WE HAVE NOT MEASURED</a:t>
            </a:r>
          </a:p>
        </p:txBody>
      </p:sp>
      <p:sp>
        <p:nvSpPr>
          <p:cNvPr id="4" name="Rectangle 3"/>
          <p:cNvSpPr/>
          <p:nvPr/>
        </p:nvSpPr>
        <p:spPr>
          <a:xfrm>
            <a:off x="429768" y="5888736"/>
            <a:ext cx="11332433" cy="56692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888736"/>
            <a:ext cx="68580" cy="56692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888736"/>
            <a:ext cx="10829513" cy="566928"/>
          </a:xfrm>
          <a:prstGeom prst="rect">
            <a:avLst/>
          </a:prstGeom>
          <a:noFill/>
        </p:spPr>
        <p:txBody>
          <a:bodyPr wrap="square" anchor="ctr" lIns="0" rIns="0" tIns="0" bIns="0">
            <a:spAutoFit/>
          </a:bodyPr>
          <a:lstStyle/>
          <a:p>
            <a:pPr algn="l"/>
            <a:r>
              <a:rPr sz="1550" b="0">
                <a:solidFill>
                  <a:srgbClr val="1C2430"/>
                </a:solidFill>
                <a:latin typeface="Calibri"/>
              </a:rPr>
              <a:t>Every result is a </a:t>
            </a:r>
            <a:r>
              <a:rPr sz="1550" b="1">
                <a:solidFill>
                  <a:srgbClr val="1C2430"/>
                </a:solidFill>
                <a:latin typeface="Calibri"/>
              </a:rPr>
              <a:t>single seed</a:t>
            </a:r>
            <a:r>
              <a:rPr sz="1550" b="0">
                <a:solidFill>
                  <a:srgbClr val="1C2430"/>
                </a:solidFill>
                <a:latin typeface="Calibri"/>
              </a:rPr>
              <a:t>. The hyperspectral evaluation is </a:t>
            </a:r>
            <a:r>
              <a:rPr sz="1550" b="1">
                <a:solidFill>
                  <a:srgbClr val="1C2430"/>
                </a:solidFill>
                <a:latin typeface="Calibri"/>
              </a:rPr>
              <a:t>five patients</a:t>
            </a:r>
            <a:r>
              <a:rPr sz="1550" b="0">
                <a:solidFill>
                  <a:srgbClr val="1C2430"/>
                </a:solidFill>
                <a:latin typeface="Calibri"/>
              </a:rPr>
              <a:t>. Neither is a detail.</a:t>
            </a:r>
          </a:p>
        </p:txBody>
      </p:sp>
      <p:pic>
        <p:nvPicPr>
          <p:cNvPr id="7" name="Picture 6" descr="fig34_not_measured.png"/>
          <p:cNvPicPr>
            <a:picLocks noChangeAspect="1"/>
          </p:cNvPicPr>
          <p:nvPr/>
        </p:nvPicPr>
        <p:blipFill>
          <a:blip r:embed="rId2"/>
          <a:stretch>
            <a:fillRect/>
          </a:stretch>
        </p:blipFill>
        <p:spPr>
          <a:xfrm>
            <a:off x="429768" y="947824"/>
            <a:ext cx="11332433" cy="4578303"/>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cuttable (3)</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4E8C6A"/>
                </a:solidFill>
                <a:latin typeface="Calibri"/>
              </a:rPr>
              <a:t>TAKEAWAYS</a:t>
            </a:r>
          </a:p>
        </p:txBody>
      </p:sp>
      <p:pic>
        <p:nvPicPr>
          <p:cNvPr id="4" name="Picture 3" descr="fig35_takeaways.png"/>
          <p:cNvPicPr>
            <a:picLocks noChangeAspect="1"/>
          </p:cNvPicPr>
          <p:nvPr/>
        </p:nvPicPr>
        <p:blipFill>
          <a:blip r:embed="rId2"/>
          <a:stretch>
            <a:fillRect/>
          </a:stretch>
        </p:blipFill>
        <p:spPr>
          <a:xfrm>
            <a:off x="429768" y="917203"/>
            <a:ext cx="11332433" cy="5297912"/>
          </a:xfrm>
          <a:prstGeom prst="rect">
            <a:avLst/>
          </a:prstGeom>
        </p:spPr>
      </p:pic>
      <p:sp>
        <p:nvSpPr>
          <p:cNvPr id="5" name="TextBox 4"/>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6" name="TextBox 5"/>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237744"/>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554480"/>
            <a:ext cx="10271729" cy="1005840"/>
          </a:xfrm>
          <a:prstGeom prst="rect">
            <a:avLst/>
          </a:prstGeom>
          <a:noFill/>
        </p:spPr>
        <p:txBody>
          <a:bodyPr wrap="square" anchor="t" lIns="0" rIns="0" tIns="0" bIns="0">
            <a:spAutoFit/>
          </a:bodyPr>
          <a:lstStyle/>
          <a:p>
            <a:pPr algn="l"/>
            <a:r>
              <a:rPr sz="4000" b="1">
                <a:solidFill>
                  <a:srgbClr val="1C2430"/>
                </a:solidFill>
                <a:latin typeface="Calibri"/>
              </a:rPr>
              <a:t>Thank you — questions?</a:t>
            </a:r>
          </a:p>
        </p:txBody>
      </p:sp>
      <p:sp>
        <p:nvSpPr>
          <p:cNvPr id="5" name="Rounded Rectangle 4"/>
          <p:cNvSpPr/>
          <p:nvPr/>
        </p:nvSpPr>
        <p:spPr>
          <a:xfrm>
            <a:off x="960120" y="2670048"/>
            <a:ext cx="2011680" cy="32004"/>
          </a:xfrm>
          <a:prstGeom prst="round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971800"/>
            <a:ext cx="9814529" cy="3474720"/>
          </a:xfrm>
          <a:prstGeom prst="rect">
            <a:avLst/>
          </a:prstGeom>
          <a:noFill/>
        </p:spPr>
        <p:txBody>
          <a:bodyPr wrap="square" anchor="t" lIns="0" rIns="0" tIns="0" bIns="0">
            <a:spAutoFit/>
          </a:bodyPr>
          <a:lstStyle/>
          <a:p>
            <a:pPr algn="l">
              <a:spcAft>
                <a:spcPts val="869"/>
              </a:spcAft>
            </a:pPr>
            <a:r>
              <a:rPr sz="1450" b="1">
                <a:solidFill>
                  <a:srgbClr val="5A6472"/>
                </a:solidFill>
                <a:latin typeface="Calibri"/>
              </a:rPr>
              <a:t>The manuscript</a:t>
            </a:r>
            <a:r>
              <a:rPr sz="1450" b="0">
                <a:solidFill>
                  <a:srgbClr val="5A6472"/>
                </a:solidFill>
                <a:latin typeface="Calibri"/>
              </a:rPr>
              <a:t> — </a:t>
            </a:r>
            <a:r>
              <a:rPr sz="1400" b="0">
                <a:solidFill>
                  <a:srgbClr val="5A6472"/>
                </a:solidFill>
                <a:latin typeface="Consolas"/>
              </a:rPr>
              <a:t>paper/draft/MedMamba-SS-TRM_manuscript_v8.md</a:t>
            </a:r>
          </a:p>
          <a:p>
            <a:pPr algn="l">
              <a:spcAft>
                <a:spcPts val="869"/>
              </a:spcAft>
            </a:pPr>
            <a:r>
              <a:rPr sz="1450" b="1">
                <a:solidFill>
                  <a:srgbClr val="5A6472"/>
                </a:solidFill>
                <a:latin typeface="Calibri"/>
              </a:rPr>
              <a:t>The deep version, with line-by-line citations</a:t>
            </a:r>
            <a:r>
              <a:rPr sz="1450" b="0">
                <a:solidFill>
                  <a:srgbClr val="5A6472"/>
                </a:solidFill>
                <a:latin typeface="Calibri"/>
              </a:rPr>
              <a:t> — </a:t>
            </a:r>
            <a:r>
              <a:rPr sz="1400" b="0">
                <a:solidFill>
                  <a:srgbClr val="5A6472"/>
                </a:solidFill>
                <a:latin typeface="Consolas"/>
              </a:rPr>
              <a:t>doc/PROJECT_ARCHITECTURE_AND_HISTORY.md</a:t>
            </a:r>
          </a:p>
          <a:p>
            <a:pPr algn="l">
              <a:spcAft>
                <a:spcPts val="869"/>
              </a:spcAft>
            </a:pPr>
            <a:r>
              <a:rPr sz="1450" b="1">
                <a:solidFill>
                  <a:srgbClr val="5A6472"/>
                </a:solidFill>
                <a:latin typeface="Calibri"/>
              </a:rPr>
              <a:t>The model</a:t>
            </a:r>
            <a:r>
              <a:rPr sz="1450" b="0">
                <a:solidFill>
                  <a:srgbClr val="5A6472"/>
                </a:solidFill>
                <a:latin typeface="Calibri"/>
              </a:rPr>
              <a:t> — </a:t>
            </a:r>
            <a:r>
              <a:rPr sz="1400" b="0">
                <a:solidFill>
                  <a:srgbClr val="5A6472"/>
                </a:solidFill>
                <a:latin typeface="Consolas"/>
              </a:rPr>
              <a:t>gmedmamba.py</a:t>
            </a:r>
            <a:r>
              <a:rPr sz="1450" b="0">
                <a:solidFill>
                  <a:srgbClr val="5A6472"/>
                </a:solidFill>
                <a:latin typeface="Calibri"/>
              </a:rPr>
              <a:t>  ·  </a:t>
            </a:r>
            <a:r>
              <a:rPr sz="1400" b="0">
                <a:solidFill>
                  <a:srgbClr val="5A6472"/>
                </a:solidFill>
                <a:latin typeface="Consolas"/>
              </a:rPr>
              <a:t>SpectralTokenizer:724</a:t>
            </a:r>
            <a:r>
              <a:rPr sz="1450" b="0">
                <a:solidFill>
                  <a:srgbClr val="5A6472"/>
                </a:solidFill>
                <a:latin typeface="Calibri"/>
              </a:rPr>
              <a:t>, </a:t>
            </a:r>
            <a:r>
              <a:rPr sz="1400" b="0">
                <a:solidFill>
                  <a:srgbClr val="5A6472"/>
                </a:solidFill>
                <a:latin typeface="Consolas"/>
              </a:rPr>
              <a:t>RecursiveCore:1711</a:t>
            </a:r>
          </a:p>
          <a:p>
            <a:pPr algn="l">
              <a:spcAft>
                <a:spcPts val="869"/>
              </a:spcAft>
            </a:pPr>
            <a:r>
              <a:rPr sz="1450" b="1">
                <a:solidFill>
                  <a:srgbClr val="5A6472"/>
                </a:solidFill>
                <a:latin typeface="Calibri"/>
              </a:rPr>
              <a:t>TRM</a:t>
            </a:r>
            <a:r>
              <a:rPr sz="1450" b="0">
                <a:solidFill>
                  <a:srgbClr val="5A6472"/>
                </a:solidFill>
                <a:latin typeface="Calibri"/>
              </a:rPr>
              <a:t> — Jolicoeur-Martineau, *Less is More: Recursive Reasoning with Tiny Networks*, arXiv:2510.04871</a:t>
            </a:r>
          </a:p>
          <a:p>
            <a:pPr algn="l">
              <a:spcAft>
                <a:spcPts val="869"/>
              </a:spcAft>
            </a:pPr>
            <a:r>
              <a:rPr sz="1450" b="1">
                <a:solidFill>
                  <a:srgbClr val="5A6472"/>
                </a:solidFill>
                <a:latin typeface="Calibri"/>
              </a:rPr>
              <a:t>HRM, the paper TRM reacts to</a:t>
            </a:r>
            <a:r>
              <a:rPr sz="1450" b="0">
                <a:solidFill>
                  <a:srgbClr val="5A6472"/>
                </a:solidFill>
                <a:latin typeface="Calibri"/>
              </a:rPr>
              <a:t> — Wang et al., arXiv:2506.21734  ·  independent audit at arcprize.org/blog/hrm-analysis</a:t>
            </a:r>
          </a:p>
          <a:p>
            <a:pPr algn="l">
              <a:spcAft>
                <a:spcPts val="869"/>
              </a:spcAft>
            </a:pPr>
            <a:r>
              <a:rPr sz="1450" b="1">
                <a:solidFill>
                  <a:srgbClr val="5A6472"/>
                </a:solidFill>
                <a:latin typeface="Calibri"/>
              </a:rPr>
              <a:t>MedMamba</a:t>
            </a:r>
            <a:r>
              <a:rPr sz="1450" b="0">
                <a:solidFill>
                  <a:srgbClr val="5A6472"/>
                </a:solidFill>
                <a:latin typeface="Calibri"/>
              </a:rPr>
              <a:t> — Yue &amp; Li, arXiv:2403.03849</a:t>
            </a:r>
          </a:p>
          <a:p>
            <a:pPr algn="l">
              <a:spcAft>
                <a:spcPts val="869"/>
              </a:spcAft>
            </a:pPr>
            <a:r>
              <a:rPr sz="1450" b="0">
                <a:solidFill>
                  <a:srgbClr val="5A6472"/>
                </a:solidFill>
                <a:latin typeface="Calibri"/>
              </a:rPr>
              <a:t> </a:t>
            </a:r>
          </a:p>
          <a:p>
            <a:pPr algn="l">
              <a:spcAft>
                <a:spcPts val="869"/>
              </a:spcAft>
            </a:pPr>
            <a:r>
              <a:rPr sz="1450" b="0">
                <a:solidFill>
                  <a:srgbClr val="5A6472"/>
                </a:solidFill>
                <a:latin typeface="Calibri"/>
              </a:rPr>
              <a:t>Backup slides follow: the full architecture, the TRM ablation table, and the diagram that does not describe the code.</a:t>
            </a:r>
          </a:p>
        </p:txBody>
      </p:sp>
      <p:sp>
        <p:nvSpPr>
          <p:cNvPr id="7" name="TextBox 6"/>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8" name="TextBox 7"/>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5A6472"/>
                </a:solidFill>
                <a:latin typeface="Calibri"/>
              </a:rPr>
              <a:t>BACKUP · NOT PRESENTED</a:t>
            </a:r>
          </a:p>
        </p:txBody>
      </p:sp>
      <p:sp>
        <p:nvSpPr>
          <p:cNvPr id="4" name="TextBox 3"/>
          <p:cNvSpPr txBox="1"/>
          <p:nvPr/>
        </p:nvSpPr>
        <p:spPr>
          <a:xfrm>
            <a:off x="749808" y="2661157"/>
            <a:ext cx="10692353" cy="592327"/>
          </a:xfrm>
          <a:prstGeom prst="rect">
            <a:avLst/>
          </a:prstGeom>
          <a:noFill/>
        </p:spPr>
        <p:txBody>
          <a:bodyPr wrap="square" anchor="t" lIns="0" rIns="0" tIns="0" bIns="0">
            <a:spAutoFit/>
          </a:bodyPr>
          <a:lstStyle/>
          <a:p>
            <a:pPr algn="l"/>
            <a:r>
              <a:rPr sz="3400" b="1">
                <a:solidFill>
                  <a:srgbClr val="1C2430"/>
                </a:solidFill>
                <a:latin typeface="Calibri"/>
              </a:rPr>
              <a:t>Backup slides</a:t>
            </a:r>
          </a:p>
        </p:txBody>
      </p:sp>
      <p:sp>
        <p:nvSpPr>
          <p:cNvPr id="5" name="TextBox 4"/>
          <p:cNvSpPr txBox="1"/>
          <p:nvPr/>
        </p:nvSpPr>
        <p:spPr>
          <a:xfrm>
            <a:off x="749808" y="3472941"/>
            <a:ext cx="10235153" cy="906780"/>
          </a:xfrm>
          <a:prstGeom prst="rect">
            <a:avLst/>
          </a:prstGeom>
          <a:noFill/>
        </p:spPr>
        <p:txBody>
          <a:bodyPr wrap="square" anchor="t" lIns="0" rIns="0" tIns="0" bIns="0">
            <a:spAutoFit/>
          </a:bodyPr>
          <a:lstStyle/>
          <a:p>
            <a:pPr algn="l">
              <a:spcAft>
                <a:spcPts val="1000"/>
              </a:spcAft>
            </a:pPr>
            <a:r>
              <a:rPr sz="1700" b="0">
                <a:solidFill>
                  <a:srgbClr val="5A6472"/>
                </a:solidFill>
                <a:latin typeface="Calibri"/>
              </a:rPr>
              <a:t>These are here to be jumped to during questions. None of them are in the talk.</a:t>
            </a:r>
          </a:p>
          <a:p>
            <a:pPr algn="l">
              <a:spcAft>
                <a:spcPts val="1000"/>
              </a:spcAft>
            </a:pPr>
            <a:r>
              <a:rPr sz="1700" b="0">
                <a:solidFill>
                  <a:srgbClr val="5A6472"/>
                </a:solidFill>
                <a:latin typeface="Calibri"/>
              </a:rPr>
              <a:t>Ordered by how likely the question is.</a:t>
            </a:r>
          </a:p>
        </p:txBody>
      </p:sp>
      <p:sp>
        <p:nvSpPr>
          <p:cNvPr id="6" name="TextBox 5"/>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7" name="TextBox 6"/>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BACKUP · THE REFERENCE ARCHITECTURE</a:t>
            </a:r>
          </a:p>
        </p:txBody>
      </p:sp>
      <p:pic>
        <p:nvPicPr>
          <p:cNvPr id="4" name="Picture 3" descr="fig17_gmedmamba_r_architecture.png"/>
          <p:cNvPicPr>
            <a:picLocks noChangeAspect="1"/>
          </p:cNvPicPr>
          <p:nvPr/>
        </p:nvPicPr>
        <p:blipFill>
          <a:blip r:embed="rId2"/>
          <a:stretch>
            <a:fillRect/>
          </a:stretch>
        </p:blipFill>
        <p:spPr>
          <a:xfrm>
            <a:off x="2484683" y="713232"/>
            <a:ext cx="7222602" cy="5705855"/>
          </a:xfrm>
          <a:prstGeom prst="rect">
            <a:avLst/>
          </a:prstGeom>
        </p:spPr>
      </p:pic>
      <p:sp>
        <p:nvSpPr>
          <p:cNvPr id="5" name="TextBox 4"/>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labelled G-MedMamba-R — the earlier name for MedMamba-SS-TRM</a:t>
            </a:r>
          </a:p>
        </p:txBody>
      </p:sp>
      <p:sp>
        <p:nvSpPr>
          <p:cNvPr id="6" name="TextBox 5"/>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5A6472"/>
                </a:solidFill>
                <a:latin typeface="Calibri"/>
              </a:rPr>
              <a:t>BACKUP · SS2D, IF ANYONE WANTS IT</a:t>
            </a:r>
          </a:p>
        </p:txBody>
      </p:sp>
      <p:sp>
        <p:nvSpPr>
          <p:cNvPr id="4" name="Rectangle 3"/>
          <p:cNvSpPr/>
          <p:nvPr/>
        </p:nvSpPr>
        <p:spPr>
          <a:xfrm>
            <a:off x="429768" y="5792216"/>
            <a:ext cx="11332433" cy="663448"/>
          </a:xfrm>
          <a:prstGeom prst="rect">
            <a:avLst/>
          </a:prstGeom>
          <a:solidFill>
            <a:srgbClr val="F2F4F7"/>
          </a:solidFill>
          <a:ln w="15875">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SS2D</a:t>
            </a:r>
            <a:r>
              <a:rPr sz="1400" b="0">
                <a:solidFill>
                  <a:srgbClr val="1C2430"/>
                </a:solidFill>
                <a:latin typeface="Calibri"/>
              </a:rPr>
              <a:t> = read the image as a line, four different ways, and combine. That is the only piece of MedMamba jargon in this talk.</a:t>
            </a:r>
          </a:p>
        </p:txBody>
      </p:sp>
      <p:pic>
        <p:nvPicPr>
          <p:cNvPr id="7" name="Picture 6" descr="fig02_ss2d.png"/>
          <p:cNvPicPr>
            <a:picLocks noChangeAspect="1"/>
          </p:cNvPicPr>
          <p:nvPr/>
        </p:nvPicPr>
        <p:blipFill>
          <a:blip r:embed="rId2"/>
          <a:stretch>
            <a:fillRect/>
          </a:stretch>
        </p:blipFill>
        <p:spPr>
          <a:xfrm>
            <a:off x="429768" y="1554012"/>
            <a:ext cx="11332433" cy="3269407"/>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BACKUP · THE RECURSION, ONE ROW PER LINE</a:t>
            </a:r>
          </a:p>
        </p:txBody>
      </p:sp>
      <p:pic>
        <p:nvPicPr>
          <p:cNvPr id="4" name="Picture 3" descr="fig09_trm_loop.png"/>
          <p:cNvPicPr>
            <a:picLocks noChangeAspect="1"/>
          </p:cNvPicPr>
          <p:nvPr/>
        </p:nvPicPr>
        <p:blipFill>
          <a:blip r:embed="rId2"/>
          <a:stretch>
            <a:fillRect/>
          </a:stretch>
        </p:blipFill>
        <p:spPr>
          <a:xfrm>
            <a:off x="429768" y="1005030"/>
            <a:ext cx="11332433" cy="5122259"/>
          </a:xfrm>
          <a:prstGeom prst="rect">
            <a:avLst/>
          </a:prstGeom>
        </p:spPr>
      </p:pic>
      <p:sp>
        <p:nvSpPr>
          <p:cNvPr id="5" name="TextBox 4"/>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6" name="TextBox 5"/>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BACKUP · THE FULL TRM ABLATION</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Depth is not the knob. HRM across effective depths 9 → 168 only moves 46.4 % → 62.3 %, and is worse at the deepest setting than at depth 48.</a:t>
            </a:r>
          </a:p>
        </p:txBody>
      </p:sp>
      <p:sp>
        <p:nvSpPr>
          <p:cNvPr id="7" name="TextBox 6"/>
          <p:cNvSpPr txBox="1"/>
          <p:nvPr/>
        </p:nvSpPr>
        <p:spPr>
          <a:xfrm>
            <a:off x="749808" y="1143000"/>
            <a:ext cx="10692353" cy="533399"/>
          </a:xfrm>
          <a:prstGeom prst="rect">
            <a:avLst/>
          </a:prstGeom>
          <a:noFill/>
        </p:spPr>
        <p:txBody>
          <a:bodyPr wrap="square" anchor="t" lIns="0" rIns="0" tIns="0" bIns="0">
            <a:spAutoFit/>
          </a:bodyPr>
          <a:lstStyle/>
          <a:p>
            <a:pPr algn="l"/>
            <a:r>
              <a:rPr sz="3000" b="1">
                <a:solidFill>
                  <a:srgbClr val="1C2430"/>
                </a:solidFill>
                <a:latin typeface="Calibri"/>
              </a:rPr>
              <a:t>Every row is TRM with exactly one thing put back.</a:t>
            </a:r>
          </a:p>
        </p:txBody>
      </p:sp>
      <p:sp>
        <p:nvSpPr>
          <p:cNvPr id="8" name="TextBox 7"/>
          <p:cNvSpPr txBox="1"/>
          <p:nvPr/>
        </p:nvSpPr>
        <p:spPr>
          <a:xfrm>
            <a:off x="749808" y="1895856"/>
            <a:ext cx="10235153" cy="3340100"/>
          </a:xfrm>
          <a:prstGeom prst="rect">
            <a:avLst/>
          </a:prstGeom>
          <a:noFill/>
        </p:spPr>
        <p:txBody>
          <a:bodyPr wrap="square" anchor="t" lIns="0" rIns="0" tIns="0" bIns="0">
            <a:spAutoFit/>
          </a:bodyPr>
          <a:lstStyle/>
          <a:p>
            <a:pPr algn="l">
              <a:spcAft>
                <a:spcPts val="900"/>
              </a:spcAft>
            </a:pPr>
            <a:r>
              <a:rPr sz="1550" b="1">
                <a:solidFill>
                  <a:srgbClr val="5A6472"/>
                </a:solidFill>
                <a:latin typeface="Calibri"/>
              </a:rPr>
              <a:t>87.4 %</a:t>
            </a:r>
            <a:r>
              <a:rPr sz="1550" b="0">
                <a:solidFill>
                  <a:srgbClr val="5A6472"/>
                </a:solidFill>
                <a:latin typeface="Calibri"/>
              </a:rPr>
              <a:t> TRM as published, 5 M · </a:t>
            </a:r>
            <a:r>
              <a:rPr sz="1550" b="1">
                <a:solidFill>
                  <a:srgbClr val="5A6472"/>
                </a:solidFill>
                <a:latin typeface="Calibri"/>
              </a:rPr>
              <a:t>56.5 %</a:t>
            </a:r>
            <a:r>
              <a:rPr sz="1550" b="0">
                <a:solidFill>
                  <a:srgbClr val="5A6472"/>
                </a:solidFill>
                <a:latin typeface="Calibri"/>
              </a:rPr>
              <a:t> with HRM’s 1-step gradient · </a:t>
            </a:r>
            <a:r>
              <a:rPr sz="1550" b="1">
                <a:solidFill>
                  <a:srgbClr val="5A6472"/>
                </a:solidFill>
                <a:latin typeface="Calibri"/>
              </a:rPr>
              <a:t>73.7 %</a:t>
            </a:r>
            <a:r>
              <a:rPr sz="1550" b="0">
                <a:solidFill>
                  <a:srgbClr val="5A6472"/>
                </a:solidFill>
                <a:latin typeface="Calibri"/>
              </a:rPr>
              <a:t> with HRM’s recursion depth</a:t>
            </a:r>
          </a:p>
          <a:p>
            <a:pPr algn="l">
              <a:spcAft>
                <a:spcPts val="900"/>
              </a:spcAft>
            </a:pPr>
            <a:r>
              <a:rPr sz="1550" b="1">
                <a:solidFill>
                  <a:srgbClr val="5A6472"/>
                </a:solidFill>
                <a:latin typeface="Calibri"/>
              </a:rPr>
              <a:t>74.7 %</a:t>
            </a:r>
            <a:r>
              <a:rPr sz="1550" b="0">
                <a:solidFill>
                  <a:srgbClr val="5A6472"/>
                </a:solidFill>
                <a:latin typeface="Calibri"/>
              </a:rPr>
              <a:t> self-attention instead of the MLP mixer, 7 M · </a:t>
            </a:r>
            <a:r>
              <a:rPr sz="1550" b="1">
                <a:solidFill>
                  <a:srgbClr val="5A6472"/>
                </a:solidFill>
                <a:latin typeface="Calibri"/>
              </a:rPr>
              <a:t>79.5 %</a:t>
            </a:r>
            <a:r>
              <a:rPr sz="1550" b="0">
                <a:solidFill>
                  <a:srgbClr val="5A6472"/>
                </a:solidFill>
                <a:latin typeface="Calibri"/>
              </a:rPr>
              <a:t> 4 layers instead of 2, 10 M · </a:t>
            </a:r>
            <a:r>
              <a:rPr sz="1550" b="1">
                <a:solidFill>
                  <a:srgbClr val="5A6472"/>
                </a:solidFill>
                <a:latin typeface="Calibri"/>
              </a:rPr>
              <a:t>79.9 %</a:t>
            </a:r>
            <a:r>
              <a:rPr sz="1550" b="0">
                <a:solidFill>
                  <a:srgbClr val="5A6472"/>
                </a:solidFill>
                <a:latin typeface="Calibri"/>
              </a:rPr>
              <a:t> without EMA</a:t>
            </a:r>
          </a:p>
          <a:p>
            <a:pPr algn="l">
              <a:spcAft>
                <a:spcPts val="900"/>
              </a:spcAft>
            </a:pPr>
            <a:r>
              <a:rPr sz="1550" b="1">
                <a:solidFill>
                  <a:srgbClr val="5A6472"/>
                </a:solidFill>
                <a:latin typeface="Calibri"/>
              </a:rPr>
              <a:t>82.4 %</a:t>
            </a:r>
            <a:r>
              <a:rPr sz="1550" b="0">
                <a:solidFill>
                  <a:srgbClr val="5A6472"/>
                </a:solidFill>
                <a:latin typeface="Calibri"/>
              </a:rPr>
              <a:t> two networks instead of one, 10 M · </a:t>
            </a:r>
            <a:r>
              <a:rPr sz="1550" b="1">
                <a:solidFill>
                  <a:srgbClr val="5A6472"/>
                </a:solidFill>
                <a:latin typeface="Calibri"/>
              </a:rPr>
              <a:t>86.1 %</a:t>
            </a:r>
            <a:r>
              <a:rPr sz="1550" b="0">
                <a:solidFill>
                  <a:srgbClr val="5A6472"/>
                </a:solidFill>
                <a:latin typeface="Calibri"/>
              </a:rPr>
              <a:t> with HRM’s 2-pass halting · </a:t>
            </a:r>
            <a:r>
              <a:rPr sz="1550" b="1">
                <a:solidFill>
                  <a:srgbClr val="5A6472"/>
                </a:solidFill>
                <a:latin typeface="Calibri"/>
              </a:rPr>
              <a:t>55.0 %</a:t>
            </a:r>
            <a:r>
              <a:rPr sz="1550" b="0">
                <a:solidFill>
                  <a:srgbClr val="5A6472"/>
                </a:solidFill>
                <a:latin typeface="Calibri"/>
              </a:rPr>
              <a:t> HRM itself, 27 M</a:t>
            </a:r>
          </a:p>
          <a:p>
            <a:pPr algn="l">
              <a:spcAft>
                <a:spcPts val="900"/>
              </a:spcAft>
            </a:pPr>
            <a:r>
              <a:rPr sz="1550" b="0">
                <a:solidFill>
                  <a:srgbClr val="5A6472"/>
                </a:solidFill>
                <a:latin typeface="Calibri"/>
              </a:rPr>
              <a:t> </a:t>
            </a:r>
          </a:p>
          <a:p>
            <a:pPr algn="l">
              <a:spcAft>
                <a:spcPts val="900"/>
              </a:spcAft>
            </a:pPr>
            <a:r>
              <a:rPr sz="1550" b="1">
                <a:solidFill>
                  <a:srgbClr val="5A6472"/>
                </a:solidFill>
                <a:latin typeface="Calibri"/>
              </a:rPr>
              <a:t>It is also slow.</a:t>
            </a:r>
            <a:r>
              <a:rPr sz="1550" b="0">
                <a:solidFill>
                  <a:srgbClr val="5A6472"/>
                </a:solidFill>
                <a:latin typeface="Calibri"/>
              </a:rPr>
              <a:t> Sudoku: under 36 h on an L40S. ARC: about 3 days on 4×H100 — for 7 M parameters.</a:t>
            </a:r>
          </a:p>
          <a:p>
            <a:pPr algn="l">
              <a:spcAft>
                <a:spcPts val="900"/>
              </a:spcAft>
            </a:pPr>
            <a:r>
              <a:rPr sz="1550" b="1">
                <a:solidFill>
                  <a:srgbClr val="5A6472"/>
                </a:solidFill>
                <a:latin typeface="Calibri"/>
              </a:rPr>
              <a:t>Ideas the paper tried and dropped:</a:t>
            </a:r>
            <a:r>
              <a:rPr sz="1550" b="0">
                <a:solidFill>
                  <a:srgbClr val="5A6472"/>
                </a:solidFill>
                <a:latin typeface="Calibri"/>
              </a:rPr>
              <a:t> Mixture-of-Experts · backprop through only the last *k* steps · removing halting · tying the input embedding to the output head · and true fixed-point iteration (TorchDEQ), which was slower *and* worse.</a:t>
            </a:r>
          </a:p>
        </p:txBody>
      </p:sp>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B4553F"/>
                </a:solidFill>
                <a:latin typeface="Calibri"/>
              </a:rPr>
              <a:t>BACKUP · A DIAGRAM THAT DOES NOT DESCRIBE THE CODE</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If you have seen the older G-MedMamba diagram: </a:t>
            </a:r>
            <a:r>
              <a:rPr sz="1400" b="1">
                <a:solidFill>
                  <a:srgbClr val="1C2430"/>
                </a:solidFill>
                <a:latin typeface="Calibri"/>
              </a:rPr>
              <a:t>three of the blocks on it were never built.</a:t>
            </a:r>
            <a:r>
              <a:rPr sz="1400" b="0">
                <a:solidFill>
                  <a:srgbClr val="1C2430"/>
                </a:solidFill>
                <a:latin typeface="Calibri"/>
              </a:rPr>
              <a:t> Treat it as a design proposal, not architecture.</a:t>
            </a:r>
          </a:p>
        </p:txBody>
      </p:sp>
      <p:pic>
        <p:nvPicPr>
          <p:cNvPr id="7" name="Picture 6" descr="fig18_then_vs_now.png"/>
          <p:cNvPicPr>
            <a:picLocks noChangeAspect="1"/>
          </p:cNvPicPr>
          <p:nvPr/>
        </p:nvPicPr>
        <p:blipFill>
          <a:blip r:embed="rId2"/>
          <a:stretch>
            <a:fillRect/>
          </a:stretch>
        </p:blipFill>
        <p:spPr>
          <a:xfrm>
            <a:off x="2103268" y="713232"/>
            <a:ext cx="7985432" cy="495096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5A6472"/>
                </a:solidFill>
                <a:latin typeface="Calibri"/>
              </a:rPr>
              <a:t>BACKUP · THE QUESTIONS I EXPECT</a:t>
            </a:r>
          </a:p>
        </p:txBody>
      </p:sp>
      <p:sp>
        <p:nvSpPr>
          <p:cNvPr id="4" name="TextBox 3"/>
          <p:cNvSpPr txBox="1"/>
          <p:nvPr/>
        </p:nvSpPr>
        <p:spPr>
          <a:xfrm>
            <a:off x="749808" y="1143000"/>
            <a:ext cx="10692353" cy="533399"/>
          </a:xfrm>
          <a:prstGeom prst="rect">
            <a:avLst/>
          </a:prstGeom>
          <a:noFill/>
        </p:spPr>
        <p:txBody>
          <a:bodyPr wrap="square" anchor="t" lIns="0" rIns="0" tIns="0" bIns="0">
            <a:spAutoFit/>
          </a:bodyPr>
          <a:lstStyle/>
          <a:p>
            <a:pPr algn="l"/>
            <a:r>
              <a:rPr sz="3000" b="1">
                <a:solidFill>
                  <a:srgbClr val="1C2430"/>
                </a:solidFill>
                <a:latin typeface="Calibri"/>
              </a:rPr>
              <a:t>Short answers to the six most likely questions.</a:t>
            </a:r>
          </a:p>
        </p:txBody>
      </p:sp>
      <p:sp>
        <p:nvSpPr>
          <p:cNvPr id="5" name="TextBox 4"/>
          <p:cNvSpPr txBox="1"/>
          <p:nvPr/>
        </p:nvSpPr>
        <p:spPr>
          <a:xfrm>
            <a:off x="749808" y="1895856"/>
            <a:ext cx="10235153" cy="4359910"/>
          </a:xfrm>
          <a:prstGeom prst="rect">
            <a:avLst/>
          </a:prstGeom>
          <a:noFill/>
        </p:spPr>
        <p:txBody>
          <a:bodyPr wrap="square" anchor="t" lIns="0" rIns="0" tIns="0" bIns="0">
            <a:spAutoFit/>
          </a:bodyPr>
          <a:lstStyle/>
          <a:p>
            <a:pPr algn="l">
              <a:spcAft>
                <a:spcPts val="900"/>
              </a:spcAft>
            </a:pPr>
            <a:r>
              <a:rPr sz="1550" b="1">
                <a:solidFill>
                  <a:srgbClr val="5A6472"/>
                </a:solidFill>
                <a:latin typeface="Calibri"/>
              </a:rPr>
              <a:t>"Could you just pad every input to 32 channels?"</a:t>
            </a:r>
            <a:r>
              <a:rPr sz="1550" b="0">
                <a:solidFill>
                  <a:srgbClr val="5A6472"/>
                </a:solidFill>
                <a:latin typeface="Calibri"/>
              </a:rPr>
              <a:t> You could, and people do. You would be feeding the model zeros it has to learn to ignore, you would still have no representation of wavelength, and you would be capped at whatever you padded to. Ours has no cap.</a:t>
            </a:r>
          </a:p>
          <a:p>
            <a:pPr algn="l">
              <a:spcAft>
                <a:spcPts val="900"/>
              </a:spcAft>
            </a:pPr>
            <a:r>
              <a:rPr sz="1550" b="1">
                <a:solidFill>
                  <a:srgbClr val="5A6472"/>
                </a:solidFill>
                <a:latin typeface="Calibri"/>
              </a:rPr>
              <a:t>"Why does recursion beat just making the network deeper?"</a:t>
            </a:r>
            <a:r>
              <a:rPr sz="1550" b="0">
                <a:solidFill>
                  <a:srgbClr val="5A6472"/>
                </a:solidFill>
                <a:latin typeface="Calibri"/>
              </a:rPr>
              <a:t> Nobody knows, and the paper says so outright. Do not offer a mechanism you cannot defend.</a:t>
            </a:r>
          </a:p>
          <a:p>
            <a:pPr algn="l">
              <a:spcAft>
                <a:spcPts val="900"/>
              </a:spcAft>
            </a:pPr>
            <a:r>
              <a:rPr sz="1550" b="1">
                <a:solidFill>
                  <a:srgbClr val="5A6472"/>
                </a:solidFill>
                <a:latin typeface="Calibri"/>
              </a:rPr>
              <a:t>"If there is no fixed point, why does the no-grad prelude work?"</a:t>
            </a:r>
            <a:r>
              <a:rPr sz="1550" b="0">
                <a:solidFill>
                  <a:srgbClr val="5A6472"/>
                </a:solidFill>
                <a:latin typeface="Calibri"/>
              </a:rPr>
              <a:t> Because deep supervision trains for it directly — every pass is handed an arbitrary state and graded on improving it.</a:t>
            </a:r>
          </a:p>
          <a:p>
            <a:pPr algn="l">
              <a:spcAft>
                <a:spcPts val="900"/>
              </a:spcAft>
            </a:pPr>
            <a:r>
              <a:rPr sz="1550" b="1">
                <a:solidFill>
                  <a:srgbClr val="5A6472"/>
                </a:solidFill>
                <a:latin typeface="Calibri"/>
              </a:rPr>
              <a:t>"Is the 61× parameter saving real?"</a:t>
            </a:r>
            <a:r>
              <a:rPr sz="1550" b="0">
                <a:solidFill>
                  <a:srgbClr val="5A6472"/>
                </a:solidFill>
                <a:latin typeface="Calibri"/>
              </a:rPr>
              <a:t> The structural claim is exact. The multiplier depends on which hierarchical width you compare against; against our own config it is ~6×.</a:t>
            </a:r>
          </a:p>
          <a:p>
            <a:pPr algn="l">
              <a:spcAft>
                <a:spcPts val="900"/>
              </a:spcAft>
            </a:pPr>
            <a:r>
              <a:rPr sz="1550" b="1">
                <a:solidFill>
                  <a:srgbClr val="5A6472"/>
                </a:solidFill>
                <a:latin typeface="Calibri"/>
              </a:rPr>
              <a:t>"What is the reconstruction decoder for, if it is off?"</a:t>
            </a:r>
            <a:r>
              <a:rPr sz="1550" b="0">
                <a:solidFill>
                  <a:srgbClr val="5A6472"/>
                </a:solidFill>
                <a:latin typeface="Calibri"/>
              </a:rPr>
              <a:t> It reconstructs the input cube as an auxiliary objective. It was silently broken for a long time — it read a detached feature map. Fixed and gated; whether it helps classification has never been measured.</a:t>
            </a:r>
          </a:p>
          <a:p>
            <a:pPr algn="l">
              <a:spcAft>
                <a:spcPts val="900"/>
              </a:spcAft>
            </a:pPr>
            <a:r>
              <a:rPr sz="1550" b="1">
                <a:solidFill>
                  <a:srgbClr val="5A6472"/>
                </a:solidFill>
                <a:latin typeface="Calibri"/>
              </a:rPr>
              <a:t>"What is the biggest weakness?"</a:t>
            </a:r>
            <a:r>
              <a:rPr sz="1550" b="0">
                <a:solidFill>
                  <a:srgbClr val="5A6472"/>
                </a:solidFill>
                <a:latin typeface="Calibri"/>
              </a:rPr>
              <a:t> Two. Single seed everywhere. And the backbone averages away spatial detail inside each patch — free at patch size 1, most of the image at patch size 8.</a:t>
            </a:r>
          </a:p>
        </p:txBody>
      </p:sp>
      <p:sp>
        <p:nvSpPr>
          <p:cNvPr id="6" name="TextBox 5"/>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7" name="TextBox 6"/>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BACKUP · THREE NAMES YOU WILL HEAR</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Each model is the one before it with </a:t>
            </a:r>
            <a:r>
              <a:rPr sz="1400" b="1">
                <a:solidFill>
                  <a:srgbClr val="1C2430"/>
                </a:solidFill>
                <a:latin typeface="Calibri"/>
              </a:rPr>
              <a:t>exactly one thing replaced</a:t>
            </a:r>
            <a:r>
              <a:rPr sz="1400" b="0">
                <a:solidFill>
                  <a:srgbClr val="1C2430"/>
                </a:solidFill>
                <a:latin typeface="Calibri"/>
              </a:rPr>
              <a:t>. That is deliberate — it is what lets us say which change caused what.</a:t>
            </a:r>
          </a:p>
        </p:txBody>
      </p:sp>
      <p:pic>
        <p:nvPicPr>
          <p:cNvPr id="7" name="Picture 6" descr="fig22_three_models.png"/>
          <p:cNvPicPr>
            <a:picLocks noChangeAspect="1"/>
          </p:cNvPicPr>
          <p:nvPr/>
        </p:nvPicPr>
        <p:blipFill>
          <a:blip r:embed="rId2"/>
          <a:stretch>
            <a:fillRect/>
          </a:stretch>
        </p:blipFill>
        <p:spPr>
          <a:xfrm>
            <a:off x="429768" y="845735"/>
            <a:ext cx="11332433" cy="4685961"/>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C2703A"/>
                </a:solidFill>
                <a:latin typeface="Calibri"/>
              </a:rPr>
              <a:t>BACKUP · THE CAMERA</a:t>
            </a:r>
          </a:p>
        </p:txBody>
      </p:sp>
      <p:sp>
        <p:nvSpPr>
          <p:cNvPr id="4" name="Rectangle 3"/>
          <p:cNvSpPr/>
          <p:nvPr/>
        </p:nvSpPr>
        <p:spPr>
          <a:xfrm>
            <a:off x="429768" y="5792216"/>
            <a:ext cx="11332433" cy="663448"/>
          </a:xfrm>
          <a:prstGeom prst="rect">
            <a:avLst/>
          </a:prstGeom>
          <a:solidFill>
            <a:srgbClr val="FBEEE3"/>
          </a:solidFill>
          <a:ln w="15875">
            <a:solidFill>
              <a:srgbClr val="C27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A normal camera gives you </a:t>
            </a:r>
            <a:r>
              <a:rPr sz="1400" b="1">
                <a:solidFill>
                  <a:srgbClr val="1C2430"/>
                </a:solidFill>
                <a:latin typeface="Calibri"/>
              </a:rPr>
              <a:t>3 numbers per pixel</a:t>
            </a:r>
            <a:r>
              <a:rPr sz="1400" b="0">
                <a:solidFill>
                  <a:srgbClr val="1C2430"/>
                </a:solidFill>
                <a:latin typeface="Calibri"/>
              </a:rPr>
              <a:t>. Ours gives </a:t>
            </a:r>
            <a:r>
              <a:rPr sz="1400" b="1">
                <a:solidFill>
                  <a:srgbClr val="1C2430"/>
                </a:solidFill>
                <a:latin typeface="Calibri"/>
              </a:rPr>
              <a:t>32</a:t>
            </a:r>
            <a:r>
              <a:rPr sz="1400" b="0">
                <a:solidFill>
                  <a:srgbClr val="1C2430"/>
                </a:solidFill>
                <a:latin typeface="Calibri"/>
              </a:rPr>
              <a:t> — and the whole first half of this talk is about making a model that does not care which.</a:t>
            </a:r>
          </a:p>
        </p:txBody>
      </p:sp>
      <p:pic>
        <p:nvPicPr>
          <p:cNvPr id="7" name="Picture 6" descr="fig24_hsi_vs_rgb.png"/>
          <p:cNvPicPr>
            <a:picLocks noChangeAspect="1"/>
          </p:cNvPicPr>
          <p:nvPr/>
        </p:nvPicPr>
        <p:blipFill>
          <a:blip r:embed="rId2"/>
          <a:stretch>
            <a:fillRect/>
          </a:stretch>
        </p:blipFill>
        <p:spPr>
          <a:xfrm>
            <a:off x="429768" y="789073"/>
            <a:ext cx="11332433" cy="4799285"/>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5A6472"/>
                </a:solidFill>
                <a:latin typeface="Calibri"/>
              </a:rPr>
              <a:t>BACKUP · MEDMAMBA, IN 60 SECONDS</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You know this. </a:t>
            </a:r>
            <a:r>
              <a:rPr sz="1400" b="1">
                <a:solidFill>
                  <a:srgbClr val="1C2430"/>
                </a:solidFill>
                <a:latin typeface="Calibri"/>
              </a:rPr>
              <a:t>The only thing we need from it today is the red box</a:t>
            </a:r>
            <a:r>
              <a:rPr sz="1400" b="0">
                <a:solidFill>
                  <a:srgbClr val="1C2430"/>
                </a:solidFill>
                <a:latin typeface="Calibri"/>
              </a:rPr>
              <a:t> — the patch embedding, where the channel count lives.</a:t>
            </a:r>
          </a:p>
        </p:txBody>
      </p:sp>
      <p:pic>
        <p:nvPicPr>
          <p:cNvPr id="7" name="Picture 6" descr="fig01_medmamba_simple.png"/>
          <p:cNvPicPr>
            <a:picLocks noChangeAspect="1"/>
          </p:cNvPicPr>
          <p:nvPr/>
        </p:nvPicPr>
        <p:blipFill>
          <a:blip r:embed="rId2"/>
          <a:stretch>
            <a:fillRect/>
          </a:stretch>
        </p:blipFill>
        <p:spPr>
          <a:xfrm>
            <a:off x="429768" y="1389692"/>
            <a:ext cx="11332433" cy="3598047"/>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C2703A"/>
                </a:solidFill>
                <a:latin typeface="Calibri"/>
              </a:rPr>
              <a:t>BACKUP · THE FIX</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The honest cost, up front:</a:t>
            </a:r>
            <a:r>
              <a:rPr sz="1400" b="0">
                <a:solidFill>
                  <a:srgbClr val="1C2430"/>
                </a:solidFill>
                <a:latin typeface="Calibri"/>
              </a:rPr>
              <a:t> the backbone no longer sees raw pixels. It sees a summary of each patch’s spectrum, so texture inside a patch is gone.</a:t>
            </a:r>
          </a:p>
        </p:txBody>
      </p:sp>
      <p:pic>
        <p:nvPicPr>
          <p:cNvPr id="7" name="Picture 6" descr="fig05_stem_swap.png"/>
          <p:cNvPicPr>
            <a:picLocks noChangeAspect="1"/>
          </p:cNvPicPr>
          <p:nvPr/>
        </p:nvPicPr>
        <p:blipFill>
          <a:blip r:embed="rId2"/>
          <a:stretch>
            <a:fillRect/>
          </a:stretch>
        </p:blipFill>
        <p:spPr>
          <a:xfrm>
            <a:off x="429768" y="845735"/>
            <a:ext cx="11332433" cy="4685961"/>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C2703A"/>
                </a:solidFill>
                <a:latin typeface="Calibri"/>
              </a:rPr>
              <a:t>BACKUP · CONDITIONING EVERY STAGE</a:t>
            </a:r>
          </a:p>
        </p:txBody>
      </p:sp>
      <p:sp>
        <p:nvSpPr>
          <p:cNvPr id="4" name="Rectangle 3"/>
          <p:cNvSpPr/>
          <p:nvPr/>
        </p:nvSpPr>
        <p:spPr>
          <a:xfrm>
            <a:off x="429768" y="5792216"/>
            <a:ext cx="11332433" cy="663448"/>
          </a:xfrm>
          <a:prstGeom prst="rect">
            <a:avLst/>
          </a:prstGeom>
          <a:solidFill>
            <a:srgbClr val="FBEEE3"/>
          </a:solidFill>
          <a:ln w="15875">
            <a:solidFill>
              <a:srgbClr val="C27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Badge ① is the one that matters:</a:t>
            </a:r>
            <a:r>
              <a:rPr sz="1400" b="0">
                <a:solidFill>
                  <a:srgbClr val="1C2430"/>
                </a:solidFill>
                <a:latin typeface="Calibri"/>
              </a:rPr>
              <a:t> the spectrum conditions the block at </a:t>
            </a:r>
            <a:r>
              <a:rPr sz="1400" b="1">
                <a:solidFill>
                  <a:srgbClr val="1C2430"/>
                </a:solidFill>
                <a:latin typeface="Calibri"/>
              </a:rPr>
              <a:t>every</a:t>
            </a:r>
            <a:r>
              <a:rPr sz="1400" b="0">
                <a:solidFill>
                  <a:srgbClr val="1C2430"/>
                </a:solidFill>
                <a:latin typeface="Calibri"/>
              </a:rPr>
              <a:t> stage, not just at the input. Grey is MedMamba’s and untouched.</a:t>
            </a:r>
          </a:p>
        </p:txBody>
      </p:sp>
      <p:pic>
        <p:nvPicPr>
          <p:cNvPr id="7" name="Picture 6" descr="fig03_block.png"/>
          <p:cNvPicPr>
            <a:picLocks noChangeAspect="1"/>
          </p:cNvPicPr>
          <p:nvPr/>
        </p:nvPicPr>
        <p:blipFill>
          <a:blip r:embed="rId2"/>
          <a:stretch>
            <a:fillRect/>
          </a:stretch>
        </p:blipFill>
        <p:spPr>
          <a:xfrm>
            <a:off x="619250" y="713232"/>
            <a:ext cx="10953469" cy="495096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B4553F"/>
                </a:solidFill>
                <a:latin typeface="Calibri"/>
              </a:rPr>
              <a:t>BACKUP · IT WAS NOT FREE</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The first version of the channel-agnostic front end </a:t>
            </a:r>
            <a:r>
              <a:rPr sz="1400" b="1">
                <a:solidFill>
                  <a:srgbClr val="1C2430"/>
                </a:solidFill>
                <a:latin typeface="Calibri"/>
              </a:rPr>
              <a:t>could not see its own input</a:t>
            </a:r>
            <a:r>
              <a:rPr sz="1400" b="0">
                <a:solidFill>
                  <a:srgbClr val="1C2430"/>
                </a:solidFill>
                <a:latin typeface="Calibri"/>
              </a:rPr>
              <a:t> — and nothing crashed, and the loss still went down.</a:t>
            </a:r>
          </a:p>
        </p:txBody>
      </p:sp>
      <p:pic>
        <p:nvPicPr>
          <p:cNvPr id="7" name="Picture 6" descr="fig07_magnitude_bug.png"/>
          <p:cNvPicPr>
            <a:picLocks noChangeAspect="1"/>
          </p:cNvPicPr>
          <p:nvPr/>
        </p:nvPicPr>
        <p:blipFill>
          <a:blip r:embed="rId2"/>
          <a:stretch>
            <a:fillRect/>
          </a:stretch>
        </p:blipFill>
        <p:spPr>
          <a:xfrm>
            <a:off x="429768" y="1007222"/>
            <a:ext cx="11332433" cy="4362986"/>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BACKUP · WHY IT IMPROVES</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The model is </a:t>
            </a:r>
            <a:r>
              <a:rPr sz="1400" b="1">
                <a:solidFill>
                  <a:srgbClr val="1C2430"/>
                </a:solidFill>
                <a:latin typeface="Calibri"/>
              </a:rPr>
              <a:t>never</a:t>
            </a:r>
            <a:r>
              <a:rPr sz="1400" b="0">
                <a:solidFill>
                  <a:srgbClr val="1C2430"/>
                </a:solidFill>
                <a:latin typeface="Calibri"/>
              </a:rPr>
              <a:t> asked "solve this". It is asked "here is a wrong answer — make it less wrong". That is why a tiny network is enough.</a:t>
            </a:r>
          </a:p>
        </p:txBody>
      </p:sp>
      <p:pic>
        <p:nvPicPr>
          <p:cNvPr id="7" name="Picture 6" descr="fig20_trm_maze_refine.png"/>
          <p:cNvPicPr>
            <a:picLocks noChangeAspect="1"/>
          </p:cNvPicPr>
          <p:nvPr/>
        </p:nvPicPr>
        <p:blipFill>
          <a:blip r:embed="rId2"/>
          <a:stretch>
            <a:fillRect/>
          </a:stretch>
        </p:blipFill>
        <p:spPr>
          <a:xfrm>
            <a:off x="429768" y="723911"/>
            <a:ext cx="11332433" cy="492960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BACKUP · THE TWO THINGS IT CARRIES</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87.4 % is your reference number</a:t>
            </a:r>
            <a:r>
              <a:rPr sz="1400" b="0">
                <a:solidFill>
                  <a:srgbClr val="1C2430"/>
                </a:solidFill>
                <a:latin typeface="Calibri"/>
              </a:rPr>
              <a:t> for the rest of Part 3. Every table from here is the same model with one thing put back — so just watch whether the number drops.</a:t>
            </a:r>
          </a:p>
        </p:txBody>
      </p:sp>
      <p:pic>
        <p:nvPicPr>
          <p:cNvPr id="7" name="Picture 6" descr="fig27_y_and_z.png"/>
          <p:cNvPicPr>
            <a:picLocks noChangeAspect="1"/>
          </p:cNvPicPr>
          <p:nvPr/>
        </p:nvPicPr>
        <p:blipFill>
          <a:blip r:embed="rId2"/>
          <a:stretch>
            <a:fillRect/>
          </a:stretch>
        </p:blipFill>
        <p:spPr>
          <a:xfrm>
            <a:off x="501670" y="713232"/>
            <a:ext cx="11188628" cy="495096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BACKUP · THE IDEA THAT LICENSES THE LAST ONE</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672 layers of effective depth, out of 2 layers of weights.</a:t>
            </a:r>
            <a:r>
              <a:rPr sz="1400" b="0">
                <a:solidFill>
                  <a:srgbClr val="1C2430"/>
                </a:solidFill>
                <a:latin typeface="Calibri"/>
              </a:rPr>
              <a:t> And deep supervision is what makes the no-grad rounds legitimate — you cannot take one without the other.</a:t>
            </a:r>
          </a:p>
        </p:txBody>
      </p:sp>
      <p:pic>
        <p:nvPicPr>
          <p:cNvPr id="7" name="Picture 6" descr="fig11_deep_supervision.png"/>
          <p:cNvPicPr>
            <a:picLocks noChangeAspect="1"/>
          </p:cNvPicPr>
          <p:nvPr/>
        </p:nvPicPr>
        <p:blipFill>
          <a:blip r:embed="rId2"/>
          <a:stretch>
            <a:fillRect/>
          </a:stretch>
        </p:blipFill>
        <p:spPr>
          <a:xfrm>
            <a:off x="429768" y="1117713"/>
            <a:ext cx="11332433" cy="4142004"/>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BACKUP · DOES IT WORK</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Quote this paper as "tiny model beats the frontier" and you will be corrected, and you will deserve it. </a:t>
            </a:r>
            <a:r>
              <a:rPr sz="1400" b="1">
                <a:solidFill>
                  <a:srgbClr val="1C2430"/>
                </a:solidFill>
                <a:latin typeface="Calibri"/>
              </a:rPr>
              <a:t>The abstract says "most LLMs" and means it.</a:t>
            </a:r>
          </a:p>
        </p:txBody>
      </p:sp>
      <p:pic>
        <p:nvPicPr>
          <p:cNvPr id="7" name="Picture 6" descr="fig29_trm_benchmarks.png"/>
          <p:cNvPicPr>
            <a:picLocks noChangeAspect="1"/>
          </p:cNvPicPr>
          <p:nvPr/>
        </p:nvPicPr>
        <p:blipFill>
          <a:blip r:embed="rId2"/>
          <a:stretch>
            <a:fillRect/>
          </a:stretch>
        </p:blipFill>
        <p:spPr>
          <a:xfrm>
            <a:off x="429768" y="789073"/>
            <a:ext cx="11332433" cy="4799285"/>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BACKUP · WHAT TO CARRY FORWARD</a:t>
            </a:r>
          </a:p>
        </p:txBody>
      </p:sp>
      <p:sp>
        <p:nvSpPr>
          <p:cNvPr id="4" name="Rectangle 3"/>
          <p:cNvSpPr/>
          <p:nvPr/>
        </p:nvSpPr>
        <p:spPr>
          <a:xfrm>
            <a:off x="429768" y="5888736"/>
            <a:ext cx="11332433" cy="566928"/>
          </a:xfrm>
          <a:prstGeom prst="rect">
            <a:avLst/>
          </a:prstGeom>
          <a:solidFill>
            <a:srgbClr val="F2F4F7"/>
          </a:solidFill>
          <a:ln w="15875">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888736"/>
            <a:ext cx="68580" cy="566928"/>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888736"/>
            <a:ext cx="10829513" cy="566928"/>
          </a:xfrm>
          <a:prstGeom prst="rect">
            <a:avLst/>
          </a:prstGeom>
          <a:noFill/>
        </p:spPr>
        <p:txBody>
          <a:bodyPr wrap="square" anchor="ctr" lIns="0" rIns="0" tIns="0" bIns="0">
            <a:spAutoFit/>
          </a:bodyPr>
          <a:lstStyle/>
          <a:p>
            <a:pPr algn="l"/>
            <a:r>
              <a:rPr sz="1550" b="0">
                <a:solidFill>
                  <a:srgbClr val="1C2430"/>
                </a:solidFill>
                <a:latin typeface="Calibri"/>
              </a:rPr>
              <a:t>Everything from here is ours again.</a:t>
            </a:r>
          </a:p>
        </p:txBody>
      </p:sp>
      <p:pic>
        <p:nvPicPr>
          <p:cNvPr id="7" name="Picture 6" descr="fig30_trm_carry.png"/>
          <p:cNvPicPr>
            <a:picLocks noChangeAspect="1"/>
          </p:cNvPicPr>
          <p:nvPr/>
        </p:nvPicPr>
        <p:blipFill>
          <a:blip r:embed="rId2"/>
          <a:stretch>
            <a:fillRect/>
          </a:stretch>
        </p:blipFill>
        <p:spPr>
          <a:xfrm>
            <a:off x="429768" y="1219802"/>
            <a:ext cx="11332433" cy="4034346"/>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BACKUP · THE SWAP</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12 blocks stored once, versus 2 blocks stored once and called 126 times</a:t>
            </a:r>
            <a:r>
              <a:rPr sz="1400" b="0">
                <a:solidFill>
                  <a:srgbClr val="1C2430"/>
                </a:solidFill>
                <a:latin typeface="Calibri"/>
              </a:rPr>
              <a:t> — behind an identical interface. One config flag picks which.</a:t>
            </a:r>
          </a:p>
        </p:txBody>
      </p:sp>
      <p:pic>
        <p:nvPicPr>
          <p:cNvPr id="7" name="Picture 6" descr="fig13_two_backbones.png"/>
          <p:cNvPicPr>
            <a:picLocks noChangeAspect="1"/>
          </p:cNvPicPr>
          <p:nvPr/>
        </p:nvPicPr>
        <p:blipFill>
          <a:blip r:embed="rId2"/>
          <a:stretch>
            <a:fillRect/>
          </a:stretch>
        </p:blipFill>
        <p:spPr>
          <a:xfrm>
            <a:off x="429768" y="1007222"/>
            <a:ext cx="11332433" cy="4362986"/>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BACKUP · THE FINISHED MODEL</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Notice what is </a:t>
            </a:r>
            <a:r>
              <a:rPr sz="1400" b="1">
                <a:solidFill>
                  <a:srgbClr val="1C2430"/>
                </a:solidFill>
                <a:latin typeface="Calibri"/>
              </a:rPr>
              <a:t>missing</a:t>
            </a:r>
            <a:r>
              <a:rPr sz="1400" b="0">
                <a:solidFill>
                  <a:srgbClr val="1C2430"/>
                </a:solidFill>
                <a:latin typeface="Calibri"/>
              </a:rPr>
              <a:t>: no stages, no patch merging, no downsampling. Width 128 from the stem all the way to the head.</a:t>
            </a:r>
          </a:p>
        </p:txBody>
      </p:sp>
      <p:pic>
        <p:nvPicPr>
          <p:cNvPr id="7" name="Picture 6" descr="fig32_pipeline_simple.png"/>
          <p:cNvPicPr>
            <a:picLocks noChangeAspect="1"/>
          </p:cNvPicPr>
          <p:nvPr/>
        </p:nvPicPr>
        <p:blipFill>
          <a:blip r:embed="rId2"/>
          <a:stretch>
            <a:fillRect/>
          </a:stretch>
        </p:blipFill>
        <p:spPr>
          <a:xfrm>
            <a:off x="429768" y="1117713"/>
            <a:ext cx="11332433" cy="4142004"/>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5A6472"/>
                </a:solidFill>
                <a:latin typeface="Calibri"/>
              </a:rPr>
              <a:t>BACKUP · WHERE EACH PIECE CAME FROM</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The start states are </a:t>
            </a:r>
            <a:r>
              <a:rPr sz="1400" b="1">
                <a:solidFill>
                  <a:srgbClr val="1C2430"/>
                </a:solidFill>
                <a:latin typeface="Calibri"/>
              </a:rPr>
              <a:t>buffers, not parameters</a:t>
            </a:r>
            <a:r>
              <a:rPr sz="1400" b="0">
                <a:solidFill>
                  <a:srgbClr val="1C2430"/>
                </a:solidFill>
                <a:latin typeface="Calibri"/>
              </a:rPr>
              <a:t> — because the first round that reads them is inside the no-grad block. Make them parameters and they silently never train.</a:t>
            </a:r>
          </a:p>
        </p:txBody>
      </p:sp>
      <p:pic>
        <p:nvPicPr>
          <p:cNvPr id="7" name="Picture 6" descr="fig16_lineage.png"/>
          <p:cNvPicPr>
            <a:picLocks noChangeAspect="1"/>
          </p:cNvPicPr>
          <p:nvPr/>
        </p:nvPicPr>
        <p:blipFill>
          <a:blip r:embed="rId2"/>
          <a:stretch>
            <a:fillRect/>
          </a:stretch>
        </p:blipFill>
        <p:spPr>
          <a:xfrm>
            <a:off x="429768" y="723911"/>
            <a:ext cx="11332433" cy="492960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BACKUP · AGAINST THE BASELINE</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Leads </a:t>
            </a:r>
            <a:r>
              <a:rPr sz="1400" b="1">
                <a:solidFill>
                  <a:srgbClr val="1C2430"/>
                </a:solidFill>
                <a:latin typeface="Calibri"/>
              </a:rPr>
              <a:t>every aggregate metric</a:t>
            </a:r>
            <a:r>
              <a:rPr sz="1400" b="0">
                <a:solidFill>
                  <a:srgbClr val="1C2430"/>
                </a:solidFill>
                <a:latin typeface="Calibri"/>
              </a:rPr>
              <a:t> at an eighth of the parameters — but the two models trained on differently balanced splits, so read it as </a:t>
            </a:r>
            <a:r>
              <a:rPr sz="1400" b="1">
                <a:solidFill>
                  <a:srgbClr val="1C2430"/>
                </a:solidFill>
                <a:latin typeface="Calibri"/>
              </a:rPr>
              <a:t>indicative, not controlled</a:t>
            </a:r>
            <a:r>
              <a:rPr sz="1400" b="0">
                <a:solidFill>
                  <a:srgbClr val="1C2430"/>
                </a:solidFill>
                <a:latin typeface="Calibri"/>
              </a:rPr>
              <a:t>.</a:t>
            </a:r>
          </a:p>
        </p:txBody>
      </p:sp>
      <p:pic>
        <p:nvPicPr>
          <p:cNvPr id="7" name="Picture 6" descr="fig33_vs_medmamba.png"/>
          <p:cNvPicPr>
            <a:picLocks noChangeAspect="1"/>
          </p:cNvPicPr>
          <p:nvPr/>
        </p:nvPicPr>
        <p:blipFill>
          <a:blip r:embed="rId2"/>
          <a:stretch>
            <a:fillRect/>
          </a:stretch>
        </p:blipFill>
        <p:spPr>
          <a:xfrm>
            <a:off x="1069621" y="713232"/>
            <a:ext cx="10052726" cy="495096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