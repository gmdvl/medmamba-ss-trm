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t>
            </a:r>
          </a:p>
          <a:p/>
          <a:p>
            <a:r>
              <a:t>The whole talk in one sentence: we took a published medical image classifier, made it able to</a:t>
            </a:r>
          </a:p>
          <a:p>
            <a:r>
              <a:t>read a camera with any number of colour channels, and then shrank it sixty-fold by using the</a:t>
            </a:r>
          </a:p>
          <a:p>
            <a:r>
              <a:t>same two layers over and over instead of storing twelve different ones.</a:t>
            </a:r>
          </a:p>
          <a:p/>
          <a:p>
            <a:r>
              <a:t>One assumption and one promise. I am assuming you have seen MedMamba — so Part one is a single</a:t>
            </a:r>
          </a:p>
          <a:p>
            <a:r>
              <a:t>slide. I am assuming nothing about TRM, the paper in the middle; that gets taught from scratch,</a:t>
            </a:r>
          </a:p>
          <a:p>
            <a:r>
              <a:t>and I will say clearly that none of it is ours.</a:t>
            </a:r>
          </a:p>
          <a:p/>
          <a:p>
            <a:r>
              <a:t>The shape of the talk is a chain. MedMamba. What we changed to get MedMamba-S-S. Then TRM. Then</a:t>
            </a:r>
          </a:p>
          <a:p>
            <a:r>
              <a:t>how we put TRM inside, to get MedMamba-S-S-T-R-M. Then whether any of it worked.</a:t>
            </a:r>
          </a:p>
          <a:p/>
          <a:p>
            <a:r>
              <a:t>There is a map on every divider so you always know where we are. Let us start with what the model</a:t>
            </a:r>
          </a:p>
          <a:p>
            <a:r>
              <a:t>is for.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job is sorting breast tissue into three classes, from a picture</a:t>
            </a:r>
          </a:p>
          <a:p>
            <a:r>
              <a:t>under a microscope.</a:t>
            </a:r>
          </a:p>
          <a:p/>
          <a:p>
            <a:r>
              <a:t>Healthy on the left. Then two carcinomas. D-C-I-S, in the middle, is cancer still contained</a:t>
            </a:r>
          </a:p>
          <a:p>
            <a:r>
              <a:t>inside the milk duct. I-D-C, on the right, has broken out into the surrounding tissue.</a:t>
            </a:r>
          </a:p>
          <a:p/>
          <a:p>
            <a:r>
              <a:t>The middle one is the call that matters. Contained or invasive changes how the patient is</a:t>
            </a:r>
          </a:p>
          <a:p>
            <a:r>
              <a:t>treated — and it is drawn by eye, on shapes that vary between labs, between stains, and between</a:t>
            </a:r>
          </a:p>
          <a:p>
            <a:r>
              <a:t>pathologists.</a:t>
            </a:r>
          </a:p>
          <a:p/>
          <a:p>
            <a:r>
              <a:t>Now look at the percentages, because they set a trap. Invasive carcinoma is sixty-nine percent</a:t>
            </a:r>
          </a:p>
          <a:p>
            <a:r>
              <a:t>of our test data, and every model we have trained gets it essentially perfect. So a model that</a:t>
            </a:r>
          </a:p>
          <a:p>
            <a:r>
              <a:t>only ever said "invasive" would already score in the sixties.</a:t>
            </a:r>
          </a:p>
          <a:p/>
          <a:p>
            <a:r>
              <a:t>That is why you will not hear me quote plain accuracy once today. Every number is balanced</a:t>
            </a:r>
          </a:p>
          <a:p>
            <a:r>
              <a:t>accuracy or macro-F1 — both weigh all three classes equally, so a model cannot hide behind the</a:t>
            </a:r>
          </a:p>
          <a:p>
            <a:r>
              <a:t>easy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thing: the camera.</a:t>
            </a:r>
          </a:p>
          <a:p/>
          <a:p>
            <a:r>
              <a:t>An ordinary camera gives you three numbers per pixel — red, green, blue. Three wide,</a:t>
            </a:r>
          </a:p>
          <a:p>
            <a:r>
              <a:t>overlapping buckets. Anything finer than a bucket is averaged away before you see it.</a:t>
            </a:r>
          </a:p>
          <a:p/>
          <a:p>
            <a:r>
              <a:t>A hyperspectral camera gives you thirty-two narrow bands per pixel, chosen out of seven hundred</a:t>
            </a:r>
          </a:p>
          <a:p>
            <a:r>
              <a:t>and forty the instrument can capture. So each pixel carries a small curve: an actual spectrum.</a:t>
            </a:r>
          </a:p>
          <a:p/>
          <a:p>
            <a:r>
              <a:t>That matters because light is absorbed and scattered by tissue according to what the tissue is</a:t>
            </a:r>
          </a:p>
          <a:p>
            <a:r>
              <a:t>made of. A spectrum carries some of that chemistry. Three wide buckets integrate most of it</a:t>
            </a:r>
          </a:p>
          <a:p>
            <a:r>
              <a:t>away.</a:t>
            </a:r>
          </a:p>
          <a:p/>
          <a:p>
            <a:r>
              <a:t>Whether the extra chemistry actually helps a diagnosis is an empirical question, and Part 5 is</a:t>
            </a:r>
          </a:p>
          <a:p>
            <a:r>
              <a:t>our answer — for one dataset. I am not claiming it in general.</a:t>
            </a:r>
          </a:p>
          <a:p/>
          <a:p>
            <a:r>
              <a:t>But notice the engineering problem it creates. If your model is built for three channels and the</a:t>
            </a:r>
          </a:p>
          <a:p>
            <a:r>
              <a:t>camera gives you thirty-two, you are stuck.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holds the talk together. If you keep one</a:t>
            </a:r>
          </a:p>
          <a:p>
            <a:r>
              <a:t>picture, keep this one.</a:t>
            </a:r>
          </a:p>
          <a:p/>
          <a:p>
            <a:r>
              <a:t>MedMamba is where we start. It is published, it is good, and we kept most of it. But two numbers</a:t>
            </a:r>
          </a:p>
          <a:p>
            <a:r>
              <a:t>are frozen into its weights when you build it, before it sees any data.</a:t>
            </a:r>
          </a:p>
          <a:p/>
          <a:p>
            <a:r>
              <a:t>The first is C — how many channels it can read, decided by the shape of its very first layer.</a:t>
            </a:r>
          </a:p>
          <a:p>
            <a:r>
              <a:t>And the cost is not "it works less well on another camera". The weights physically will not</a:t>
            </a:r>
          </a:p>
          <a:p>
            <a:r>
              <a:t>load. Different shape, different tensor. It is a wall, not a slope.</a:t>
            </a:r>
          </a:p>
          <a:p/>
          <a:p>
            <a:r>
              <a:t>The second is twelve — how many distinct blocks it stores. Twelve blocks, each with its own</a:t>
            </a:r>
          </a:p>
          <a:p>
            <a:r>
              <a:t>weights. Twenty-seven million numbers, which turns out to be about ninety-nine percent of the</a:t>
            </a:r>
          </a:p>
          <a:p>
            <a:r>
              <a:t>model.</a:t>
            </a:r>
          </a:p>
          <a:p/>
          <a:p>
            <a:r>
              <a:t>Part two deletes the first. Part four deletes the second.</a:t>
            </a:r>
          </a:p>
          <a:p/>
          <a:p>
            <a:r>
              <a:t>Part three is the odd one out. It is somebody else's paper, from October twenty twenty-five, and</a:t>
            </a:r>
          </a:p>
          <a:p>
            <a:r>
              <a:t>I will say this at both ends of it: none of Part three is ours. It is here because Part four does</a:t>
            </a:r>
          </a:p>
          <a:p>
            <a:r>
              <a:t>not make sense without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names, because you will hear all three and I do not want</a:t>
            </a:r>
          </a:p>
          <a:p>
            <a:r>
              <a:t>them to blur.</a:t>
            </a:r>
          </a:p>
          <a:p/>
          <a:p>
            <a:r>
              <a:t>MedMamba is the published baseline. Four stages, twelve distinct blocks, and a first layer with</a:t>
            </a:r>
          </a:p>
          <a:p>
            <a:r>
              <a:t>the channel count welded in.</a:t>
            </a:r>
          </a:p>
          <a:p/>
          <a:p>
            <a:r>
              <a:t>MedMamba-S-S is ours. It is MedMamba with one thing added — a spectral pathway at the front that</a:t>
            </a:r>
          </a:p>
          <a:p>
            <a:r>
              <a:t>reads the bands properly. S-S is spectral-spatial. After that change, C is gone.</a:t>
            </a:r>
          </a:p>
          <a:p/>
          <a:p>
            <a:r>
              <a:t>MedMamba-S-S-T-R-M is also ours. It is the middle one with one thing swapped: the four-stage</a:t>
            </a:r>
          </a:p>
          <a:p>
            <a:r>
              <a:t>hierarchy replaced by a single small core called sixty-three times. T-R-M is the paper we</a:t>
            </a:r>
          </a:p>
          <a:p>
            <a:r>
              <a:t>borrowed that from.</a:t>
            </a:r>
          </a:p>
          <a:p/>
          <a:p>
            <a:r>
              <a:t>Look at the parameter counts. Three and a half million, twenty-seven million, then four hundred</a:t>
            </a:r>
          </a:p>
          <a:p>
            <a:r>
              <a:t>and forty-seven thousand. Yes — our first change made the model bigger. I will come back to that</a:t>
            </a:r>
          </a:p>
          <a:p>
            <a:r>
              <a:t>honestly.</a:t>
            </a:r>
          </a:p>
          <a:p/>
          <a:p>
            <a:r>
              <a:t>One housekeeping note: some of our older figures call the third one G-MedMamba-R. Same model,</a:t>
            </a:r>
          </a:p>
          <a:p>
            <a:r>
              <a:t>earlier name.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and it is one slide, because most of you already know this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you already know MedMamba, so this is a reminder, not a tutorial, and it is</a:t>
            </a:r>
          </a:p>
          <a:p>
            <a:r>
              <a:t>the only MedMamba slide in the talk.</a:t>
            </a:r>
          </a:p>
          <a:p/>
          <a:p>
            <a:r>
              <a:t>Four stages. The picture halves, the features double. Average at the end, one linear layer, done.</a:t>
            </a:r>
          </a:p>
          <a:p>
            <a:r>
              <a:t>Inside each stage is the SS-Conv-SSM block: split the channels, send one half through a</a:t>
            </a:r>
          </a:p>
          <a:p>
            <a:r>
              <a:t>two-dimensional selective scan and the other through convolutions, concatenate and shuffle. A</a:t>
            </a:r>
          </a:p>
          <a:p>
            <a:r>
              <a:t>global operator and a local one for roughly the price of one.</a:t>
            </a:r>
          </a:p>
          <a:p/>
          <a:p>
            <a:r>
              <a:t>We kept all of that. It is worth inheriting and we did not touch it.</a:t>
            </a:r>
          </a:p>
          <a:p/>
          <a:p>
            <a:r>
              <a:t>The only thing on this slide that matters for the next forty minutes is the red box on the far</a:t>
            </a:r>
          </a:p>
          <a:p>
            <a:r>
              <a:t>left. The patch embedding. The very first layer.</a:t>
            </a:r>
          </a:p>
          <a:p/>
          <a:p>
            <a:r>
              <a:t>[point at the red callout]</a:t>
            </a:r>
          </a:p>
          <a:p/>
          <a:p>
            <a:r>
              <a:t>Everything in Part 2 comes out of that one box.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From MedMamba to MedMamba-SS.</a:t>
            </a:r>
          </a:p>
          <a:p/>
          <a:p>
            <a:r>
              <a:t>Two changes, and one of them we can prove rather than measure, which I like.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first layer.</a:t>
            </a:r>
          </a:p>
          <a:p/>
          <a:p>
            <a:r>
              <a:t>It is a convolution, and the number of input channels lives inside its weight tensor. Three on</a:t>
            </a:r>
          </a:p>
          <a:p>
            <a:r>
              <a:t>the left, thirty-two on the right. Different shapes. They do not fit.</a:t>
            </a:r>
          </a:p>
          <a:p/>
          <a:p>
            <a:r>
              <a:t>Say that precisely, because the vague version is much weaker. It is not that a model trained on</a:t>
            </a:r>
          </a:p>
          <a:p>
            <a:r>
              <a:t>one sensor performs badly on another. The file will not load. You get a shape-mismatch error and</a:t>
            </a:r>
          </a:p>
          <a:p>
            <a:r>
              <a:t>nothing runs.</a:t>
            </a:r>
          </a:p>
          <a:p/>
          <a:p>
            <a:r>
              <a:t>There is a second consequence, subtler and I think more important. Nothing in that model</a:t>
            </a:r>
          </a:p>
          <a:p>
            <a:r>
              <a:t>represents which wavelength a channel is. Band seven is just "index seven". Swap two bands</a:t>
            </a:r>
          </a:p>
          <a:p>
            <a:r>
              <a:t>around and it cannot tell. And our bands are not even evenly spaced — there is a</a:t>
            </a:r>
          </a:p>
          <a:p>
            <a:r>
              <a:t>two-hundred-and-nineteen nanometre jump between two adjacent ones.</a:t>
            </a:r>
          </a:p>
          <a:p/>
          <a:p>
            <a:r>
              <a:t>So: a spectral model that cannot represent a wavelength is not really a spectral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deleted that layer.</a:t>
            </a:r>
          </a:p>
          <a:p/>
          <a:p>
            <a:r>
              <a:t>Top row is MedMamba. Image, one convolution with C baked in, backbone. Locked to one sensor for</a:t>
            </a:r>
          </a:p>
          <a:p>
            <a:r>
              <a:t>life.</a:t>
            </a:r>
          </a:p>
          <a:p/>
          <a:p>
            <a:r>
              <a:t>Bottom row is ours. Same image, then a chain of small steps — patchify, tokenize, encode,</a:t>
            </a:r>
          </a:p>
          <a:p>
            <a:r>
              <a:t>average, compress — and then the backbone. The next slide is entirely about those two orange</a:t>
            </a:r>
          </a:p>
          <a:p>
            <a:r>
              <a:t>boxes.</a:t>
            </a:r>
          </a:p>
          <a:p/>
          <a:p>
            <a:r>
              <a:t>Now the cost, and I am putting it on the slide rather than saving it for a limitations section,</a:t>
            </a:r>
          </a:p>
          <a:p>
            <a:r>
              <a:t>because it is the first thing a careful listener objects to.</a:t>
            </a:r>
          </a:p>
          <a:p/>
          <a:p>
            <a:r>
              <a:t>The backbone no longer sees pixels. It sees a summary of each patch's spectrum. So texture</a:t>
            </a:r>
          </a:p>
          <a:p>
            <a:r>
              <a:t>inside a patch is gone before the backbone runs.</a:t>
            </a:r>
          </a:p>
          <a:p/>
          <a:p>
            <a:r>
              <a:t>How bad that is depends entirely on patch size. At patch size one, a patch is a single pixel and</a:t>
            </a:r>
          </a:p>
          <a:p>
            <a:r>
              <a:t>you have lost nothing. At patch size eight, it is sixty-four pixels and you have thrown most of</a:t>
            </a:r>
          </a:p>
          <a:p>
            <a:r>
              <a:t>the image away. We use one on the tissue data, which is why this is a fair trade there.</a:t>
            </a:r>
          </a:p>
          <a:p/>
          <a:p>
            <a:r>
              <a:t>That is the cost. Here is what it buys.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This is the central trick of the first half.</a:t>
            </a:r>
          </a:p>
          <a:p/>
          <a:p>
            <a:r>
              <a:t>Take one patch. It has a spectrum — one number per band. Thirty-two if it is hyperspectral,</a:t>
            </a:r>
          </a:p>
          <a:p>
            <a:r>
              <a:t>three if it is RGB.</a:t>
            </a:r>
          </a:p>
          <a:p/>
          <a:p>
            <a:r>
              <a:t>The normal thing is to feed all of them into one layer at once. That layer then needs a slot for</a:t>
            </a:r>
          </a:p>
          <a:p>
            <a:r>
              <a:t>each one, and that is exactly where C gets welded in.</a:t>
            </a:r>
          </a:p>
          <a:p/>
          <a:p>
            <a:r>
              <a:t>So we do not do that. We feed them in one at a time.</a:t>
            </a:r>
          </a:p>
          <a:p/>
          <a:p>
            <a:r>
              <a:t>There is a single small layer: linear, from one number to thirty-two. It takes one band's value</a:t>
            </a:r>
          </a:p>
          <a:p>
            <a:r>
              <a:t>and hands back a vector. Its weight is thirty-two numbers, full stop. There is no C in it. There</a:t>
            </a:r>
          </a:p>
          <a:p>
            <a:r>
              <a:t>cannot be — it only ever sees one value at a time, and it has no way of knowing how many times</a:t>
            </a:r>
          </a:p>
          <a:p>
            <a:r>
              <a:t>it will be called.</a:t>
            </a:r>
          </a:p>
          <a:p/>
          <a:p>
            <a:r>
              <a:t>So thirty-two bands gives thirty-two tokens. Three bands gives three tokens. Same layer, same</a:t>
            </a:r>
          </a:p>
          <a:p>
            <a:r>
              <a:t>weights, both times.</a:t>
            </a:r>
          </a:p>
          <a:p/>
          <a:p>
            <a:r>
              <a:t>Then we average them. Thirty-two vectors averaged is one vector; three averaged is one vector.</a:t>
            </a:r>
          </a:p>
          <a:p>
            <a:r>
              <a:t>Same size. And from there on, nothing downstream has any idea how many bands there were.</a:t>
            </a:r>
          </a:p>
          <a:p/>
          <a:p>
            <a:r>
              <a:t>That is the whole trick.</a:t>
            </a:r>
          </a:p>
          <a:p/>
          <a:p>
            <a:r>
              <a:t>[pause — count two]</a:t>
            </a:r>
          </a:p>
          <a:p/>
          <a:p>
            <a:r>
              <a:t>One loose end, because someone always spots it. Averaging throws away order. So before we</a:t>
            </a:r>
          </a:p>
          <a:p>
            <a:r>
              <a:t>average, every band token is tagged with its actual wavelength in nanometres, as a</a:t>
            </a:r>
          </a:p>
          <a:p>
            <a:r>
              <a:t>sine-and-cosine pattern. That is a physical quantity, not an index — so the tag works just as</a:t>
            </a:r>
          </a:p>
          <a:p>
            <a:r>
              <a:t>well for a wavelength the model has never seen.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receipt.</a:t>
            </a:r>
          </a:p>
          <a:p/>
          <a:p>
            <a:r>
              <a:t>We ran the same model twice. We diffed the two configuration files field by field, and they</a:t>
            </a:r>
          </a:p>
          <a:p>
            <a:r>
              <a:t>differ in exactly one place: which directory the data comes from. One points at the</a:t>
            </a:r>
          </a:p>
          <a:p>
            <a:r>
              <a:t>thirty-two-band cubes; the other at a three-channel rendering of the very same captures.</a:t>
            </a:r>
          </a:p>
          <a:p/>
          <a:p>
            <a:r>
              <a:t>Four hundred and forty-six thousand, four hundred and nine parameters. Both times.</a:t>
            </a:r>
          </a:p>
          <a:p/>
          <a:p>
            <a:r>
              <a:t>Not "about the same". Not "the same after you subtract the classifier head". Identical. A</a:t>
            </a:r>
          </a:p>
          <a:p>
            <a:r>
              <a:t>ten-fold change in band count contributed exactly zero parameters.</a:t>
            </a:r>
          </a:p>
          <a:p/>
          <a:p>
            <a:r>
              <a:t>I like this result more than any other number in the talk, for an odd reason: it is arithmetic,</a:t>
            </a:r>
          </a:p>
          <a:p>
            <a:r>
              <a:t>not statistics. It does not depend on the seed, or the split, or the metric.</a:t>
            </a:r>
          </a:p>
          <a:p/>
          <a:p>
            <a:r>
              <a:t>But let me say what it is not, because it is narrow. It says storage does not depend on band</a:t>
            </a:r>
          </a:p>
          <a:p>
            <a:r>
              <a:t>count. It says nothing about whether the model is any good at a band count it never trained on</a:t>
            </a:r>
          </a:p>
          <a:p>
            <a:r>
              <a:t>— we did not test that. And memory while running does still depend on band count. Storage is</a:t>
            </a:r>
          </a:p>
          <a:p>
            <a:r>
              <a:t>flat; activations are not.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spectral pathway hands out a context map. This slide is what we do with it.</a:t>
            </a:r>
          </a:p>
          <a:p/>
          <a:p>
            <a:r>
              <a:t>Grey is MedMamba's block, untouched — you know it, so I am not going to walk it again.</a:t>
            </a:r>
          </a:p>
          <a:p/>
          <a:p>
            <a:r>
              <a:t>The orange badges are ours, and badge one is the only one that matters. The spectrum conditions</a:t>
            </a:r>
          </a:p>
          <a:p>
            <a:r>
              <a:t>the block at every stage, not just once at the input. Concretely: the context map modulates the</a:t>
            </a:r>
          </a:p>
          <a:p>
            <a:r>
              <a:t>features at all four stages, through a FiLM-style scale and shift, plus a per-stage band selector.</a:t>
            </a:r>
          </a:p>
          <a:p/>
          <a:p>
            <a:r>
              <a:t>Why that rather than just feeding the spectrum in at the front? Because a signal injected once at</a:t>
            </a:r>
          </a:p>
          <a:p>
            <a:r>
              <a:t>the input has to survive four stages of downsampling and channel mixing to still be doing work at</a:t>
            </a:r>
          </a:p>
          <a:p>
            <a:r>
              <a:t>the top. Conditioning at every stage means it never has to.</a:t>
            </a:r>
          </a:p>
          <a:p/>
          <a:p>
            <a:r>
              <a:t>Badges two and three are ordinary engineering — a learnable dial on the residual branch, and a</a:t>
            </a:r>
          </a:p>
          <a:p>
            <a:r>
              <a:t>feed-forward block.</a:t>
            </a:r>
          </a:p>
          <a:p/>
          <a:p>
            <a:r>
              <a:t>And the honest cost of all of this is on the next slide but 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minute on the version that did not work, because if I only show</a:t>
            </a:r>
          </a:p>
          <a:p>
            <a:r>
              <a:t>you the clean result I am selling you something.</a:t>
            </a:r>
          </a:p>
          <a:p/>
          <a:p>
            <a:r>
              <a:t>Every band token gets a value and a wavelength tag. The obvious thing is to add them. One line</a:t>
            </a:r>
          </a:p>
          <a:p>
            <a:r>
              <a:t>of code. That is what we did first.</a:t>
            </a:r>
          </a:p>
          <a:p/>
          <a:p>
            <a:r>
              <a:t>Then we measured the two things we were adding. The embedded band value came out around zero</a:t>
            </a:r>
          </a:p>
          <a:p>
            <a:r>
              <a:t>point zero zero six. The wavelength tag, around zero point five five. The actual signal was</a:t>
            </a:r>
          </a:p>
          <a:p>
            <a:r>
              <a:t>eighty-six to ninety-three times smaller than a tag that is identical for every patch in the</a:t>
            </a:r>
          </a:p>
          <a:p>
            <a:r>
              <a:t>dataset.</a:t>
            </a:r>
          </a:p>
          <a:p/>
          <a:p>
            <a:r>
              <a:t>So we measured how much the output moved when the input changed. Zero point two five percent.</a:t>
            </a:r>
          </a:p>
          <a:p>
            <a:r>
              <a:t>That front end was, to a good approximation, ignoring its own input.</a:t>
            </a:r>
          </a:p>
          <a:p/>
          <a:p>
            <a:r>
              <a:t>Here is the part that should bother you. Nothing crashed. No warning. The loss went down. We</a:t>
            </a:r>
          </a:p>
          <a:p>
            <a:r>
              <a:t>only found it because we had a gate that asserts the embedding must move when the input moves.</a:t>
            </a:r>
          </a:p>
          <a:p/>
          <a:p>
            <a:r>
              <a:t>The fix is on the slide: stop adding, concatenate and put a small network on top.</a:t>
            </a:r>
          </a:p>
          <a:p/>
          <a:p>
            <a:r>
              <a:t>So if anyone asks whether deleting C is a free lunch — no. The idea is cheap. Making it actually</a:t>
            </a:r>
          </a:p>
          <a:p>
            <a:r>
              <a:t>see its input was not.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is gone. Now look at where the parameters actually are, because this</a:t>
            </a:r>
          </a:p>
          <a:p>
            <a:r>
              <a:t>is the hinge of the talk.</a:t>
            </a:r>
          </a:p>
          <a:p/>
          <a:p>
            <a:r>
              <a:t>Everything I just spent five minutes on — the whole spectral front end, the thing that made the</a:t>
            </a:r>
          </a:p>
          <a:p>
            <a:r>
              <a:t>model sensor-independent — is thirty-eight thousand parameters. That is the orange sliver, and</a:t>
            </a:r>
          </a:p>
          <a:p>
            <a:r>
              <a:t>on this scale you can barely see it.</a:t>
            </a:r>
          </a:p>
          <a:p/>
          <a:p>
            <a:r>
              <a:t>Everything else — the four-stage backbone, the fusion, the heads — is twenty-seven point four</a:t>
            </a:r>
          </a:p>
          <a:p>
            <a:r>
              <a:t>million. Ninety-nine point nine percent.</a:t>
            </a:r>
          </a:p>
          <a:p/>
          <a:p>
            <a:r>
              <a:t>And plainly: our own addition made the model bigger overall. MedMamba was three and a half</a:t>
            </a:r>
          </a:p>
          <a:p>
            <a:r>
              <a:t>million; MedMamba-S-S is twenty-seven. A model with more capacity that scores a bit higher has</a:t>
            </a:r>
          </a:p>
          <a:p>
            <a:r>
              <a:t>not demonstrated a better idea, and I am not going to pretend otherwise.</a:t>
            </a:r>
          </a:p>
          <a:p/>
          <a:p>
            <a:r>
              <a:t>Which sets up exactly one question. Can a backbone reuse the same weights instead of storing</a:t>
            </a:r>
          </a:p>
          <a:p>
            <a:r>
              <a:t>twelve separate sets?</a:t>
            </a:r>
          </a:p>
          <a:p/>
          <a:p>
            <a:r>
              <a:t>That has an answer in a paper from October twenty twenty-five — and a bigger answer than we went</a:t>
            </a:r>
          </a:p>
          <a:p>
            <a:r>
              <a:t>looking for, because most of that paper is not about making a model smaller. It is about why</a:t>
            </a:r>
          </a:p>
          <a:p>
            <a:r>
              <a:t>reusing weights makes a model better.</a:t>
            </a:r>
          </a:p>
          <a:p/>
          <a:p>
            <a:r>
              <a:t>So the next ten minutes are that paper. Nothing in them is ours. I will tell you when we are</a:t>
            </a:r>
          </a:p>
          <a:p>
            <a:r>
              <a:t>back.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What is T-R-M?</a:t>
            </a:r>
          </a:p>
          <a:p/>
          <a:p>
            <a:r>
              <a:t>Say this out loud and mean it: nothing in the next twelve minutes is ours. This is one paper,</a:t>
            </a:r>
          </a:p>
          <a:p>
            <a:r>
              <a:t>by one author, at Samsung's Montreal lab, from October last year. Every number I show you in</a:t>
            </a:r>
          </a:p>
          <a:p>
            <a:r>
              <a:t>this part is theirs, measured on puzzle benchmarks — not on medical images.</a:t>
            </a:r>
          </a:p>
          <a:p/>
          <a:p>
            <a:r>
              <a:t>I am spending a third of the talk on somebody else's paper on purpose. It is recent enough that</a:t>
            </a:r>
          </a:p>
          <a:p>
            <a:r>
              <a:t>most rooms have not read it, and part four is genuinely meaningless without it.</a:t>
            </a:r>
          </a:p>
          <a:p/>
          <a:p>
            <a:r>
              <a:t>I will tell you again when we come out the other side.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first. The maths is three lines and it comes</a:t>
            </a:r>
          </a:p>
          <a:p>
            <a:r>
              <a:t>in three slides.</a:t>
            </a:r>
          </a:p>
          <a:p/>
          <a:p>
            <a:r>
              <a:t>You are given a maze. Not a description — a photograph of one, on a page in front of you. You</a:t>
            </a:r>
          </a:p>
          <a:p>
            <a:r>
              <a:t>have a pencil and an eraser.</a:t>
            </a:r>
          </a:p>
          <a:p/>
          <a:p>
            <a:r>
              <a:t>That maze is x. The question. You look at it once and it never changes.</a:t>
            </a:r>
          </a:p>
          <a:p/>
          <a:p>
            <a:r>
              <a:t>Now you draw a line. Start to finish, your best guess, all the way through, committed, in</a:t>
            </a:r>
          </a:p>
          <a:p>
            <a:r>
              <a:t>pencil. That is y. Your current answer. And the important thing about y is that it is a real</a:t>
            </a:r>
          </a:p>
          <a:p>
            <a:r>
              <a:t>answer at every moment. If I stop you halfway and ask what your answer is, you point at the</a:t>
            </a:r>
          </a:p>
          <a:p>
            <a:r>
              <a:t>line.</a:t>
            </a:r>
          </a:p>
          <a:p/>
          <a:p>
            <a:r>
              <a:t>Now you look again. That stretch was wrong — dead end. So you rub out that stretch and redraw</a:t>
            </a:r>
          </a:p>
          <a:p>
            <a:r>
              <a:t>just that stretch. You do not start again. You do not get a fresh sheet.</a:t>
            </a:r>
          </a:p>
          <a:p/>
          <a:p>
            <a:r>
              <a:t>And f, the circle in the middle, is you. One brain. It is the only thing in this picture with</a:t>
            </a:r>
          </a:p>
          <a:p>
            <a:r>
              <a:t>any weights in it. Everything else is paper.</a:t>
            </a:r>
          </a:p>
          <a:p/>
          <a:p>
            <a:r>
              <a:t>One more piece. Before each stroke, you think — you trace routes with your eyes, you remember</a:t>
            </a:r>
          </a:p>
          <a:p>
            <a:r>
              <a:t>corridors you have ruled out. None of that is on the paper. That is z, the working. Nobody ever</a:t>
            </a:r>
          </a:p>
          <a:p>
            <a:r>
              <a:t>sees it, including the thing that grades you.</a:t>
            </a:r>
          </a:p>
          <a:p/>
          <a:p>
            <a:r>
              <a:t>Four words, and I will use only these. One update of the working is a scribble. One update of</a:t>
            </a:r>
          </a:p>
          <a:p>
            <a:r>
              <a:t>the line is a stroke. Six scribbles then one stroke is a round. Three rounds is a pass.</a:t>
            </a:r>
          </a:p>
          <a:p/>
          <a:p>
            <a:r>
              <a:t>And mazes are not a metaphor I picked to be charming. Thirty-by-thirty mazes are one of the four</a:t>
            </a:r>
          </a:p>
          <a:p>
            <a:r>
              <a:t>benchmarks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watch what is actually being asked of the model, because this</a:t>
            </a:r>
          </a:p>
          <a:p>
            <a:r>
              <a:t>is the idea that makes the whole thing work.</a:t>
            </a:r>
          </a:p>
          <a:p/>
          <a:p>
            <a:r>
              <a:t>It is never asked "solve this maze."</a:t>
            </a:r>
          </a:p>
          <a:p/>
          <a:p>
            <a:r>
              <a:t>It is asked: "here is a maze, and here is a line that is wrong in places. Make it less wrong."</a:t>
            </a:r>
          </a:p>
          <a:p/>
          <a:p>
            <a:r>
              <a:t>Follow the panels. A confident start, straight into a dead end. That stretch rubbed out, but the</a:t>
            </a:r>
          </a:p>
          <a:p>
            <a:r>
              <a:t>next one still wrong. Both detours gone, but the line stops short. Then it is right.</a:t>
            </a:r>
          </a:p>
          <a:p/>
          <a:p>
            <a:r>
              <a:t>Every one of those arrows is the same two layers doing the same job.</a:t>
            </a:r>
          </a:p>
          <a:p/>
          <a:p>
            <a:r>
              <a:t>[slow down]</a:t>
            </a:r>
          </a:p>
          <a:p/>
          <a:p>
            <a:r>
              <a:t>A model that has to be right in one shot needs the capacity to be right in one shot. A model</a:t>
            </a:r>
          </a:p>
          <a:p>
            <a:r>
              <a:t>that only has to make an answer less wrong does not. It borrows the capacity it is missing from</a:t>
            </a:r>
          </a:p>
          <a:p>
            <a:r>
              <a:t>time — from being run again.</a:t>
            </a:r>
          </a:p>
          <a:p/>
          <a:p>
            <a:r>
              <a:t>[pause — count two]</a:t>
            </a:r>
          </a:p>
          <a:p/>
          <a:p>
            <a:r>
              <a:t>If you remember one sentence from this part, that is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paper's own language, because you will meet</a:t>
            </a:r>
          </a:p>
          <a:p>
            <a:r>
              <a:t>both letters.</a:t>
            </a:r>
          </a:p>
          <a:p/>
          <a:p>
            <a:r>
              <a:t>y is the answer — and that is a checkable claim, not a figure of speech. Push y through the</a:t>
            </a:r>
          </a:p>
          <a:p>
            <a:r>
              <a:t>output head and you get an actual Sudoku grid. The paper prints one. Decode y halfway through</a:t>
            </a:r>
          </a:p>
          <a:p>
            <a:r>
              <a:t>and you see a partly solved puzzle, getting better.</a:t>
            </a:r>
          </a:p>
          <a:p/>
          <a:p>
            <a:r>
              <a:t>z is the working. Decode z through the same head and you get nothing meaningful. Nobody looks at</a:t>
            </a:r>
          </a:p>
          <a:p>
            <a:r>
              <a:t>it — not you, not the loss.</a:t>
            </a:r>
          </a:p>
          <a:p/>
          <a:p>
            <a:r>
              <a:t>So why exactly two? They tested it, and the bars are the answer.</a:t>
            </a:r>
          </a:p>
          <a:p/>
          <a:p>
            <a:r>
              <a:t>Take z away and it drops to seventy-one point nine — it forgets how it got where it is, so every</a:t>
            </a:r>
          </a:p>
          <a:p>
            <a:r>
              <a:t>pass starts from scratch. Split z into seven features instead of one and it drops to</a:t>
            </a:r>
          </a:p>
          <a:p>
            <a:r>
              <a:t>seventy-seven point six — you have bought capacity and overfitting and nothing else.</a:t>
            </a:r>
          </a:p>
          <a:p/>
          <a:p>
            <a:r>
              <a:t>Both, as published: eighty-seven point four.</a:t>
            </a:r>
          </a:p>
          <a:p/>
          <a:p>
            <a:r>
              <a:t>Hold on to that number, because it makes the rest of this part easy. Every table from here is</a:t>
            </a:r>
          </a:p>
          <a:p>
            <a:r>
              <a:t>the same model with exactly one thing put back. So you never have to remember a table — only</a:t>
            </a:r>
          </a:p>
          <a:p>
            <a:r>
              <a:t>whether the number went down.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idea, exactly. Three lines of Python, and it is</a:t>
            </a:r>
          </a:p>
          <a:p>
            <a:r>
              <a:t>the entire algorithm.</a:t>
            </a:r>
          </a:p>
          <a:p/>
          <a:p>
            <a:r>
              <a:t>Six times: z equals f of z plus y plus x. That is a scribble — update the working. Then once: y</a:t>
            </a:r>
          </a:p>
          <a:p>
            <a:r>
              <a:t>equals f of y plus z. That is a stroke — update the answer. Together, one round.</a:t>
            </a:r>
          </a:p>
          <a:p/>
          <a:p>
            <a:r>
              <a:t>Three things to notice. All three are easy to miss.</a:t>
            </a:r>
          </a:p>
          <a:p/>
          <a:p>
            <a:r>
              <a:t>One. Both calls are the same network. Same weights, called again. That is where the entire</a:t>
            </a:r>
          </a:p>
          <a:p>
            <a:r>
              <a:t>parameter saving comes from, and there is genuinely nothing else to it.</a:t>
            </a:r>
          </a:p>
          <a:p/>
          <a:p>
            <a:r>
              <a:t>Two. The inputs are added, not stuck side by side. That sounds like a detail and it is not.</a:t>
            </a:r>
          </a:p>
          <a:p>
            <a:r>
              <a:t>Because they are added, f's input is the same shape on call one and on call sixty-three.</a:t>
            </a:r>
          </a:p>
          <a:p>
            <a:r>
              <a:t>Concatenate instead and the input grows every round, and deep recursion becomes impossible.</a:t>
            </a:r>
          </a:p>
          <a:p/>
          <a:p>
            <a:r>
              <a:t>Three, and this is my favourite. Look at what is missing from the answer line. The question. x</a:t>
            </a:r>
          </a:p>
          <a:p>
            <a:r>
              <a:t>is in the scribble line. x is not in the stroke line.</a:t>
            </a:r>
          </a:p>
          <a:p/>
          <a:p>
            <a:r>
              <a:t>That is the switch. It is the only thing telling one shared network which of its two jobs it is</a:t>
            </a:r>
          </a:p>
          <a:p>
            <a:r>
              <a:t>on. See x, you are thinking. Do not, you are answering.</a:t>
            </a:r>
          </a:p>
          <a:p/>
          <a:p>
            <a:r>
              <a:t>Which is why a second network is unnecessary — and they measured it. Two networks: eighty-two</a:t>
            </a:r>
          </a:p>
          <a:p>
            <a:r>
              <a:t>point four, at ten million. One shared: eighty-seven point four, at five million. Half the</a:t>
            </a:r>
          </a:p>
          <a:p>
            <a:r>
              <a:t>parameters and five points better.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problem with running something twenty-one times.</a:t>
            </a:r>
          </a:p>
          <a:p/>
          <a:p>
            <a:r>
              <a:t>If you want gradients through all twenty-one calls, the framework stores twenty-one sets of</a:t>
            </a:r>
          </a:p>
          <a:p>
            <a:r>
              <a:t>activations. That is a twenty-one-layer memory bill, and you have thrown away the saving you</a:t>
            </a:r>
          </a:p>
          <a:p>
            <a:r>
              <a:t>came for.</a:t>
            </a:r>
          </a:p>
          <a:p/>
          <a:p>
            <a:r>
              <a:t>The paper T-R-M argues with is called H-R-M, and its answer was a theorem. Assume the recursion</a:t>
            </a:r>
          </a:p>
          <a:p>
            <a:r>
              <a:t>settles to a stable point, invoke the Implicit Function Theorem, and backpropagate through only</a:t>
            </a:r>
          </a:p>
          <a:p>
            <a:r>
              <a:t>the last two steps of six.</a:t>
            </a:r>
          </a:p>
          <a:p/>
          <a:p>
            <a:r>
              <a:t>T-R-M's objection is blunt, and I think right. There is no stable point. H-R-M runs four forward</a:t>
            </a:r>
          </a:p>
          <a:p>
            <a:r>
              <a:t>steps and then asserts it has converged — it never iterates to an equilibrium, it just stops.</a:t>
            </a:r>
          </a:p>
          <a:p>
            <a:r>
              <a:t>Its own plots never reach zero. The theorem is applied where its condition does not hold.</a:t>
            </a:r>
          </a:p>
          <a:p/>
          <a:p>
            <a:r>
              <a:t>T-R-M does something else. Three rounds per pass; the first two with gradients off entirely. The</a:t>
            </a:r>
          </a:p>
          <a:p>
            <a:r>
              <a:t>last carries gradient through the whole round, all seven calls. A complete think-then-answer</a:t>
            </a:r>
          </a:p>
          <a:p>
            <a:r>
              <a:t>cycle.</a:t>
            </a:r>
          </a:p>
          <a:p/>
          <a:p>
            <a:r>
              <a:t>And the justification is not a theorem — it is the training objective. Remember the maze: this</a:t>
            </a:r>
          </a:p>
          <a:p>
            <a:r>
              <a:t>model is trained to take any line and improve it. So running it twice more without gradients</a:t>
            </a:r>
          </a:p>
          <a:p>
            <a:r>
              <a:t>cannot hurt. Those rounds genuinely happen; nothing is stored.</a:t>
            </a:r>
          </a:p>
          <a:p/>
          <a:p>
            <a:r>
              <a:t>Twenty-one calls forward, seven backward.</a:t>
            </a:r>
          </a:p>
          <a:p/>
          <a:p>
            <a:r>
              <a:t>And now the number for this whole part. Full round backpropagated: eighty-seven point four.</a:t>
            </a:r>
          </a:p>
          <a:p>
            <a:r>
              <a:t>H-R-M's one-step gradient, everything else identical: fifty-six point five.</a:t>
            </a:r>
          </a:p>
          <a:p/>
          <a:p>
            <a:r>
              <a:t>[pause — count two]</a:t>
            </a:r>
          </a:p>
          <a:p/>
          <a:p>
            <a:r>
              <a:t>Thirty-one points — the largest single effect in the paper. And notice which way it goes.</a:t>
            </a:r>
          </a:p>
          <a:p>
            <a:r>
              <a:t>T-R-M's version costs more memory, not less. They spent memory and bought thirty-one points.</a:t>
            </a:r>
          </a:p>
          <a:p/>
          <a:p>
            <a:r>
              <a:t>So the lesson is not "skip most of the gradient". It is: make the part you do differentiate a</a:t>
            </a:r>
          </a:p>
          <a:p>
            <a:r>
              <a:t>complete round.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idea, and it is what holds up the slide I just</a:t>
            </a:r>
          </a:p>
          <a:p>
            <a:r>
              <a:t>showed you.</a:t>
            </a:r>
          </a:p>
          <a:p/>
          <a:p>
            <a:r>
              <a:t>One loss at the end of a forty-two-deep chain is a miserable thing to train. So instead: run the</a:t>
            </a:r>
          </a:p>
          <a:p>
            <a:r>
              <a:t>whole recursion, check the answer, take a loss — then hand that answer and that working to</a:t>
            </a:r>
          </a:p>
          <a:p>
            <a:r>
              <a:t>another run of the same recursion as its starting point. Up to sixteen times.</a:t>
            </a:r>
          </a:p>
          <a:p/>
          <a:p>
            <a:r>
              <a:t>Between passes you detach, so pass three does not backpropagate into pass one.</a:t>
            </a:r>
          </a:p>
          <a:p/>
          <a:p>
            <a:r>
              <a:t>Now notice what that trains, because this is the bit people miss. Every pass is handed an</a:t>
            </a:r>
          </a:p>
          <a:p>
            <a:r>
              <a:t>imperfect answer and graded on improving it. Which is exactly the property the no-gradient</a:t>
            </a:r>
          </a:p>
          <a:p>
            <a:r>
              <a:t>rounds relied on one slide ago.</a:t>
            </a:r>
          </a:p>
          <a:p/>
          <a:p>
            <a:r>
              <a:t>So the two ideas hold each other up. Deep supervision is what makes the no-grad prelude</a:t>
            </a:r>
          </a:p>
          <a:p>
            <a:r>
              <a:t>legitimate rather than a hack. You cannot take one without the other, and that is what people</a:t>
            </a:r>
          </a:p>
          <a:p>
            <a:r>
              <a:t>get wrong when they reimplement this.</a:t>
            </a:r>
          </a:p>
          <a:p/>
          <a:p>
            <a:r>
              <a:t>The arithmetic: two layers, times seven calls, times three rounds, times sixteen passes. Six</a:t>
            </a:r>
          </a:p>
          <a:p>
            <a:r>
              <a:t>hundred and seventy-two layers of effective depth, out of two layers of stored weights.</a:t>
            </a:r>
          </a:p>
          <a:p/>
          <a:p>
            <a:r>
              <a:t>Last piece: halting. A second tiny head looks at the answer and outputs one number — "is this</a:t>
            </a:r>
          </a:p>
          <a:p>
            <a:r>
              <a:t>already right?". Training-time only, so you stop burning sixteen passes on something you solved</a:t>
            </a:r>
          </a:p>
          <a:p>
            <a:r>
              <a:t>in two.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receipts, and the limits. I am not going to read the numbers.</a:t>
            </a:r>
          </a:p>
          <a:p/>
          <a:p>
            <a:r>
              <a:t>Seven million parameters, about a thousand training examples. On Sudoku and mazes, every large</a:t>
            </a:r>
          </a:p>
          <a:p>
            <a:r>
              <a:t>language model in the comparison scores a flat zero. T-R-M scores eighty-seven and eighty-five.</a:t>
            </a:r>
          </a:p>
          <a:p/>
          <a:p>
            <a:r>
              <a:t>But the bottom row is the one that keeps you honest. Grok-4 beats it on A-R-C. The abstract says</a:t>
            </a:r>
          </a:p>
          <a:p>
            <a:r>
              <a:t>"higher than most large language models" and it means most. Quote this paper as "tiny model</a:t>
            </a:r>
          </a:p>
          <a:p>
            <a:r>
              <a:t>beats the frontier" and somebody will correct you, and you will deserve it.</a:t>
            </a:r>
          </a:p>
          <a:p/>
          <a:p>
            <a:r>
              <a:t>Three more limits. It is not generative — one input, one deterministic answer. Bigger is worse</a:t>
            </a:r>
          </a:p>
          <a:p>
            <a:r>
              <a:t>and nobody knows why: four layers lose to two, and the authors say outright they suspect</a:t>
            </a:r>
          </a:p>
          <a:p>
            <a:r>
              <a:t>overfitting but have no theory. And none of this is measured on medical images.</a:t>
            </a:r>
          </a:p>
          <a:p/>
          <a:p>
            <a:r>
              <a:t>When we get to Part four, we inherited their recursion schedule. We did not inherit their</a:t>
            </a:r>
          </a:p>
          <a:p>
            <a:r>
              <a:t>evidence.</a:t>
            </a:r>
          </a:p>
          <a:p/>
          <a:p>
            <a:r>
              <a:t>And that is the end of the part that is not ours.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minutes compressed into three cards. If you have been</a:t>
            </a:r>
          </a:p>
          <a:p>
            <a:r>
              <a:t>half-listening, start again now, because these three are all you need for Part four.</a:t>
            </a:r>
          </a:p>
          <a:p/>
          <a:p>
            <a:r>
              <a:t>One. Refinement beats capacity. The model is never asked to solve the problem, only to improve a</a:t>
            </a:r>
          </a:p>
          <a:p>
            <a:r>
              <a:t>wrong answer — so it never needs the capacity to be right in one shot.</a:t>
            </a:r>
          </a:p>
          <a:p/>
          <a:p>
            <a:r>
              <a:t>Two. One network, two jobs. Whether it can see the question is the only thing that tells it</a:t>
            </a:r>
          </a:p>
          <a:p>
            <a:r>
              <a:t>which job it is on.</a:t>
            </a:r>
          </a:p>
          <a:p/>
          <a:p>
            <a:r>
              <a:t>Three. Differentiate a whole round, not one step. That was worth thirty-one points.</a:t>
            </a:r>
          </a:p>
          <a:p/>
          <a:p>
            <a:r>
              <a:t>Everything from here is ours again.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Integrating TRM.</a:t>
            </a:r>
          </a:p>
          <a:p/>
          <a:p>
            <a:r>
              <a:t>Everything in the last twelve minutes was somebody else's. Now we put it inside our model, and I</a:t>
            </a:r>
          </a:p>
          <a:p>
            <a:r>
              <a:t>want to be precise about exactly where it goes and what it touches.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you actually put TRM inside a medical image classifier?</a:t>
            </a:r>
          </a:p>
          <a:p/>
          <a:p>
            <a:r>
              <a:t>The answer is that you do not put it anywhere clever. MedMamba-SS is three parts stacked up. The</a:t>
            </a:r>
          </a:p>
          <a:p>
            <a:r>
              <a:t>spectral pathway at the front. The four-stage hierarchy in the middle. The head on top.</a:t>
            </a:r>
          </a:p>
          <a:p/>
          <a:p>
            <a:r>
              <a:t>We replace exactly one of them. The middle one.</a:t>
            </a:r>
          </a:p>
          <a:p/>
          <a:p>
            <a:r>
              <a:t>The spectral pathway is reused byte for byte — same code, same weights, same output. The head is</a:t>
            </a:r>
          </a:p>
          <a:p>
            <a:r>
              <a:t>reused byte for byte. Only the backbone is swapped, and it is swapped behind an interface that</a:t>
            </a:r>
          </a:p>
          <a:p>
            <a:r>
              <a:t>does not move: same input shape going in, same output keys coming out.</a:t>
            </a:r>
          </a:p>
          <a:p/>
          <a:p>
            <a:r>
              <a:t>That is what makes this a clean experiment rather than two different models with similar names.</a:t>
            </a:r>
          </a:p>
          <a:p>
            <a:r>
              <a:t>One line in the config file decides which backbone runs, and everything on either side of it is</a:t>
            </a:r>
          </a:p>
          <a:p>
            <a:r>
              <a:t>identical. Same trainer, same metrics, same checkpoint rule, same gates.</a:t>
            </a:r>
          </a:p>
          <a:p/>
          <a:p>
            <a:r>
              <a:t>And it is worth saying what this buys us that we have not spent: because the interface holds, the</a:t>
            </a:r>
          </a:p>
          <a:p>
            <a:r>
              <a:t>hierarchical-versus-recursive comparison under matched conditions is genuinely one flag away. We</a:t>
            </a:r>
          </a:p>
          <a:p>
            <a:r>
              <a:t>have not run it. I will come back to that in Part 5.</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part that is easy to hand-wave, so let me not. In the maze, x was a</a:t>
            </a:r>
          </a:p>
          <a:p>
            <a:r>
              <a:t>photograph and y was a pencil line. In our model they are four specific tensors.</a:t>
            </a:r>
          </a:p>
          <a:p/>
          <a:p>
            <a:r>
              <a:t>x is the output of the spectral pathway, pushed through the stem. It is a grid of feature</a:t>
            </a:r>
          </a:p>
          <a:p>
            <a:r>
              <a:t>vectors, one per patch position, a hundred and twenty-eight wide. Crucially it is computed once,</a:t>
            </a:r>
          </a:p>
          <a:p>
            <a:r>
              <a:t>before the recursion starts, and then held completely fixed for all sixty-three calls.</a:t>
            </a:r>
          </a:p>
          <a:p/>
          <a:p>
            <a:r>
              <a:t>It has to be fixed, and the reason is worth twenty seconds. x is the only term left in the loop</a:t>
            </a:r>
          </a:p>
          <a:p>
            <a:r>
              <a:t>that still refers to the actual image. If it drifted along with the states, the recursion would</a:t>
            </a:r>
          </a:p>
          <a:p>
            <a:r>
              <a:t>slowly lose contact with the thing it is supposed to be classifying. It would start refining an</a:t>
            </a:r>
          </a:p>
          <a:p>
            <a:r>
              <a:t>answer to a question it had forgotten.</a:t>
            </a:r>
          </a:p>
          <a:p/>
          <a:p>
            <a:r>
              <a:t>y is the answer, and it is the same shape. It is literally the feature grid the classification</a:t>
            </a:r>
          </a:p>
          <a:p>
            <a:r>
              <a:t>head reads. Decode it after any of the three segments and you get logits — which is what deep</a:t>
            </a:r>
          </a:p>
          <a:p>
            <a:r>
              <a:t>supervision does.</a:t>
            </a:r>
          </a:p>
          <a:p/>
          <a:p>
            <a:r>
              <a:t>z is the working. Same shape again, never decoded, never supervised.</a:t>
            </a:r>
          </a:p>
          <a:p/>
          <a:p>
            <a:r>
              <a:t>And f is two blocks — a token mixer, then a gated MLP, each under a post-normalised residual.</a:t>
            </a:r>
          </a:p>
          <a:p>
            <a:r>
              <a:t>Three hundred and ninety-eight thousand parameters, and that is eighty-nine percent of the entire</a:t>
            </a:r>
          </a:p>
          <a:p>
            <a:r>
              <a:t>model.</a:t>
            </a:r>
          </a:p>
          <a:p/>
          <a:p>
            <a:r>
              <a:t>Two things on the bottom row. The start states for y and z are buffers, not parameters — I will</a:t>
            </a:r>
          </a:p>
          <a:p>
            <a:r>
              <a:t>say why in three slides. And the arithmetic: seven calls per round, three rounds, three passes.</a:t>
            </a:r>
          </a:p>
          <a:p>
            <a:r>
              <a:t>Sixty-three.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swap itself.</a:t>
            </a:r>
          </a:p>
          <a:p/>
          <a:p>
            <a:r>
              <a:t>Same spectral front end. Same head. Same trainer, same metrics, same output keys. One line in</a:t>
            </a:r>
          </a:p>
          <a:p>
            <a:r>
              <a:t>the config decides what goes in the middle.</a:t>
            </a:r>
          </a:p>
          <a:p/>
          <a:p>
            <a:r>
              <a:t>Top row: four stages, twelve distinct blocks, each stored once. Bottom row: a single core — two</a:t>
            </a:r>
          </a:p>
          <a:p>
            <a:r>
              <a:t>blocks, stored once, called a hundred and twenty-six times.</a:t>
            </a:r>
          </a:p>
          <a:p/>
          <a:p>
            <a:r>
              <a:t>The structural claim is the one that does not move, and I would defend it anywhere: twelve</a:t>
            </a:r>
          </a:p>
          <a:p>
            <a:r>
              <a:t>distinct blocks stored, against two stored and applied a hundred and twenty-six times, behind an</a:t>
            </a:r>
          </a:p>
          <a:p>
            <a:r>
              <a:t>interface you cannot tell apart from outside.</a:t>
            </a:r>
          </a:p>
          <a:p/>
          <a:p>
            <a:r>
              <a:t>The multiplier does move, so let me get in front of it. You will see "sixty-one times fewer</a:t>
            </a:r>
          </a:p>
          <a:p>
            <a:r>
              <a:t>parameters" in our write-up. That is against a backbone at MedMamba's widths. Against our own</a:t>
            </a:r>
          </a:p>
          <a:p>
            <a:r>
              <a:t>narrower configuration it is about six. Both are true; they are different comparisons. If I just</a:t>
            </a:r>
          </a:p>
          <a:p>
            <a:r>
              <a:t>said sixty-one and somebody checked, they would find the six — and then wonder what else I had</a:t>
            </a:r>
          </a:p>
          <a:p>
            <a:r>
              <a:t>rounded in my favour.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changes. Four small; one with consequences.</a:t>
            </a:r>
          </a:p>
          <a:p/>
          <a:p>
            <a:r>
              <a:t>Shape. They work on sequences of tokens. We work on a two-dimensional grid, because we classify</a:t>
            </a:r>
          </a:p>
          <a:p>
            <a:r>
              <a:t>images.</a:t>
            </a:r>
          </a:p>
          <a:p/>
          <a:p>
            <a:r>
              <a:t>The mixer inside f. They use self-attention; we use a depthwise three-by-three convolution. On</a:t>
            </a:r>
          </a:p>
          <a:p>
            <a:r>
              <a:t>an eleven-by-eleven grid attention is overkill — and remember their own ablation showed the</a:t>
            </a:r>
          </a:p>
          <a:p>
            <a:r>
              <a:t>mixer is task-dependent. So this is a choice their paper invites.</a:t>
            </a:r>
          </a:p>
          <a:p/>
          <a:p>
            <a:r>
              <a:t>Passes. Their six and three we kept exactly. Their sixteen passes became three — sixty-three</a:t>
            </a:r>
          </a:p>
          <a:p>
            <a:r>
              <a:t>calls to f rather than three hundred and thirty-six.</a:t>
            </a:r>
          </a:p>
          <a:p/>
          <a:p>
            <a:r>
              <a:t>Deep supervision is the one with consequences. Theirs does one pass per optimizer step, carrying</a:t>
            </a:r>
          </a:p>
          <a:p>
            <a:r>
              <a:t>state across batches. Ours does all three passes inside one forward. That was deliberate: every</a:t>
            </a:r>
          </a:p>
          <a:p>
            <a:r>
              <a:t>stability check we had — gradient health, class collapse, NaN detection — is written per batch,</a:t>
            </a:r>
          </a:p>
          <a:p>
            <a:r>
              <a:t>and their scheme would have invalidated all of them. The price is memory proportional to the</a:t>
            </a:r>
          </a:p>
          <a:p>
            <a:r>
              <a:t>number of passes, which is exactly why gradient checkpointing stopped being optional.</a:t>
            </a:r>
          </a:p>
          <a:p/>
          <a:p>
            <a:r>
              <a:t>Halting. Theirs is per sample and on. Ours is whole-batch and off — it sat at chance for</a:t>
            </a:r>
          </a:p>
          <a:p>
            <a:r>
              <a:t>thirty-three epochs while being twenty percent of the objective.</a:t>
            </a:r>
          </a:p>
          <a:p/>
          <a:p>
            <a:r>
              <a:t>The green bar is what we did not touch: the list Part three said was load-bearing.</a:t>
            </a:r>
          </a:p>
          <a:p/>
          <a:p>
            <a:r>
              <a:t>And be precise about this, because it is the easiest thing to get caught on. We implemented</a:t>
            </a:r>
          </a:p>
          <a:p>
            <a:r>
              <a:t>T-R-M's recursion. We did not implement T-R-M's blocks.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finished model, in five boxes.</a:t>
            </a:r>
          </a:p>
          <a:p/>
          <a:p>
            <a:r>
              <a:t>A cube goes in, with any number of bands. The spectral pathway turns it into a per-patch summary</a:t>
            </a:r>
          </a:p>
          <a:p>
            <a:r>
              <a:t>— and C disappears at the "mean over the band axis" step. The stem widens it to a hundred and</a:t>
            </a:r>
          </a:p>
          <a:p>
            <a:r>
              <a:t>twenty-eight. The recursive core runs sixty-three times. The head normalises, pools, and picks a</a:t>
            </a:r>
          </a:p>
          <a:p>
            <a:r>
              <a:t>class.</a:t>
            </a:r>
          </a:p>
          <a:p/>
          <a:p>
            <a:r>
              <a:t>Notice what is not here, especially next to the MedMamba diagram from Part one. No stages. No</a:t>
            </a:r>
          </a:p>
          <a:p>
            <a:r>
              <a:t>patch merging. No downsampling. A hundred and twenty-eight wide from the stem to the head.</a:t>
            </a:r>
          </a:p>
          <a:p/>
          <a:p>
            <a:r>
              <a:t>Two things to point at. Left: same front end, same head, same trainer as the hierarchical</a:t>
            </a:r>
          </a:p>
          <a:p>
            <a:r>
              <a:t>version, so the comparison between them really is one flag.</a:t>
            </a:r>
          </a:p>
          <a:p/>
          <a:p>
            <a:r>
              <a:t>Right, in red: every call to f is gradient-checkpointed. That is not a tuning knob. It is the</a:t>
            </a:r>
          </a:p>
          <a:p>
            <a:r>
              <a:t>only reason this fits on the card, and I will show you the number behind that in Part five.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took, and from where.</a:t>
            </a:r>
          </a:p>
          <a:p/>
          <a:p>
            <a:r>
              <a:t>Left, from MedMamba: the scan, the block, the patch merging, the channel shuffle, the</a:t>
            </a:r>
          </a:p>
          <a:p>
            <a:r>
              <a:t>initialisation policy. Several near-verbatim.</a:t>
            </a:r>
          </a:p>
          <a:p/>
          <a:p>
            <a:r>
              <a:t>Middle, from T-R-M: the recursion, the no-gradient prelude, the detaching, the buffer start</a:t>
            </a:r>
          </a:p>
          <a:p>
            <a:r>
              <a:t>states, and the weight-averaging helper — which is a straight copy of their file and says so in</a:t>
            </a:r>
          </a:p>
          <a:p>
            <a:r>
              <a:t>its own docstring.</a:t>
            </a:r>
          </a:p>
          <a:p/>
          <a:p>
            <a:r>
              <a:t>Right, ours: everything spectral, and the starred one, replacing the stem.</a:t>
            </a:r>
          </a:p>
          <a:p/>
          <a:p>
            <a:r>
              <a:t>One subtlety worth twenty seconds, because it is my favourite thing in this codebase.</a:t>
            </a:r>
          </a:p>
          <a:p/>
          <a:p>
            <a:r>
              <a:t>Those start states for z and y are buffers, not learnable parameters. Why does that matter? The</a:t>
            </a:r>
          </a:p>
          <a:p>
            <a:r>
              <a:t>first round that reads them runs inside the no-gradient block. Make them learnable and they</a:t>
            </a:r>
          </a:p>
          <a:p>
            <a:r>
              <a:t>would never receive a gradient. Not once. Silently. No crash, no warning, and the loss curve</a:t>
            </a:r>
          </a:p>
          <a:p>
            <a:r>
              <a:t>would look identical.</a:t>
            </a:r>
          </a:p>
          <a:p/>
          <a:p>
            <a:r>
              <a:t>T-R-M uses buffers. We use buffers. And our source says why, so the next person does not have to</a:t>
            </a:r>
          </a:p>
          <a:p>
            <a:r>
              <a:t>rediscover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Does it work?</a:t>
            </a:r>
          </a:p>
          <a:p/>
          <a:p>
            <a:r>
              <a:t>Three results and one cost. And a warning I will repeat at the end: everything here is a single</a:t>
            </a:r>
          </a:p>
          <a:p>
            <a:r>
              <a:t>seed, and the hyperspectral evaluation is five patients. Three hundred and forty-eight thousand</a:t>
            </a:r>
          </a:p>
          <a:p>
            <a:r>
              <a:t>patches sounds like a lot, but the effective sample size is five people.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result, and it is the cleanest experiment</a:t>
            </a:r>
          </a:p>
          <a:p>
            <a:r>
              <a:t>in the project.</a:t>
            </a:r>
          </a:p>
          <a:p/>
          <a:p>
            <a:r>
              <a:t>Two runs whose configuration files differ in exactly one field: the input directory. One reads</a:t>
            </a:r>
          </a:p>
          <a:p>
            <a:r>
              <a:t>the thirty-two-band cubes, the other a three-channel rendering of the same captures. Same model,</a:t>
            </a:r>
          </a:p>
          <a:p>
            <a:r>
              <a:t>same parameter count, same recipe, same patients, same three hundred and forty-eight thousand</a:t>
            </a:r>
          </a:p>
          <a:p>
            <a:r>
              <a:t>test patches. A single-variable experiment, which is rare and worth something.</a:t>
            </a:r>
          </a:p>
          <a:p/>
          <a:p>
            <a:r>
              <a:t>Left panel: balanced accuracy, ninety point seven against seventy-five point seven. Macro-F1,</a:t>
            </a:r>
          </a:p>
          <a:p>
            <a:r>
              <a:t>zero point eight six against zero point seven three. Fifteen points.</a:t>
            </a:r>
          </a:p>
          <a:p/>
          <a:p>
            <a:r>
              <a:t>But the right panel carries the meaning. Invasive carcinoma: both arms score zero point nine</a:t>
            </a:r>
          </a:p>
          <a:p>
            <a:r>
              <a:t>nine nine. Identical — and that is sixty-nine percent of the test set, so it tells you nothing</a:t>
            </a:r>
          </a:p>
          <a:p>
            <a:r>
              <a:t>about which model is better.</a:t>
            </a:r>
          </a:p>
          <a:p/>
          <a:p>
            <a:r>
              <a:t>The entire margin is the healthy-versus-D-C-I-S boundary, and most of it is D-C-I-S itself — the</a:t>
            </a:r>
          </a:p>
          <a:p>
            <a:r>
              <a:t>seven percent minority class, and the clinically consequential call. F1 goes from zero point</a:t>
            </a:r>
          </a:p>
          <a:p>
            <a:r>
              <a:t>four four to zero point seven zero.</a:t>
            </a:r>
          </a:p>
          <a:p/>
          <a:p>
            <a:r>
              <a:t>Two things make it harder to dismiss. It survives every averaging scheme and every</a:t>
            </a:r>
          </a:p>
          <a:p>
            <a:r>
              <a:t>threshold-free measure — R-O-C, precision-recall, kappa all move the same way. And it survives</a:t>
            </a:r>
          </a:p>
          <a:p>
            <a:r>
              <a:t>an asymmetry running against it: the hyperspectral arm stopped early at twelve epochs while the</a:t>
            </a:r>
          </a:p>
          <a:p>
            <a:r>
              <a:t>RGB arm trained all twenty. The winning arm had forty percent less training.</a:t>
            </a:r>
          </a:p>
          <a:p/>
          <a:p>
            <a:r>
              <a:t>What weakens it: the validation gap is only two points against fifteen on test — different five</a:t>
            </a:r>
          </a:p>
          <a:p>
            <a:r>
              <a:t>patients. Per-patient it is two big wins, one tie, two small losses. And the RGB arm is the</a:t>
            </a:r>
          </a:p>
          <a:p>
            <a:r>
              <a:t>collection's own rendering, not one we computed ourselves.</a:t>
            </a:r>
          </a:p>
          <a:p/>
          <a:p>
            <a:r>
              <a:t>So: on this dataset, the spectrum earns its place, in the class where it matters. One seed, five</a:t>
            </a:r>
          </a:p>
          <a:p>
            <a:r>
              <a:t>patients. Not a claim about hyperspectral imaging in general, and not a clinical result.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result: against MedMamba itself.</a:t>
            </a:r>
          </a:p>
          <a:p/>
          <a:p>
            <a:r>
              <a:t>We trained a MedMamba on the same patient split, holding batch size, precision, seed, checkpoint</a:t>
            </a:r>
          </a:p>
          <a:p>
            <a:r>
              <a:t>rule and GPU fixed. Both are scored on exactly the same test patches.</a:t>
            </a:r>
          </a:p>
          <a:p/>
          <a:p>
            <a:r>
              <a:t>At an eighth of the parameters, ours leads every aggregate metric. Balanced accuracy by four</a:t>
            </a:r>
          </a:p>
          <a:p>
            <a:r>
              <a:t>points. And on D-C-I-S, the class that matters, F1 of zero point seven against zero point</a:t>
            </a:r>
          </a:p>
          <a:p>
            <a:r>
              <a:t>six four.</a:t>
            </a:r>
          </a:p>
          <a:p/>
          <a:p>
            <a:r>
              <a:t>And it costs four point four times the wall-clock to get there.</a:t>
            </a:r>
          </a:p>
          <a:p/>
          <a:p>
            <a:r>
              <a:t>Now the caveat, and take it seriously, because it is large. MedMamba trained on a class-balanced</a:t>
            </a:r>
          </a:p>
          <a:p>
            <a:r>
              <a:t>build. Ours drew from the natural thirteen-to-one imbalance and compensated in the loss instead.</a:t>
            </a:r>
          </a:p>
          <a:p>
            <a:r>
              <a:t>Two different ways of fixing the same problem — and ours also sees more distinct patches over</a:t>
            </a:r>
          </a:p>
          <a:p>
            <a:r>
              <a:t>the run. A model that sees more data and is still reweighted toward the minority class is well</a:t>
            </a:r>
          </a:p>
          <a:p>
            <a:r>
              <a:t>placed to lead both raw and balanced accuracy at once, which is exactly the pattern you are</a:t>
            </a:r>
          </a:p>
          <a:p>
            <a:r>
              <a:t>looking at.</a:t>
            </a:r>
          </a:p>
          <a:p/>
          <a:p>
            <a:r>
              <a:t>Five dimensions are unmatched. So this is indicative, not controlled. I would not attribute that</a:t>
            </a:r>
          </a:p>
          <a:p>
            <a:r>
              <a:t>margin to the backbone, and the experiment that would settle it is one flag away and has not</a:t>
            </a:r>
          </a:p>
          <a:p>
            <a:r>
              <a:t>been run.</a:t>
            </a:r>
          </a:p>
          <a:p/>
          <a:p>
            <a:r>
              <a:t>One thing it does establish, about the dataset rather than about us: MedMamba peaks at epoch</a:t>
            </a:r>
          </a:p>
          <a:p>
            <a:r>
              <a:t>three of thirty and then declines. A three-and-a-half million parameter model saturates this</a:t>
            </a:r>
          </a:p>
          <a:p>
            <a:r>
              <a:t>training set in three epochs.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now the result most likely to be useful to somebody else — and it</a:t>
            </a:r>
          </a:p>
          <a:p>
            <a:r>
              <a:t>is a negative one.</a:t>
            </a:r>
          </a:p>
          <a:p/>
          <a:p>
            <a:r>
              <a:t>Three numbers, read together, because separately each one misleads.</a:t>
            </a:r>
          </a:p>
          <a:p/>
          <a:p>
            <a:r>
              <a:t>Parameters: eight times smaller. That is the number people quote. F-L-O-Ps: a hundred and</a:t>
            </a:r>
          </a:p>
          <a:p>
            <a:r>
              <a:t>ninety-one times more arithmetic. Wall-clock: four point four times slower per epoch.</a:t>
            </a:r>
          </a:p>
          <a:p/>
          <a:p>
            <a:r>
              <a:t>Weight sharing did not reduce the work. It multiplied the work by the number of times you share.</a:t>
            </a:r>
          </a:p>
          <a:p>
            <a:r>
              <a:t>That is the general form — it applies to anything built this way, not just to us.</a:t>
            </a:r>
          </a:p>
          <a:p/>
          <a:p>
            <a:r>
              <a:t>Two consequences a reader should not have to infer. The forward pass runs the full recursion, so</a:t>
            </a:r>
          </a:p>
          <a:p>
            <a:r>
              <a:t>inference pays this too. There is no cheap evaluation path.</a:t>
            </a:r>
          </a:p>
          <a:p/>
          <a:p>
            <a:r>
              <a:t>And the bottom-left box: without gradient checkpointing, a four-hundred-and-forty-seven thousand</a:t>
            </a:r>
          </a:p>
          <a:p>
            <a:r>
              <a:t>parameter model exhausts a sixteen-gigabyte card, because all sixty-three applications hold</a:t>
            </a:r>
          </a:p>
          <a:p>
            <a:r>
              <a:t>their activations alive at once. One point four gigabytes with it; nearly seven without, and it</a:t>
            </a:r>
          </a:p>
          <a:p>
            <a:r>
              <a:t>dies at batch sixty-four.</a:t>
            </a:r>
          </a:p>
          <a:p/>
          <a:p>
            <a:r>
              <a:t>So the sentence at the bottom is what I would take from this whole project. Parameter count in a</a:t>
            </a:r>
          </a:p>
          <a:p>
            <a:r>
              <a:t>recursive model reports storage efficiency, and is close to an inverse indicator of compute.</a:t>
            </a:r>
          </a:p>
          <a:p>
            <a:r>
              <a:t>Anyone who says "zero point four five million parameters" without saying "sixty-three core</a:t>
            </a:r>
          </a:p>
          <a:p>
            <a:r>
              <a:t>applications and mandatory checkpointing" has given you half a result.</a:t>
            </a:r>
          </a:p>
          <a:p/>
          <a:p>
            <a:r>
              <a:t>Where is the trade good? Where storage or distribution bandwidth binds — many sensor</a:t>
            </a:r>
          </a:p>
          <a:p>
            <a:r>
              <a:t>configurations from one small artefact, or updates to edge devices. It is bad wherever</a:t>
            </a:r>
          </a:p>
          <a:p>
            <a:r>
              <a:t>throughput or training cost binds.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takeaways, the gaps. I would rather say these</a:t>
            </a:r>
          </a:p>
          <a:p>
            <a:r>
              <a:t>than have them asked, and they are the three best questions you could ask me.</a:t>
            </a:r>
          </a:p>
          <a:p/>
          <a:p>
            <a:r>
              <a:t>Does the recursion actually help our model? We do not know. No depth ablation, no</a:t>
            </a:r>
          </a:p>
          <a:p>
            <a:r>
              <a:t>hierarchical-versus-recursive comparison under matched conditions. One command-line flag away,</a:t>
            </a:r>
          </a:p>
          <a:p>
            <a:r>
              <a:t>never run. Until it is done, the honest position is that we know what sixty-three core</a:t>
            </a:r>
          </a:p>
          <a:p>
            <a:r>
              <a:t>applications cost and not what they buy.</a:t>
            </a:r>
          </a:p>
          <a:p/>
          <a:p>
            <a:r>
              <a:t>Do we inherit T-R-M's results? No, and this matters. Theirs are puzzle grids with a verifiable</a:t>
            </a:r>
          </a:p>
          <a:p>
            <a:r>
              <a:t>answer and a thousand-fold augmentation. Ours is patch classification on medical images. We</a:t>
            </a:r>
          </a:p>
          <a:p>
            <a:r>
              <a:t>inherited the schedule, not the evidence.</a:t>
            </a:r>
          </a:p>
          <a:p/>
          <a:p>
            <a:r>
              <a:t>Why a convolution and not the state-space scan in the core? Speed — our scan is a pure Python</a:t>
            </a:r>
          </a:p>
          <a:p>
            <a:r>
              <a:t>loop, about thirty-nine times slower at dataset scale. It is implemented, tested, and no real</a:t>
            </a:r>
          </a:p>
          <a:p>
            <a:r>
              <a:t>run has used it. So in practice this is a recursive convolutional model with a Mamba-based front</a:t>
            </a:r>
          </a:p>
          <a:p>
            <a:r>
              <a:t>end. I would rather say that first than have you find it.</a:t>
            </a:r>
          </a:p>
          <a:p/>
          <a:p>
            <a:r>
              <a:t>And two standing weaknesses under all of it. Every result is a single seed. And the</a:t>
            </a:r>
          </a:p>
          <a:p>
            <a:r>
              <a:t>hyperspectral evaluation is five patients.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a:t>
            </a:r>
          </a:p>
          <a:p/>
          <a:p>
            <a:r>
              <a:t>One. Delete C from your weight shapes. A shared per-value projection plus a physical wavelength</a:t>
            </a:r>
          </a:p>
          <a:p>
            <a:r>
              <a:t>tag, and one model serves every sensor you own.</a:t>
            </a:r>
          </a:p>
          <a:p/>
          <a:p>
            <a:r>
              <a:t>Two. T-R-M is two lines. Working six times, answer once, most of it with gradients off.</a:t>
            </a:r>
          </a:p>
          <a:p/>
          <a:p>
            <a:r>
              <a:t>Three — and this is the one I would keep. Refinement beats capacity. A model that only has to</a:t>
            </a:r>
          </a:p>
          <a:p>
            <a:r>
              <a:t>make an answer less wrong can be far smaller than one that has to be right in one shot. It</a:t>
            </a:r>
          </a:p>
          <a:p>
            <a:r>
              <a:t>borrows what it is missing from time.</a:t>
            </a:r>
          </a:p>
          <a:p/>
          <a:p>
            <a:r>
              <a:t>Four. But weight sharing trades storage for compute, steeply. Eight times smaller, a hundred and</a:t>
            </a:r>
          </a:p>
          <a:p>
            <a:r>
              <a:t>ninety-one times more arithmetic, and checkpointing went from optional to structural. Report</a:t>
            </a:r>
          </a:p>
          <a:p>
            <a:r>
              <a:t>both numbers, always.</a:t>
            </a:r>
          </a:p>
          <a:p/>
          <a:p>
            <a:r>
              <a:t>Five. Be precise about provenance. We implemented T-R-M's recursion, not T-R-M's blocks.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here is in the repository. The manuscript has all the numbers with their</a:t>
            </a:r>
          </a:p>
          <a:p>
            <a:r>
              <a:t>provenance marked; the architecture document has the line-by-line citations; the figures are in</a:t>
            </a:r>
          </a:p>
          <a:p>
            <a:r>
              <a:t>the doc folder.</a:t>
            </a:r>
          </a:p>
          <a:p/>
          <a:p>
            <a:r>
              <a:t>There are backup slides after this one — the full reference architecture, the complete T-R-M</a:t>
            </a:r>
          </a:p>
          <a:p>
            <a:r>
              <a:t>ablation table, and one diagram that is in circulation and does not actually describe our code,</a:t>
            </a:r>
          </a:p>
          <a:p>
            <a:r>
              <a:t>which I will explain if anyone has seen it.</a:t>
            </a:r>
          </a:p>
          <a:p/>
          <a:p>
            <a:r>
              <a:t>Thank you. Questions?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Not presented.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reference sheet, drawn in the MedMamba paper figure's own style so the two can</a:t>
            </a:r>
          </a:p>
          <a:p>
            <a:r>
              <a:t>sit side by side. This is the one to print and pin up rather than read from the back of a room.</a:t>
            </a:r>
          </a:p>
          <a:p/>
          <a:p>
            <a:r>
              <a:t>Left panel is the spectral pathway — follow it down to "mean over the band axis", which is where</a:t>
            </a:r>
          </a:p>
          <a:p>
            <a:r>
              <a:t>C disappears. Right panel is the recursive core — the schedule on top, what f actually is</a:t>
            </a:r>
          </a:p>
          <a:p>
            <a:r>
              <a:t>underneath.</a:t>
            </a:r>
          </a:p>
          <a:p/>
          <a:p>
            <a:r>
              <a:t>Two things worth pointing at if the question comes up. The red box under the pipeline is the</a:t>
            </a:r>
          </a:p>
          <a:p>
            <a:r>
              <a:t>auxiliary reconstruction decoder: it exists, it is tested, it is gated, and it is off in every</a:t>
            </a:r>
          </a:p>
          <a:p>
            <a:r>
              <a:t>run we report. And bottom right: every call to f is gradient-checkpointed.</a:t>
            </a:r>
          </a:p>
          <a:p/>
          <a:p>
            <a:r>
              <a:t>This figure carries the earlier name, G-MedMamba-R.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somebody asks what SS2D is.</a:t>
            </a:r>
          </a:p>
          <a:p/>
          <a:p>
            <a:r>
              <a:t>State-space models read a sequence one step at a time carrying a memory forward, built so a GPU</a:t>
            </a:r>
          </a:p>
          <a:p>
            <a:r>
              <a:t>can run it fast — near-linear in sequence length where attention is quadratic. The catch is they</a:t>
            </a:r>
          </a:p>
          <a:p>
            <a:r>
              <a:t>read a line, and an image is not a line.</a:t>
            </a:r>
          </a:p>
          <a:p/>
          <a:p>
            <a:r>
              <a:t>MedMamba's answer: read it four ways and add the readings. The orange is our one change — learn a</a:t>
            </a:r>
          </a:p>
          <a:p>
            <a:r>
              <a:t>weight per direction, so a reading order can be turned down if it is not earning its place.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recursion again, one row per line of code, if the four-line version went too fast</a:t>
            </a:r>
          </a:p>
          <a:p>
            <a:r>
              <a:t>for somebody.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ablation, if somebody wants a row I did not show. Every line is T-R-M with</a:t>
            </a:r>
          </a:p>
          <a:p>
            <a:r>
              <a:t>one thing put back, against eighty-seven point four as published.</a:t>
            </a:r>
          </a:p>
          <a:p/>
          <a:p>
            <a:r>
              <a:t>The last block is the one I find most telling: they tried actual fixed-point iteration, with</a:t>
            </a:r>
          </a:p>
          <a:p>
            <a:r>
              <a:t>TorchDEQ, and it was both slower and generalized worse. That is the strongest evidence that the</a:t>
            </a:r>
          </a:p>
          <a:p>
            <a:r>
              <a:t>fixed point was never what made H-R-M work.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anyone has seen an older G-MedMamba diagram in circulation, this is the one, and it</a:t>
            </a:r>
          </a:p>
          <a:p>
            <a:r>
              <a:t>does not describe the code.</a:t>
            </a:r>
          </a:p>
          <a:p/>
          <a:p>
            <a:r>
              <a:t>It shows two parallel branches, dense three-D convolutions, spectral pooling and a multi-modal</a:t>
            </a:r>
          </a:p>
          <a:p>
            <a:r>
              <a:t>fusion block. Three of those were never built. The source file says outright that this codebase</a:t>
            </a:r>
          </a:p>
          <a:p>
            <a:r>
              <a:t>never had a dense Conv3D spectral branch.</a:t>
            </a:r>
          </a:p>
          <a:p/>
          <a:p>
            <a:r>
              <a:t>Every row of this figure was checked against the source. Treat that older figure as a design</a:t>
            </a:r>
          </a:p>
          <a:p>
            <a:r>
              <a:t>proposal rather than as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answers, if I need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237744"/>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66560"/>
            <a:ext cx="12191969" cy="91440"/>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737360"/>
            <a:ext cx="10271729" cy="1371600"/>
          </a:xfrm>
          <a:prstGeom prst="rect">
            <a:avLst/>
          </a:prstGeom>
          <a:noFill/>
        </p:spPr>
        <p:txBody>
          <a:bodyPr wrap="square" anchor="t" lIns="0" rIns="0" tIns="0" bIns="0">
            <a:spAutoFit/>
          </a:bodyPr>
          <a:lstStyle/>
          <a:p>
            <a:pPr algn="l"/>
            <a:r>
              <a:rPr sz="4000" b="1">
                <a:solidFill>
                  <a:srgbClr val="1C2430"/>
                </a:solidFill>
                <a:latin typeface="Calibri"/>
              </a:rPr>
              <a:t>One model. Any camera. A twelfth of the weights.</a:t>
            </a:r>
          </a:p>
        </p:txBody>
      </p:sp>
      <p:sp>
        <p:nvSpPr>
          <p:cNvPr id="6" name="TextBox 5"/>
          <p:cNvSpPr txBox="1"/>
          <p:nvPr/>
        </p:nvSpPr>
        <p:spPr>
          <a:xfrm>
            <a:off x="960120" y="2788920"/>
            <a:ext cx="10271729" cy="822960"/>
          </a:xfrm>
          <a:prstGeom prst="rect">
            <a:avLst/>
          </a:prstGeom>
          <a:noFill/>
        </p:spPr>
        <p:txBody>
          <a:bodyPr wrap="square" anchor="t" lIns="0" rIns="0" tIns="0" bIns="0">
            <a:spAutoFit/>
          </a:bodyPr>
          <a:lstStyle/>
          <a:p>
            <a:pPr algn="l"/>
            <a:r>
              <a:rPr sz="2000" b="0">
                <a:solidFill>
                  <a:srgbClr val="5A6472"/>
                </a:solidFill>
                <a:latin typeface="Calibri"/>
              </a:rPr>
              <a:t>MedMamba → MedMamba-SS → MedMamba-SS-TRM</a:t>
            </a:r>
          </a:p>
        </p:txBody>
      </p:sp>
      <p:sp>
        <p:nvSpPr>
          <p:cNvPr id="7" name="Rounded Rectangle 6"/>
          <p:cNvSpPr/>
          <p:nvPr/>
        </p:nvSpPr>
        <p:spPr>
          <a:xfrm>
            <a:off x="960120" y="3703320"/>
            <a:ext cx="2194560" cy="32004"/>
          </a:xfrm>
          <a:prstGeom prst="round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977639"/>
            <a:ext cx="10271729" cy="1920240"/>
          </a:xfrm>
          <a:prstGeom prst="rect">
            <a:avLst/>
          </a:prstGeom>
          <a:noFill/>
        </p:spPr>
        <p:txBody>
          <a:bodyPr wrap="square" anchor="t" lIns="0" rIns="0" tIns="0" bIns="0">
            <a:spAutoFit/>
          </a:bodyPr>
          <a:lstStyle/>
          <a:p>
            <a:pPr algn="l">
              <a:spcAft>
                <a:spcPts val="700"/>
              </a:spcAft>
            </a:pPr>
            <a:r>
              <a:rPr sz="1400" b="0">
                <a:solidFill>
                  <a:srgbClr val="7B8794"/>
                </a:solidFill>
                <a:latin typeface="Calibri"/>
              </a:rPr>
              <a:t>Gabriel M. Del Valle Lopez  ·  Department of Computer Science</a:t>
            </a:r>
          </a:p>
          <a:p>
            <a:pPr algn="l">
              <a:spcAft>
                <a:spcPts val="700"/>
              </a:spcAft>
            </a:pPr>
            <a:r>
              <a:rPr sz="1400" b="0">
                <a:solidFill>
                  <a:srgbClr val="7B8794"/>
                </a:solidFill>
                <a:latin typeface="Calibri"/>
              </a:rPr>
              <a:t>Assumes you have seen </a:t>
            </a:r>
            <a:r>
              <a:rPr sz="1400" b="1">
                <a:solidFill>
                  <a:srgbClr val="7B8794"/>
                </a:solidFill>
                <a:latin typeface="Calibri"/>
              </a:rPr>
              <a:t>MedMamba</a:t>
            </a:r>
            <a:r>
              <a:rPr sz="1400" b="0">
                <a:solidFill>
                  <a:srgbClr val="7B8794"/>
                </a:solidFill>
                <a:latin typeface="Calibri"/>
              </a:rPr>
              <a:t>. Assumes nothing about </a:t>
            </a:r>
            <a:r>
              <a:rPr sz="1400" b="1">
                <a:solidFill>
                  <a:srgbClr val="7B8794"/>
                </a:solidFill>
                <a:latin typeface="Calibri"/>
              </a:rPr>
              <a:t>TRM</a:t>
            </a:r>
            <a:r>
              <a:rPr sz="1400" b="0">
                <a:solidFill>
                  <a:srgbClr val="7B8794"/>
                </a:solidFill>
                <a:latin typeface="Calibri"/>
              </a:rPr>
              <a:t> — that is taught from scratch, and none of it is ours.</a:t>
            </a:r>
          </a:p>
          <a:p>
            <a:pPr algn="l">
              <a:spcAft>
                <a:spcPts val="700"/>
              </a:spcAft>
            </a:pPr>
            <a:r>
              <a:rPr sz="1400" b="0">
                <a:solidFill>
                  <a:srgbClr val="7B8794"/>
                </a:solidFill>
                <a:latin typeface="Calibri"/>
              </a:rPr>
              <a:t>MedMamba → what we changed → TRM → how we integrated it → does it work.</a:t>
            </a:r>
          </a:p>
          <a:p>
            <a:pPr algn="l">
              <a:spcAft>
                <a:spcPts val="700"/>
              </a:spcAft>
            </a:pPr>
            <a:r>
              <a:rPr sz="1400" b="0">
                <a:solidFill>
                  <a:srgbClr val="7B8794"/>
                </a:solidFill>
                <a:latin typeface="Calibri"/>
              </a:rPr>
              <a:t>Five parts. Almost every slide is a picture.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SETTING UP · THE JOB</a:t>
            </a:r>
          </a:p>
        </p:txBody>
      </p:sp>
      <p:sp>
        <p:nvSpPr>
          <p:cNvPr id="4" name="Rectangle 3"/>
          <p:cNvSpPr/>
          <p:nvPr/>
        </p:nvSpPr>
        <p:spPr>
          <a:xfrm>
            <a:off x="429768" y="5792216"/>
            <a:ext cx="11332433" cy="66344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69 % of the test set is a class everybody already gets right.</a:t>
            </a:r>
            <a:r>
              <a:rPr sz="1400" b="0">
                <a:solidFill>
                  <a:srgbClr val="1C2430"/>
                </a:solidFill>
                <a:latin typeface="Calibri"/>
              </a:rPr>
              <a:t> So we never quote plain accuracy — only balanced accuracy and macro-F1.</a:t>
            </a:r>
          </a:p>
        </p:txBody>
      </p:sp>
      <p:pic>
        <p:nvPicPr>
          <p:cNvPr id="7" name="Picture 6" descr="fig23_the_task.png"/>
          <p:cNvPicPr>
            <a:picLocks noChangeAspect="1"/>
          </p:cNvPicPr>
          <p:nvPr/>
        </p:nvPicPr>
        <p:blipFill>
          <a:blip r:embed="rId2"/>
          <a:stretch>
            <a:fillRect/>
          </a:stretch>
        </p:blipFill>
        <p:spPr>
          <a:xfrm>
            <a:off x="429768" y="1007222"/>
            <a:ext cx="11332433" cy="436298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SETTING UP · THE CAMERA</a:t>
            </a:r>
          </a:p>
        </p:txBody>
      </p:sp>
      <p:sp>
        <p:nvSpPr>
          <p:cNvPr id="4" name="Rectangle 3"/>
          <p:cNvSpPr/>
          <p:nvPr/>
        </p:nvSpPr>
        <p:spPr>
          <a:xfrm>
            <a:off x="429768" y="5792216"/>
            <a:ext cx="11332433" cy="663448"/>
          </a:xfrm>
          <a:prstGeom prst="rect">
            <a:avLst/>
          </a:prstGeom>
          <a:solidFill>
            <a:srgbClr val="FBEEE3"/>
          </a:solidFill>
          <a:ln w="15875">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A normal camera gives you </a:t>
            </a:r>
            <a:r>
              <a:rPr sz="1400" b="1">
                <a:solidFill>
                  <a:srgbClr val="1C2430"/>
                </a:solidFill>
                <a:latin typeface="Calibri"/>
              </a:rPr>
              <a:t>3 numbers per pixel</a:t>
            </a:r>
            <a:r>
              <a:rPr sz="1400" b="0">
                <a:solidFill>
                  <a:srgbClr val="1C2430"/>
                </a:solidFill>
                <a:latin typeface="Calibri"/>
              </a:rPr>
              <a:t>. Ours gives </a:t>
            </a:r>
            <a:r>
              <a:rPr sz="1400" b="1">
                <a:solidFill>
                  <a:srgbClr val="1C2430"/>
                </a:solidFill>
                <a:latin typeface="Calibri"/>
              </a:rPr>
              <a:t>32</a:t>
            </a:r>
            <a:r>
              <a:rPr sz="1400" b="0">
                <a:solidFill>
                  <a:srgbClr val="1C2430"/>
                </a:solidFill>
                <a:latin typeface="Calibri"/>
              </a:rPr>
              <a:t> — and the whole first half of this talk is about making a model that does not care which.</a:t>
            </a:r>
          </a:p>
        </p:txBody>
      </p:sp>
      <p:pic>
        <p:nvPicPr>
          <p:cNvPr id="7" name="Picture 6" descr="fig24_hsi_vs_rgb.png"/>
          <p:cNvPicPr>
            <a:picLocks noChangeAspect="1"/>
          </p:cNvPicPr>
          <p:nvPr/>
        </p:nvPicPr>
        <p:blipFill>
          <a:blip r:embed="rId2"/>
          <a:stretch>
            <a:fillRect/>
          </a:stretch>
        </p:blipFill>
        <p:spPr>
          <a:xfrm>
            <a:off x="429768" y="789073"/>
            <a:ext cx="11332433" cy="4799285"/>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(7)</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THE SPINE OF THE TALK</a:t>
            </a:r>
          </a:p>
        </p:txBody>
      </p:sp>
      <p:sp>
        <p:nvSpPr>
          <p:cNvPr id="4" name="Rectangle 3"/>
          <p:cNvSpPr/>
          <p:nvPr/>
        </p:nvSpPr>
        <p:spPr>
          <a:xfrm>
            <a:off x="429768" y="5792216"/>
            <a:ext cx="11332433" cy="663448"/>
          </a:xfrm>
          <a:prstGeom prst="rect">
            <a:avLst/>
          </a:prstGeom>
          <a:solidFill>
            <a:srgbClr val="F2F4F7"/>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Two numbers are frozen into the weights at build time.</a:t>
            </a:r>
            <a:r>
              <a:rPr sz="1400" b="0">
                <a:solidFill>
                  <a:srgbClr val="1C2430"/>
                </a:solidFill>
                <a:latin typeface="Calibri"/>
              </a:rPr>
              <a:t> Part 2 deletes the first. Part 4 deletes the second. Part 3 is the tool Part 4 needs.</a:t>
            </a:r>
          </a:p>
        </p:txBody>
      </p:sp>
      <p:pic>
        <p:nvPicPr>
          <p:cNvPr id="7" name="Picture 6" descr="fig21_story_map.png"/>
          <p:cNvPicPr>
            <a:picLocks noChangeAspect="1"/>
          </p:cNvPicPr>
          <p:nvPr/>
        </p:nvPicPr>
        <p:blipFill>
          <a:blip r:embed="rId2"/>
          <a:stretch>
            <a:fillRect/>
          </a:stretch>
        </p:blipFill>
        <p:spPr>
          <a:xfrm>
            <a:off x="429768" y="845735"/>
            <a:ext cx="11332433" cy="4685961"/>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THREE NAMES YOU WILL HEAR</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Each model is the one before it with </a:t>
            </a:r>
            <a:r>
              <a:rPr sz="1400" b="1">
                <a:solidFill>
                  <a:srgbClr val="1C2430"/>
                </a:solidFill>
                <a:latin typeface="Calibri"/>
              </a:rPr>
              <a:t>exactly one thing replaced</a:t>
            </a:r>
            <a:r>
              <a:rPr sz="1400" b="0">
                <a:solidFill>
                  <a:srgbClr val="1C2430"/>
                </a:solidFill>
                <a:latin typeface="Calibri"/>
              </a:rPr>
              <a:t>. That is deliberate — it is what lets us say which change caused what.</a:t>
            </a:r>
          </a:p>
        </p:txBody>
      </p:sp>
      <p:pic>
        <p:nvPicPr>
          <p:cNvPr id="7" name="Picture 6" descr="fig22_three_models.png"/>
          <p:cNvPicPr>
            <a:picLocks noChangeAspect="1"/>
          </p:cNvPicPr>
          <p:nvPr/>
        </p:nvPicPr>
        <p:blipFill>
          <a:blip r:embed="rId2"/>
          <a:stretch>
            <a:fillRect/>
          </a:stretch>
        </p:blipFill>
        <p:spPr>
          <a:xfrm>
            <a:off x="429768" y="845735"/>
            <a:ext cx="11332433" cy="4685961"/>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5A6472"/>
                </a:solidFill>
                <a:latin typeface="Calibri"/>
              </a:rPr>
              <a:t>PART 1</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MedMamba</a:t>
            </a:r>
          </a:p>
        </p:txBody>
      </p:sp>
      <p:sp>
        <p:nvSpPr>
          <p:cNvPr id="6" name="Rounded Rectangle 5"/>
          <p:cNvSpPr/>
          <p:nvPr/>
        </p:nvSpPr>
        <p:spPr>
          <a:xfrm>
            <a:off x="1188720" y="3493008"/>
            <a:ext cx="2011680" cy="32004"/>
          </a:xfrm>
          <a:prstGeom prst="round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0">
                <a:solidFill>
                  <a:srgbClr val="5A6472"/>
                </a:solidFill>
                <a:latin typeface="Calibri"/>
              </a:rPr>
              <a:t>A reminder, not a tutorial — most of this room has seen MedMamba.</a:t>
            </a:r>
          </a:p>
          <a:p>
            <a:pPr algn="l">
              <a:spcAft>
                <a:spcPts val="800"/>
              </a:spcAft>
            </a:pPr>
            <a:r>
              <a:rPr sz="1600" b="0">
                <a:solidFill>
                  <a:srgbClr val="7B8794"/>
                </a:solidFill>
                <a:latin typeface="Calibri"/>
              </a:rPr>
              <a:t>One slide. All we need from it is the very first layer.</a:t>
            </a:r>
          </a:p>
        </p:txBody>
      </p:sp>
      <p:sp>
        <p:nvSpPr>
          <p:cNvPr id="8" name="Rectangle 7"/>
          <p:cNvSpPr/>
          <p:nvPr/>
        </p:nvSpPr>
        <p:spPr>
          <a:xfrm>
            <a:off x="429768" y="5760720"/>
            <a:ext cx="2164073" cy="457200"/>
          </a:xfrm>
          <a:prstGeom prst="rect">
            <a:avLst/>
          </a:prstGeom>
          <a:solidFill>
            <a:srgbClr val="F2F4F7"/>
          </a:solidFill>
          <a:ln w="17780">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1">
                <a:solidFill>
                  <a:srgbClr val="1C2430"/>
                </a:solidFill>
                <a:latin typeface="Calibri"/>
              </a:rPr>
              <a:t>1  MedMamba</a:t>
            </a:r>
          </a:p>
        </p:txBody>
      </p:sp>
      <p:sp>
        <p:nvSpPr>
          <p:cNvPr id="10" name="Rectangle 9"/>
          <p:cNvSpPr/>
          <p:nvPr/>
        </p:nvSpPr>
        <p:spPr>
          <a:xfrm>
            <a:off x="272185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0">
                <a:solidFill>
                  <a:srgbClr val="A6ADB6"/>
                </a:solidFill>
                <a:latin typeface="Calibri"/>
              </a:rPr>
              <a:t>2  → MedMamba-SS</a:t>
            </a:r>
          </a:p>
        </p:txBody>
      </p:sp>
      <p:sp>
        <p:nvSpPr>
          <p:cNvPr id="12" name="Rectangle 11"/>
          <p:cNvSpPr/>
          <p:nvPr/>
        </p:nvSpPr>
        <p:spPr>
          <a:xfrm>
            <a:off x="501394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0">
                <a:solidFill>
                  <a:srgbClr val="A6ADB6"/>
                </a:solidFill>
                <a:latin typeface="Calibri"/>
              </a:rPr>
              <a:t>3  TRM</a:t>
            </a:r>
          </a:p>
        </p:txBody>
      </p:sp>
      <p:sp>
        <p:nvSpPr>
          <p:cNvPr id="14" name="Rectangle 13"/>
          <p:cNvSpPr/>
          <p:nvPr/>
        </p:nvSpPr>
        <p:spPr>
          <a:xfrm>
            <a:off x="730603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0">
                <a:solidFill>
                  <a:srgbClr val="A6ADB6"/>
                </a:solidFill>
                <a:latin typeface="Calibri"/>
              </a:rPr>
              <a:t>4  → MedMamba-SS-TRM</a:t>
            </a:r>
          </a:p>
        </p:txBody>
      </p:sp>
      <p:sp>
        <p:nvSpPr>
          <p:cNvPr id="16" name="Rectangle 15"/>
          <p:cNvSpPr/>
          <p:nvPr/>
        </p:nvSpPr>
        <p:spPr>
          <a:xfrm>
            <a:off x="959812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0">
                <a:solidFill>
                  <a:srgbClr val="A6ADB6"/>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PART 1 · MEDMAMBA, IN 60 SECONDS</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You know this. </a:t>
            </a:r>
            <a:r>
              <a:rPr sz="1400" b="1">
                <a:solidFill>
                  <a:srgbClr val="1C2430"/>
                </a:solidFill>
                <a:latin typeface="Calibri"/>
              </a:rPr>
              <a:t>The only thing we need from it today is the red box</a:t>
            </a:r>
            <a:r>
              <a:rPr sz="1400" b="0">
                <a:solidFill>
                  <a:srgbClr val="1C2430"/>
                </a:solidFill>
                <a:latin typeface="Calibri"/>
              </a:rPr>
              <a:t> — the patch embedding, where the channel count lives.</a:t>
            </a:r>
          </a:p>
        </p:txBody>
      </p:sp>
      <p:pic>
        <p:nvPicPr>
          <p:cNvPr id="7" name="Picture 6" descr="fig01_medmamba_simple.png"/>
          <p:cNvPicPr>
            <a:picLocks noChangeAspect="1"/>
          </p:cNvPicPr>
          <p:nvPr/>
        </p:nvPicPr>
        <p:blipFill>
          <a:blip r:embed="rId2"/>
          <a:stretch>
            <a:fillRect/>
          </a:stretch>
        </p:blipFill>
        <p:spPr>
          <a:xfrm>
            <a:off x="429768" y="1389692"/>
            <a:ext cx="11332433" cy="3598047"/>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FB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C2703A"/>
                </a:solidFill>
                <a:latin typeface="Calibri"/>
              </a:rPr>
              <a:t>PART 2</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 MedMamba-SS</a:t>
            </a:r>
          </a:p>
        </p:txBody>
      </p:sp>
      <p:sp>
        <p:nvSpPr>
          <p:cNvPr id="6" name="Rounded Rectangle 5"/>
          <p:cNvSpPr/>
          <p:nvPr/>
        </p:nvSpPr>
        <p:spPr>
          <a:xfrm>
            <a:off x="1188720" y="3493008"/>
            <a:ext cx="2011680" cy="32004"/>
          </a:xfrm>
          <a:prstGeom prst="round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0">
                <a:solidFill>
                  <a:srgbClr val="5A6472"/>
                </a:solidFill>
                <a:latin typeface="Calibri"/>
              </a:rPr>
              <a:t>The channel count is welded into that first layer. We take it out — and condition the rest of the network on the spectrum while we are there.</a:t>
            </a:r>
          </a:p>
          <a:p>
            <a:pPr algn="l">
              <a:spcAft>
                <a:spcPts val="800"/>
              </a:spcAft>
            </a:pPr>
            <a:r>
              <a:rPr sz="1600" b="0">
                <a:solidFill>
                  <a:srgbClr val="7B8794"/>
                </a:solidFill>
                <a:latin typeface="Calibri"/>
              </a:rPr>
              <a:t>This is the cleanest result in the project: the one place where we can prove something exactly rather than measure it.</a:t>
            </a:r>
          </a:p>
        </p:txBody>
      </p:sp>
      <p:sp>
        <p:nvSpPr>
          <p:cNvPr id="8" name="Rectangle 7"/>
          <p:cNvSpPr/>
          <p:nvPr/>
        </p:nvSpPr>
        <p:spPr>
          <a:xfrm>
            <a:off x="429768"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0">
                <a:solidFill>
                  <a:srgbClr val="A6ADB6"/>
                </a:solidFill>
                <a:latin typeface="Calibri"/>
              </a:rPr>
              <a:t>1  MedMamba</a:t>
            </a:r>
          </a:p>
        </p:txBody>
      </p:sp>
      <p:sp>
        <p:nvSpPr>
          <p:cNvPr id="10" name="Rectangle 9"/>
          <p:cNvSpPr/>
          <p:nvPr/>
        </p:nvSpPr>
        <p:spPr>
          <a:xfrm>
            <a:off x="2721857" y="5760720"/>
            <a:ext cx="2164073" cy="457200"/>
          </a:xfrm>
          <a:prstGeom prst="rect">
            <a:avLst/>
          </a:prstGeom>
          <a:solidFill>
            <a:srgbClr val="FBEEE3"/>
          </a:solidFill>
          <a:ln w="17780">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1">
                <a:solidFill>
                  <a:srgbClr val="1C2430"/>
                </a:solidFill>
                <a:latin typeface="Calibri"/>
              </a:rPr>
              <a:t>2  → MedMamba-SS</a:t>
            </a:r>
          </a:p>
        </p:txBody>
      </p:sp>
      <p:sp>
        <p:nvSpPr>
          <p:cNvPr id="12" name="Rectangle 11"/>
          <p:cNvSpPr/>
          <p:nvPr/>
        </p:nvSpPr>
        <p:spPr>
          <a:xfrm>
            <a:off x="501394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0">
                <a:solidFill>
                  <a:srgbClr val="A6ADB6"/>
                </a:solidFill>
                <a:latin typeface="Calibri"/>
              </a:rPr>
              <a:t>3  TRM</a:t>
            </a:r>
          </a:p>
        </p:txBody>
      </p:sp>
      <p:sp>
        <p:nvSpPr>
          <p:cNvPr id="14" name="Rectangle 13"/>
          <p:cNvSpPr/>
          <p:nvPr/>
        </p:nvSpPr>
        <p:spPr>
          <a:xfrm>
            <a:off x="730603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0">
                <a:solidFill>
                  <a:srgbClr val="A6ADB6"/>
                </a:solidFill>
                <a:latin typeface="Calibri"/>
              </a:rPr>
              <a:t>4  → MedMamba-SS-TRM</a:t>
            </a:r>
          </a:p>
        </p:txBody>
      </p:sp>
      <p:sp>
        <p:nvSpPr>
          <p:cNvPr id="16" name="Rectangle 15"/>
          <p:cNvSpPr/>
          <p:nvPr/>
        </p:nvSpPr>
        <p:spPr>
          <a:xfrm>
            <a:off x="959812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0">
                <a:solidFill>
                  <a:srgbClr val="A6ADB6"/>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PART 2 · THE PROBLEM</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It is not that the model </a:t>
            </a:r>
            <a:r>
              <a:rPr sz="1400" b="1">
                <a:solidFill>
                  <a:srgbClr val="1C2430"/>
                </a:solidFill>
                <a:latin typeface="Calibri"/>
              </a:rPr>
              <a:t>performs badly</a:t>
            </a:r>
            <a:r>
              <a:rPr sz="1400" b="0">
                <a:solidFill>
                  <a:srgbClr val="1C2430"/>
                </a:solidFill>
                <a:latin typeface="Calibri"/>
              </a:rPr>
              <a:t> on another sensor. The weights are a different shape, so they </a:t>
            </a:r>
            <a:r>
              <a:rPr sz="1400" b="1">
                <a:solidFill>
                  <a:srgbClr val="1C2430"/>
                </a:solidFill>
                <a:latin typeface="Calibri"/>
              </a:rPr>
              <a:t>cannot load at all</a:t>
            </a:r>
            <a:r>
              <a:rPr sz="1400" b="0">
                <a:solidFill>
                  <a:srgbClr val="1C2430"/>
                </a:solidFill>
                <a:latin typeface="Calibri"/>
              </a:rPr>
              <a:t>.</a:t>
            </a:r>
          </a:p>
        </p:txBody>
      </p:sp>
      <p:pic>
        <p:nvPicPr>
          <p:cNvPr id="7" name="Picture 6" descr="fig04_the_problem.png"/>
          <p:cNvPicPr>
            <a:picLocks noChangeAspect="1"/>
          </p:cNvPicPr>
          <p:nvPr/>
        </p:nvPicPr>
        <p:blipFill>
          <a:blip r:embed="rId2"/>
          <a:stretch>
            <a:fillRect/>
          </a:stretch>
        </p:blipFill>
        <p:spPr>
          <a:xfrm>
            <a:off x="429768" y="1335863"/>
            <a:ext cx="11332433" cy="3705705"/>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PART 2 · THE FIX</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The honest cost, up front:</a:t>
            </a:r>
            <a:r>
              <a:rPr sz="1400" b="0">
                <a:solidFill>
                  <a:srgbClr val="1C2430"/>
                </a:solidFill>
                <a:latin typeface="Calibri"/>
              </a:rPr>
              <a:t> the backbone no longer sees raw pixels. It sees a summary of each patch’s spectrum, so texture inside a patch is gone.</a:t>
            </a:r>
          </a:p>
        </p:txBody>
      </p:sp>
      <p:pic>
        <p:nvPicPr>
          <p:cNvPr id="7" name="Picture 6" descr="fig05_stem_swap.png"/>
          <p:cNvPicPr>
            <a:picLocks noChangeAspect="1"/>
          </p:cNvPicPr>
          <p:nvPr/>
        </p:nvPicPr>
        <p:blipFill>
          <a:blip r:embed="rId2"/>
          <a:stretch>
            <a:fillRect/>
          </a:stretch>
        </p:blipFill>
        <p:spPr>
          <a:xfrm>
            <a:off x="429768" y="845735"/>
            <a:ext cx="11332433" cy="4685961"/>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PART 2 · WHY C DISAPPEARS</a:t>
            </a:r>
          </a:p>
        </p:txBody>
      </p:sp>
      <p:sp>
        <p:nvSpPr>
          <p:cNvPr id="4" name="5-Point Star 3"/>
          <p:cNvSpPr/>
          <p:nvPr/>
        </p:nvSpPr>
        <p:spPr>
          <a:xfrm>
            <a:off x="11487881" y="274320"/>
            <a:ext cx="256032" cy="256032"/>
          </a:xfrm>
          <a:prstGeom prst="star5">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11332433" cy="566928"/>
          </a:xfrm>
          <a:prstGeom prst="rect">
            <a:avLst/>
          </a:prstGeom>
          <a:solidFill>
            <a:srgbClr val="FBEEE3"/>
          </a:solidFill>
          <a:ln w="15875">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888736"/>
            <a:ext cx="68580" cy="566928"/>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888736"/>
            <a:ext cx="10829513" cy="566928"/>
          </a:xfrm>
          <a:prstGeom prst="rect">
            <a:avLst/>
          </a:prstGeom>
          <a:noFill/>
        </p:spPr>
        <p:txBody>
          <a:bodyPr wrap="square" anchor="ctr" lIns="0" rIns="0" tIns="0" bIns="0">
            <a:spAutoFit/>
          </a:bodyPr>
          <a:lstStyle/>
          <a:p>
            <a:pPr algn="l"/>
            <a:r>
              <a:rPr sz="1550" b="0">
                <a:solidFill>
                  <a:srgbClr val="1C2430"/>
                </a:solidFill>
                <a:latin typeface="Calibri"/>
              </a:rPr>
              <a:t>Feed the bands in </a:t>
            </a:r>
            <a:r>
              <a:rPr sz="1550" b="1">
                <a:solidFill>
                  <a:srgbClr val="1C2430"/>
                </a:solidFill>
                <a:latin typeface="Calibri"/>
              </a:rPr>
              <a:t>one at a time</a:t>
            </a:r>
            <a:r>
              <a:rPr sz="1550" b="0">
                <a:solidFill>
                  <a:srgbClr val="1C2430"/>
                </a:solidFill>
                <a:latin typeface="Calibri"/>
              </a:rPr>
              <a:t>, and no weight ever learns how many there are.</a:t>
            </a:r>
          </a:p>
        </p:txBody>
      </p:sp>
      <p:pic>
        <p:nvPicPr>
          <p:cNvPr id="8" name="Picture 7" descr="fig06_why_c_vanishes.png"/>
          <p:cNvPicPr>
            <a:picLocks noChangeAspect="1"/>
          </p:cNvPicPr>
          <p:nvPr/>
        </p:nvPicPr>
        <p:blipFill>
          <a:blip r:embed="rId2"/>
          <a:stretch>
            <a:fillRect/>
          </a:stretch>
        </p:blipFill>
        <p:spPr>
          <a:xfrm>
            <a:off x="512480" y="713232"/>
            <a:ext cx="11167008" cy="5047488"/>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4E8C6A"/>
                </a:solidFill>
                <a:latin typeface="Calibri"/>
              </a:rPr>
              <a:t>PART 2 · THE PROOF</a:t>
            </a:r>
          </a:p>
        </p:txBody>
      </p:sp>
      <p:sp>
        <p:nvSpPr>
          <p:cNvPr id="4" name="Rectangle 3"/>
          <p:cNvSpPr/>
          <p:nvPr/>
        </p:nvSpPr>
        <p:spPr>
          <a:xfrm>
            <a:off x="429768" y="5792216"/>
            <a:ext cx="11332433" cy="66344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446,409 = 446,409.</a:t>
            </a:r>
            <a:r>
              <a:rPr sz="1400" b="0">
                <a:solidFill>
                  <a:srgbClr val="1C2430"/>
                </a:solidFill>
                <a:latin typeface="Calibri"/>
              </a:rPr>
              <a:t> Same model, same dataset, same three classes. The two runs differ in exactly one field: the input directory.</a:t>
            </a:r>
          </a:p>
        </p:txBody>
      </p:sp>
      <p:pic>
        <p:nvPicPr>
          <p:cNvPr id="7" name="Picture 6" descr="fig25_param_proof.png"/>
          <p:cNvPicPr>
            <a:picLocks noChangeAspect="1"/>
          </p:cNvPicPr>
          <p:nvPr/>
        </p:nvPicPr>
        <p:blipFill>
          <a:blip r:embed="rId2"/>
          <a:stretch>
            <a:fillRect/>
          </a:stretch>
        </p:blipFill>
        <p:spPr>
          <a:xfrm>
            <a:off x="429768" y="1007222"/>
            <a:ext cx="11332433" cy="436298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PART 2 · CONDITIONING EVERY STAGE</a:t>
            </a:r>
          </a:p>
        </p:txBody>
      </p:sp>
      <p:sp>
        <p:nvSpPr>
          <p:cNvPr id="4" name="Rectangle 3"/>
          <p:cNvSpPr/>
          <p:nvPr/>
        </p:nvSpPr>
        <p:spPr>
          <a:xfrm>
            <a:off x="429768" y="5792216"/>
            <a:ext cx="11332433" cy="663448"/>
          </a:xfrm>
          <a:prstGeom prst="rect">
            <a:avLst/>
          </a:prstGeom>
          <a:solidFill>
            <a:srgbClr val="FBEEE3"/>
          </a:solidFill>
          <a:ln w="15875">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Badge ① is the one that matters:</a:t>
            </a:r>
            <a:r>
              <a:rPr sz="1400" b="0">
                <a:solidFill>
                  <a:srgbClr val="1C2430"/>
                </a:solidFill>
                <a:latin typeface="Calibri"/>
              </a:rPr>
              <a:t> the spectrum conditions the block at </a:t>
            </a:r>
            <a:r>
              <a:rPr sz="1400" b="1">
                <a:solidFill>
                  <a:srgbClr val="1C2430"/>
                </a:solidFill>
                <a:latin typeface="Calibri"/>
              </a:rPr>
              <a:t>every</a:t>
            </a:r>
            <a:r>
              <a:rPr sz="1400" b="0">
                <a:solidFill>
                  <a:srgbClr val="1C2430"/>
                </a:solidFill>
                <a:latin typeface="Calibri"/>
              </a:rPr>
              <a:t> stage, not just at the input. Grey is MedMamba’s and untouched.</a:t>
            </a:r>
          </a:p>
        </p:txBody>
      </p:sp>
      <p:pic>
        <p:nvPicPr>
          <p:cNvPr id="7" name="Picture 6" descr="fig03_block.png"/>
          <p:cNvPicPr>
            <a:picLocks noChangeAspect="1"/>
          </p:cNvPicPr>
          <p:nvPr/>
        </p:nvPicPr>
        <p:blipFill>
          <a:blip r:embed="rId2"/>
          <a:stretch>
            <a:fillRect/>
          </a:stretch>
        </p:blipFill>
        <p:spPr>
          <a:xfrm>
            <a:off x="619250" y="713232"/>
            <a:ext cx="10953469" cy="495096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(5)</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PART 2 · IT WAS NOT FREE</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The first version of the channel-agnostic front end </a:t>
            </a:r>
            <a:r>
              <a:rPr sz="1400" b="1">
                <a:solidFill>
                  <a:srgbClr val="1C2430"/>
                </a:solidFill>
                <a:latin typeface="Calibri"/>
              </a:rPr>
              <a:t>could not see its own input</a:t>
            </a:r>
            <a:r>
              <a:rPr sz="1400" b="0">
                <a:solidFill>
                  <a:srgbClr val="1C2430"/>
                </a:solidFill>
                <a:latin typeface="Calibri"/>
              </a:rPr>
              <a:t> — and nothing crashed, and the loss still went down.</a:t>
            </a:r>
          </a:p>
        </p:txBody>
      </p:sp>
      <p:pic>
        <p:nvPicPr>
          <p:cNvPr id="7" name="Picture 6" descr="fig07_magnitude_bug.png"/>
          <p:cNvPicPr>
            <a:picLocks noChangeAspect="1"/>
          </p:cNvPicPr>
          <p:nvPr/>
        </p:nvPicPr>
        <p:blipFill>
          <a:blip r:embed="rId2"/>
          <a:stretch>
            <a:fillRect/>
          </a:stretch>
        </p:blipFill>
        <p:spPr>
          <a:xfrm>
            <a:off x="429768" y="1007222"/>
            <a:ext cx="11332433" cy="436298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(1)</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2 · THE HINGE</a:t>
            </a:r>
          </a:p>
        </p:txBody>
      </p:sp>
      <p:sp>
        <p:nvSpPr>
          <p:cNvPr id="4" name="Rectangle 3"/>
          <p:cNvSpPr/>
          <p:nvPr/>
        </p:nvSpPr>
        <p:spPr>
          <a:xfrm>
            <a:off x="429768" y="5888736"/>
            <a:ext cx="11332433" cy="56692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550" b="0">
                <a:solidFill>
                  <a:srgbClr val="1C2430"/>
                </a:solidFill>
                <a:latin typeface="Calibri"/>
              </a:rPr>
              <a:t>Everything Part 2 did is </a:t>
            </a:r>
            <a:r>
              <a:rPr sz="1550" b="1">
                <a:solidFill>
                  <a:srgbClr val="1C2430"/>
                </a:solidFill>
                <a:latin typeface="Calibri"/>
              </a:rPr>
              <a:t>0.1 % of the model</a:t>
            </a:r>
            <a:r>
              <a:rPr sz="1550" b="0">
                <a:solidFill>
                  <a:srgbClr val="1C2430"/>
                </a:solidFill>
                <a:latin typeface="Calibri"/>
              </a:rPr>
              <a:t>. The backbone is the other 99.9 %.</a:t>
            </a:r>
          </a:p>
        </p:txBody>
      </p:sp>
      <p:pic>
        <p:nvPicPr>
          <p:cNvPr id="7" name="Picture 6" descr="fig26_where_params_live.png"/>
          <p:cNvPicPr>
            <a:picLocks noChangeAspect="1"/>
          </p:cNvPicPr>
          <p:nvPr/>
        </p:nvPicPr>
        <p:blipFill>
          <a:blip r:embed="rId2"/>
          <a:stretch>
            <a:fillRect/>
          </a:stretch>
        </p:blipFill>
        <p:spPr>
          <a:xfrm>
            <a:off x="429768" y="783504"/>
            <a:ext cx="11332433" cy="4906943"/>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C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6A5A92"/>
                </a:solidFill>
                <a:latin typeface="Calibri"/>
              </a:rPr>
              <a:t>PART 3</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TRM</a:t>
            </a:r>
          </a:p>
        </p:txBody>
      </p:sp>
      <p:sp>
        <p:nvSpPr>
          <p:cNvPr id="6" name="Rounded Rectangle 5"/>
          <p:cNvSpPr/>
          <p:nvPr/>
        </p:nvSpPr>
        <p:spPr>
          <a:xfrm>
            <a:off x="1188720" y="3493008"/>
            <a:ext cx="2011680" cy="32004"/>
          </a:xfrm>
          <a:prstGeom prst="round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1">
                <a:solidFill>
                  <a:srgbClr val="5A6472"/>
                </a:solidFill>
                <a:latin typeface="Calibri"/>
              </a:rPr>
              <a:t>Nothing in this part is ours.</a:t>
            </a:r>
            <a:r>
              <a:rPr sz="1600" b="0">
                <a:solidFill>
                  <a:srgbClr val="5A6472"/>
                </a:solidFill>
                <a:latin typeface="Calibri"/>
              </a:rPr>
              <a:t> It is one paper, from October 2025.</a:t>
            </a:r>
          </a:p>
          <a:p>
            <a:pPr algn="l">
              <a:spcAft>
                <a:spcPts val="800"/>
              </a:spcAft>
            </a:pPr>
            <a:r>
              <a:rPr sz="1600" b="0">
                <a:solidFill>
                  <a:srgbClr val="7B8794"/>
                </a:solidFill>
                <a:latin typeface="Calibri"/>
              </a:rPr>
              <a:t>"Less is More: Recursive Reasoning with Tiny Networks" · Jolicoeur-Martineau, Samsung SAIL Montréal · arXiv:2510.04871</a:t>
            </a:r>
          </a:p>
          <a:p>
            <a:pPr algn="l">
              <a:spcAft>
                <a:spcPts val="800"/>
              </a:spcAft>
            </a:pPr>
            <a:r>
              <a:rPr sz="1600" b="0">
                <a:solidFill>
                  <a:srgbClr val="7B8794"/>
                </a:solidFill>
                <a:latin typeface="Calibri"/>
              </a:rPr>
              <a:t>Eight slides. It stands alone — and Part 4 is meaningless without it.</a:t>
            </a:r>
          </a:p>
        </p:txBody>
      </p:sp>
      <p:sp>
        <p:nvSpPr>
          <p:cNvPr id="8" name="Rectangle 7"/>
          <p:cNvSpPr/>
          <p:nvPr/>
        </p:nvSpPr>
        <p:spPr>
          <a:xfrm>
            <a:off x="429768"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0">
                <a:solidFill>
                  <a:srgbClr val="A6ADB6"/>
                </a:solidFill>
                <a:latin typeface="Calibri"/>
              </a:rPr>
              <a:t>1  MedMamba</a:t>
            </a:r>
          </a:p>
        </p:txBody>
      </p:sp>
      <p:sp>
        <p:nvSpPr>
          <p:cNvPr id="10" name="Rectangle 9"/>
          <p:cNvSpPr/>
          <p:nvPr/>
        </p:nvSpPr>
        <p:spPr>
          <a:xfrm>
            <a:off x="272185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0">
                <a:solidFill>
                  <a:srgbClr val="A6ADB6"/>
                </a:solidFill>
                <a:latin typeface="Calibri"/>
              </a:rPr>
              <a:t>2  → MedMamba-SS</a:t>
            </a:r>
          </a:p>
        </p:txBody>
      </p:sp>
      <p:sp>
        <p:nvSpPr>
          <p:cNvPr id="12" name="Rectangle 11"/>
          <p:cNvSpPr/>
          <p:nvPr/>
        </p:nvSpPr>
        <p:spPr>
          <a:xfrm>
            <a:off x="5013947" y="5760720"/>
            <a:ext cx="2164073" cy="457200"/>
          </a:xfrm>
          <a:prstGeom prst="rect">
            <a:avLst/>
          </a:prstGeom>
          <a:solidFill>
            <a:srgbClr val="ECE9F3"/>
          </a:solidFill>
          <a:ln w="17780">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1">
                <a:solidFill>
                  <a:srgbClr val="1C2430"/>
                </a:solidFill>
                <a:latin typeface="Calibri"/>
              </a:rPr>
              <a:t>3  TRM</a:t>
            </a:r>
          </a:p>
        </p:txBody>
      </p:sp>
      <p:sp>
        <p:nvSpPr>
          <p:cNvPr id="14" name="Rectangle 13"/>
          <p:cNvSpPr/>
          <p:nvPr/>
        </p:nvSpPr>
        <p:spPr>
          <a:xfrm>
            <a:off x="730603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0">
                <a:solidFill>
                  <a:srgbClr val="A6ADB6"/>
                </a:solidFill>
                <a:latin typeface="Calibri"/>
              </a:rPr>
              <a:t>4  → MedMamba-SS-TRM</a:t>
            </a:r>
          </a:p>
        </p:txBody>
      </p:sp>
      <p:sp>
        <p:nvSpPr>
          <p:cNvPr id="16" name="Rectangle 15"/>
          <p:cNvSpPr/>
          <p:nvPr/>
        </p:nvSpPr>
        <p:spPr>
          <a:xfrm>
            <a:off x="959812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0">
                <a:solidFill>
                  <a:srgbClr val="A6ADB6"/>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WHOLE IDEA, IN A PICTURE</a:t>
            </a:r>
          </a:p>
        </p:txBody>
      </p:sp>
      <p:sp>
        <p:nvSpPr>
          <p:cNvPr id="4" name="5-Point Star 3"/>
          <p:cNvSpPr/>
          <p:nvPr/>
        </p:nvSpPr>
        <p:spPr>
          <a:xfrm>
            <a:off x="11487881" y="274320"/>
            <a:ext cx="256032" cy="256032"/>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x</a:t>
            </a:r>
            <a:r>
              <a:rPr sz="1400" b="0">
                <a:solidFill>
                  <a:srgbClr val="1C2430"/>
                </a:solidFill>
                <a:latin typeface="Calibri"/>
              </a:rPr>
              <a:t> is the maze · </a:t>
            </a:r>
            <a:r>
              <a:rPr sz="1400" b="1">
                <a:solidFill>
                  <a:srgbClr val="1C2430"/>
                </a:solidFill>
                <a:latin typeface="Calibri"/>
              </a:rPr>
              <a:t>y</a:t>
            </a:r>
            <a:r>
              <a:rPr sz="1400" b="0">
                <a:solidFill>
                  <a:srgbClr val="1C2430"/>
                </a:solidFill>
                <a:latin typeface="Calibri"/>
              </a:rPr>
              <a:t> is the pencil line · </a:t>
            </a:r>
            <a:r>
              <a:rPr sz="1400" b="1">
                <a:solidFill>
                  <a:srgbClr val="1C2430"/>
                </a:solidFill>
                <a:latin typeface="Calibri"/>
              </a:rPr>
              <a:t>z</a:t>
            </a:r>
            <a:r>
              <a:rPr sz="1400" b="0">
                <a:solidFill>
                  <a:srgbClr val="1C2430"/>
                </a:solidFill>
                <a:latin typeface="Calibri"/>
              </a:rPr>
              <a:t> is what you worked out but did not draw · </a:t>
            </a:r>
            <a:r>
              <a:rPr sz="1400" b="1">
                <a:solidFill>
                  <a:srgbClr val="1C2430"/>
                </a:solidFill>
                <a:latin typeface="Calibri"/>
              </a:rPr>
              <a:t>f</a:t>
            </a:r>
            <a:r>
              <a:rPr sz="1400" b="0">
                <a:solidFill>
                  <a:srgbClr val="1C2430"/>
                </a:solidFill>
                <a:latin typeface="Calibri"/>
              </a:rPr>
              <a:t> is you — and f is the only thing with any weights in it.</a:t>
            </a:r>
          </a:p>
        </p:txBody>
      </p:sp>
      <p:pic>
        <p:nvPicPr>
          <p:cNvPr id="8" name="Picture 7" descr="fig19_trm_maze.png"/>
          <p:cNvPicPr>
            <a:picLocks noChangeAspect="1"/>
          </p:cNvPicPr>
          <p:nvPr/>
        </p:nvPicPr>
        <p:blipFill>
          <a:blip r:embed="rId2"/>
          <a:stretch>
            <a:fillRect/>
          </a:stretch>
        </p:blipFill>
        <p:spPr>
          <a:xfrm>
            <a:off x="619250" y="713232"/>
            <a:ext cx="10953469" cy="4950968"/>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WHY IT IMPROVES</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The model is </a:t>
            </a:r>
            <a:r>
              <a:rPr sz="1400" b="1">
                <a:solidFill>
                  <a:srgbClr val="1C2430"/>
                </a:solidFill>
                <a:latin typeface="Calibri"/>
              </a:rPr>
              <a:t>never</a:t>
            </a:r>
            <a:r>
              <a:rPr sz="1400" b="0">
                <a:solidFill>
                  <a:srgbClr val="1C2430"/>
                </a:solidFill>
                <a:latin typeface="Calibri"/>
              </a:rPr>
              <a:t> asked "solve this". It is asked "here is a wrong answer — make it less wrong". That is why a tiny network is enough.</a:t>
            </a:r>
          </a:p>
        </p:txBody>
      </p:sp>
      <p:pic>
        <p:nvPicPr>
          <p:cNvPr id="7" name="Picture 6" descr="fig20_trm_maze_refine.png"/>
          <p:cNvPicPr>
            <a:picLocks noChangeAspect="1"/>
          </p:cNvPicPr>
          <p:nvPr/>
        </p:nvPicPr>
        <p:blipFill>
          <a:blip r:embed="rId2"/>
          <a:stretch>
            <a:fillRect/>
          </a:stretch>
        </p:blipFill>
        <p:spPr>
          <a:xfrm>
            <a:off x="429768" y="723911"/>
            <a:ext cx="11332433" cy="492960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TWO THINGS IT CARRIES</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87.4 % is your reference number</a:t>
            </a:r>
            <a:r>
              <a:rPr sz="1400" b="0">
                <a:solidFill>
                  <a:srgbClr val="1C2430"/>
                </a:solidFill>
                <a:latin typeface="Calibri"/>
              </a:rPr>
              <a:t> for the rest of Part 3. Every table from here is the same model with one thing put back — so just watch whether the number drops.</a:t>
            </a:r>
          </a:p>
        </p:txBody>
      </p:sp>
      <p:pic>
        <p:nvPicPr>
          <p:cNvPr id="7" name="Picture 6" descr="fig27_y_and_z.png"/>
          <p:cNvPicPr>
            <a:picLocks noChangeAspect="1"/>
          </p:cNvPicPr>
          <p:nvPr/>
        </p:nvPicPr>
        <p:blipFill>
          <a:blip r:embed="rId2"/>
          <a:stretch>
            <a:fillRect/>
          </a:stretch>
        </p:blipFill>
        <p:spPr>
          <a:xfrm>
            <a:off x="501670" y="713232"/>
            <a:ext cx="11188628" cy="495096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(6)</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SAME THING, PRECISELY</a:t>
            </a:r>
          </a:p>
        </p:txBody>
      </p:sp>
      <p:sp>
        <p:nvSpPr>
          <p:cNvPr id="4" name="5-Point Star 3"/>
          <p:cNvSpPr/>
          <p:nvPr/>
        </p:nvSpPr>
        <p:spPr>
          <a:xfrm>
            <a:off x="11487881" y="274320"/>
            <a:ext cx="256032" cy="256032"/>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One shared network: </a:t>
            </a:r>
            <a:r>
              <a:rPr sz="1400" b="1">
                <a:solidFill>
                  <a:srgbClr val="1C2430"/>
                </a:solidFill>
                <a:latin typeface="Calibri"/>
              </a:rPr>
              <a:t>87.4 % at 5 M parameters.</a:t>
            </a:r>
            <a:r>
              <a:rPr sz="1400" b="0">
                <a:solidFill>
                  <a:srgbClr val="1C2430"/>
                </a:solidFill>
                <a:latin typeface="Calibri"/>
              </a:rPr>
              <a:t> Two separate ones: </a:t>
            </a:r>
            <a:r>
              <a:rPr sz="1400" b="1">
                <a:solidFill>
                  <a:srgbClr val="1C2430"/>
                </a:solidFill>
                <a:latin typeface="Calibri"/>
              </a:rPr>
              <a:t>82.4 % at 10 M.</a:t>
            </a:r>
            <a:r>
              <a:rPr sz="1400" b="0">
                <a:solidFill>
                  <a:srgbClr val="1C2430"/>
                </a:solidFill>
                <a:latin typeface="Calibri"/>
              </a:rPr>
              <a:t> Half the size and five points better.</a:t>
            </a:r>
          </a:p>
        </p:txBody>
      </p:sp>
      <p:pic>
        <p:nvPicPr>
          <p:cNvPr id="8" name="Picture 7" descr="fig28_code.png"/>
          <p:cNvPicPr>
            <a:picLocks noChangeAspect="1"/>
          </p:cNvPicPr>
          <p:nvPr/>
        </p:nvPicPr>
        <p:blipFill>
          <a:blip r:embed="rId2"/>
          <a:stretch>
            <a:fillRect/>
          </a:stretch>
        </p:blipFill>
        <p:spPr>
          <a:xfrm>
            <a:off x="619250" y="713232"/>
            <a:ext cx="10953469" cy="4950968"/>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PAPER’S REAL RESULT</a:t>
            </a:r>
          </a:p>
        </p:txBody>
      </p:sp>
      <p:sp>
        <p:nvSpPr>
          <p:cNvPr id="4" name="5-Point Star 3"/>
          <p:cNvSpPr/>
          <p:nvPr/>
        </p:nvSpPr>
        <p:spPr>
          <a:xfrm>
            <a:off x="11487881" y="274320"/>
            <a:ext cx="256032" cy="256032"/>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31 points</a:t>
            </a:r>
            <a:r>
              <a:rPr sz="1400" b="0">
                <a:solidFill>
                  <a:srgbClr val="1C2430"/>
                </a:solidFill>
                <a:latin typeface="Calibri"/>
              </a:rPr>
              <a:t> — the largest single effect in the paper. And TRM’s version costs MORE memory than the alternative, not less.</a:t>
            </a:r>
          </a:p>
        </p:txBody>
      </p:sp>
      <p:pic>
        <p:nvPicPr>
          <p:cNvPr id="8" name="Picture 7" descr="fig10_nograd.png"/>
          <p:cNvPicPr>
            <a:picLocks noChangeAspect="1"/>
          </p:cNvPicPr>
          <p:nvPr/>
        </p:nvPicPr>
        <p:blipFill>
          <a:blip r:embed="rId2"/>
          <a:stretch>
            <a:fillRect/>
          </a:stretch>
        </p:blipFill>
        <p:spPr>
          <a:xfrm>
            <a:off x="429768" y="1117713"/>
            <a:ext cx="11332433" cy="4142004"/>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THE IDEA THAT LICENSES THE LAST ONE</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672 layers of effective depth, out of 2 layers of weights.</a:t>
            </a:r>
            <a:r>
              <a:rPr sz="1400" b="0">
                <a:solidFill>
                  <a:srgbClr val="1C2430"/>
                </a:solidFill>
                <a:latin typeface="Calibri"/>
              </a:rPr>
              <a:t> And deep supervision is what makes the no-grad rounds legitimate — you cannot take one without the other.</a:t>
            </a:r>
          </a:p>
        </p:txBody>
      </p:sp>
      <p:pic>
        <p:nvPicPr>
          <p:cNvPr id="7" name="Picture 6" descr="fig11_deep_supervision.png"/>
          <p:cNvPicPr>
            <a:picLocks noChangeAspect="1"/>
          </p:cNvPicPr>
          <p:nvPr/>
        </p:nvPicPr>
        <p:blipFill>
          <a:blip r:embed="rId2"/>
          <a:stretch>
            <a:fillRect/>
          </a:stretch>
        </p:blipFill>
        <p:spPr>
          <a:xfrm>
            <a:off x="429768" y="1117713"/>
            <a:ext cx="11332433" cy="4142004"/>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DOES IT WORK</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Quote this paper as "tiny model beats the frontier" and you will be corrected, and you will deserve it. </a:t>
            </a:r>
            <a:r>
              <a:rPr sz="1400" b="1">
                <a:solidFill>
                  <a:srgbClr val="1C2430"/>
                </a:solidFill>
                <a:latin typeface="Calibri"/>
              </a:rPr>
              <a:t>The abstract says "most LLMs" and means it.</a:t>
            </a:r>
          </a:p>
        </p:txBody>
      </p:sp>
      <p:pic>
        <p:nvPicPr>
          <p:cNvPr id="7" name="Picture 6" descr="fig29_trm_benchmarks.png"/>
          <p:cNvPicPr>
            <a:picLocks noChangeAspect="1"/>
          </p:cNvPicPr>
          <p:nvPr/>
        </p:nvPicPr>
        <p:blipFill>
          <a:blip r:embed="rId2"/>
          <a:stretch>
            <a:fillRect/>
          </a:stretch>
        </p:blipFill>
        <p:spPr>
          <a:xfrm>
            <a:off x="429768" y="789073"/>
            <a:ext cx="11332433" cy="4799285"/>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(3)</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3 · WHAT TO CARRY FORWARD</a:t>
            </a:r>
          </a:p>
        </p:txBody>
      </p:sp>
      <p:sp>
        <p:nvSpPr>
          <p:cNvPr id="4" name="Rectangle 3"/>
          <p:cNvSpPr/>
          <p:nvPr/>
        </p:nvSpPr>
        <p:spPr>
          <a:xfrm>
            <a:off x="429768" y="5888736"/>
            <a:ext cx="11332433" cy="566928"/>
          </a:xfrm>
          <a:prstGeom prst="rect">
            <a:avLst/>
          </a:prstGeom>
          <a:solidFill>
            <a:srgbClr val="F2F4F7"/>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550" b="0">
                <a:solidFill>
                  <a:srgbClr val="1C2430"/>
                </a:solidFill>
                <a:latin typeface="Calibri"/>
              </a:rPr>
              <a:t>Everything from here is ours again.</a:t>
            </a:r>
          </a:p>
        </p:txBody>
      </p:sp>
      <p:pic>
        <p:nvPicPr>
          <p:cNvPr id="7" name="Picture 6" descr="fig30_trm_carry.png"/>
          <p:cNvPicPr>
            <a:picLocks noChangeAspect="1"/>
          </p:cNvPicPr>
          <p:nvPr/>
        </p:nvPicPr>
        <p:blipFill>
          <a:blip r:embed="rId2"/>
          <a:stretch>
            <a:fillRect/>
          </a:stretch>
        </p:blipFill>
        <p:spPr>
          <a:xfrm>
            <a:off x="429768" y="1219802"/>
            <a:ext cx="11332433" cy="403434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(8)</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C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6A5A92"/>
                </a:solidFill>
                <a:latin typeface="Calibri"/>
              </a:rPr>
              <a:t>PART 4</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 MedMamba-SS-TRM</a:t>
            </a:r>
          </a:p>
        </p:txBody>
      </p:sp>
      <p:sp>
        <p:nvSpPr>
          <p:cNvPr id="6" name="Rounded Rectangle 5"/>
          <p:cNvSpPr/>
          <p:nvPr/>
        </p:nvSpPr>
        <p:spPr>
          <a:xfrm>
            <a:off x="1188720" y="3493008"/>
            <a:ext cx="2011680" cy="32004"/>
          </a:xfrm>
          <a:prstGeom prst="round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0">
                <a:solidFill>
                  <a:srgbClr val="5A6472"/>
                </a:solidFill>
                <a:latin typeface="Calibri"/>
              </a:rPr>
              <a:t>The recursion is TRM’s. Now we put it inside MedMamba-SS.</a:t>
            </a:r>
          </a:p>
          <a:p>
            <a:pPr algn="l">
              <a:spcAft>
                <a:spcPts val="800"/>
              </a:spcAft>
            </a:pPr>
            <a:r>
              <a:rPr sz="1600" b="0">
                <a:solidFill>
                  <a:srgbClr val="7B8794"/>
                </a:solidFill>
                <a:latin typeface="Calibri"/>
              </a:rPr>
              <a:t>Six slides: where it lands, what x/y/z become, the numbers, our five deviations, the finished model, and who wrote what.</a:t>
            </a:r>
          </a:p>
        </p:txBody>
      </p:sp>
      <p:sp>
        <p:nvSpPr>
          <p:cNvPr id="8" name="Rectangle 7"/>
          <p:cNvSpPr/>
          <p:nvPr/>
        </p:nvSpPr>
        <p:spPr>
          <a:xfrm>
            <a:off x="429768"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0">
                <a:solidFill>
                  <a:srgbClr val="A6ADB6"/>
                </a:solidFill>
                <a:latin typeface="Calibri"/>
              </a:rPr>
              <a:t>1  MedMamba</a:t>
            </a:r>
          </a:p>
        </p:txBody>
      </p:sp>
      <p:sp>
        <p:nvSpPr>
          <p:cNvPr id="10" name="Rectangle 9"/>
          <p:cNvSpPr/>
          <p:nvPr/>
        </p:nvSpPr>
        <p:spPr>
          <a:xfrm>
            <a:off x="272185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0">
                <a:solidFill>
                  <a:srgbClr val="A6ADB6"/>
                </a:solidFill>
                <a:latin typeface="Calibri"/>
              </a:rPr>
              <a:t>2  → MedMamba-SS</a:t>
            </a:r>
          </a:p>
        </p:txBody>
      </p:sp>
      <p:sp>
        <p:nvSpPr>
          <p:cNvPr id="12" name="Rectangle 11"/>
          <p:cNvSpPr/>
          <p:nvPr/>
        </p:nvSpPr>
        <p:spPr>
          <a:xfrm>
            <a:off x="501394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0">
                <a:solidFill>
                  <a:srgbClr val="A6ADB6"/>
                </a:solidFill>
                <a:latin typeface="Calibri"/>
              </a:rPr>
              <a:t>3  TRM</a:t>
            </a:r>
          </a:p>
        </p:txBody>
      </p:sp>
      <p:sp>
        <p:nvSpPr>
          <p:cNvPr id="14" name="Rectangle 13"/>
          <p:cNvSpPr/>
          <p:nvPr/>
        </p:nvSpPr>
        <p:spPr>
          <a:xfrm>
            <a:off x="7306037" y="5760720"/>
            <a:ext cx="2164073" cy="457200"/>
          </a:xfrm>
          <a:prstGeom prst="rect">
            <a:avLst/>
          </a:prstGeom>
          <a:solidFill>
            <a:srgbClr val="ECE9F3"/>
          </a:solidFill>
          <a:ln w="17780">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1">
                <a:solidFill>
                  <a:srgbClr val="1C2430"/>
                </a:solidFill>
                <a:latin typeface="Calibri"/>
              </a:rPr>
              <a:t>4  → MedMamba-SS-TRM</a:t>
            </a:r>
          </a:p>
        </p:txBody>
      </p:sp>
      <p:sp>
        <p:nvSpPr>
          <p:cNvPr id="16" name="Rectangle 15"/>
          <p:cNvSpPr/>
          <p:nvPr/>
        </p:nvSpPr>
        <p:spPr>
          <a:xfrm>
            <a:off x="959812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0">
                <a:solidFill>
                  <a:srgbClr val="A6ADB6"/>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4 · WHERE TRM LANDS</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One of the three parts is replaced. The spectral pathway and the head are reused </a:t>
            </a:r>
            <a:r>
              <a:rPr sz="1400" b="1">
                <a:solidFill>
                  <a:srgbClr val="1C2430"/>
                </a:solidFill>
                <a:latin typeface="Calibri"/>
              </a:rPr>
              <a:t>byte for byte</a:t>
            </a:r>
            <a:r>
              <a:rPr sz="1400" b="0">
                <a:solidFill>
                  <a:srgbClr val="1C2430"/>
                </a:solidFill>
                <a:latin typeface="Calibri"/>
              </a:rPr>
              <a:t> — which is the only reason the comparison is one flag.</a:t>
            </a:r>
          </a:p>
        </p:txBody>
      </p:sp>
      <p:pic>
        <p:nvPicPr>
          <p:cNvPr id="7" name="Picture 6" descr="fig36_integration.png"/>
          <p:cNvPicPr>
            <a:picLocks noChangeAspect="1"/>
          </p:cNvPicPr>
          <p:nvPr/>
        </p:nvPicPr>
        <p:blipFill>
          <a:blip r:embed="rId2"/>
          <a:stretch>
            <a:fillRect/>
          </a:stretch>
        </p:blipFill>
        <p:spPr>
          <a:xfrm>
            <a:off x="429768" y="735244"/>
            <a:ext cx="11332433" cy="4906943"/>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4 · WHAT X, Y AND Z ACTUALLY ARE HERE</a:t>
            </a:r>
          </a:p>
        </p:txBody>
      </p:sp>
      <p:sp>
        <p:nvSpPr>
          <p:cNvPr id="4" name="5-Point Star 3"/>
          <p:cNvSpPr/>
          <p:nvPr/>
        </p:nvSpPr>
        <p:spPr>
          <a:xfrm>
            <a:off x="11487881" y="274320"/>
            <a:ext cx="256032" cy="256032"/>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350" b="0">
                <a:solidFill>
                  <a:srgbClr val="1C2430"/>
                </a:solidFill>
                <a:latin typeface="Consolas"/>
              </a:rPr>
              <a:t>x</a:t>
            </a:r>
            <a:r>
              <a:rPr sz="1400" b="0">
                <a:solidFill>
                  <a:srgbClr val="1C2430"/>
                </a:solidFill>
                <a:latin typeface="Calibri"/>
              </a:rPr>
              <a:t> is the spectral summary, computed </a:t>
            </a:r>
            <a:r>
              <a:rPr sz="1400" b="1">
                <a:solidFill>
                  <a:srgbClr val="1C2430"/>
                </a:solidFill>
                <a:latin typeface="Calibri"/>
              </a:rPr>
              <a:t>once</a:t>
            </a:r>
            <a:r>
              <a:rPr sz="1400" b="0">
                <a:solidFill>
                  <a:srgbClr val="1C2430"/>
                </a:solidFill>
                <a:latin typeface="Calibri"/>
              </a:rPr>
              <a:t> and held fixed. </a:t>
            </a:r>
            <a:r>
              <a:rPr sz="1350" b="0">
                <a:solidFill>
                  <a:srgbClr val="1C2430"/>
                </a:solidFill>
                <a:latin typeface="Consolas"/>
              </a:rPr>
              <a:t>y</a:t>
            </a:r>
            <a:r>
              <a:rPr sz="1400" b="0">
                <a:solidFill>
                  <a:srgbClr val="1C2430"/>
                </a:solidFill>
                <a:latin typeface="Calibri"/>
              </a:rPr>
              <a:t> is the grid the head reads. </a:t>
            </a:r>
            <a:r>
              <a:rPr sz="1350" b="0">
                <a:solidFill>
                  <a:srgbClr val="1C2430"/>
                </a:solidFill>
                <a:latin typeface="Consolas"/>
              </a:rPr>
              <a:t>z</a:t>
            </a:r>
            <a:r>
              <a:rPr sz="1400" b="0">
                <a:solidFill>
                  <a:srgbClr val="1C2430"/>
                </a:solidFill>
                <a:latin typeface="Calibri"/>
              </a:rPr>
              <a:t> is the working. </a:t>
            </a:r>
            <a:r>
              <a:rPr sz="1350" b="0">
                <a:solidFill>
                  <a:srgbClr val="1C2430"/>
                </a:solidFill>
                <a:latin typeface="Consolas"/>
              </a:rPr>
              <a:t>f</a:t>
            </a:r>
            <a:r>
              <a:rPr sz="1400" b="0">
                <a:solidFill>
                  <a:srgbClr val="1C2430"/>
                </a:solidFill>
                <a:latin typeface="Calibri"/>
              </a:rPr>
              <a:t> is 398,592 parameters, and it is the whole core.</a:t>
            </a:r>
          </a:p>
        </p:txBody>
      </p:sp>
      <p:pic>
        <p:nvPicPr>
          <p:cNvPr id="8" name="Picture 7" descr="fig37_trm_mapping.png"/>
          <p:cNvPicPr>
            <a:picLocks noChangeAspect="1"/>
          </p:cNvPicPr>
          <p:nvPr/>
        </p:nvPicPr>
        <p:blipFill>
          <a:blip r:embed="rId2"/>
          <a:stretch>
            <a:fillRect/>
          </a:stretch>
        </p:blipFill>
        <p:spPr>
          <a:xfrm>
            <a:off x="949448" y="713232"/>
            <a:ext cx="10293072" cy="4950968"/>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4 · THE SWAP</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12 blocks stored once, versus 2 blocks stored once and called 126 times</a:t>
            </a:r>
            <a:r>
              <a:rPr sz="1400" b="0">
                <a:solidFill>
                  <a:srgbClr val="1C2430"/>
                </a:solidFill>
                <a:latin typeface="Calibri"/>
              </a:rPr>
              <a:t> — behind an identical interface. One config flag picks which.</a:t>
            </a:r>
          </a:p>
        </p:txBody>
      </p:sp>
      <p:pic>
        <p:nvPicPr>
          <p:cNvPr id="7" name="Picture 6" descr="fig13_two_backbones.png"/>
          <p:cNvPicPr>
            <a:picLocks noChangeAspect="1"/>
          </p:cNvPicPr>
          <p:nvPr/>
        </p:nvPicPr>
        <p:blipFill>
          <a:blip r:embed="rId2"/>
          <a:stretch>
            <a:fillRect/>
          </a:stretch>
        </p:blipFill>
        <p:spPr>
          <a:xfrm>
            <a:off x="429768" y="1007222"/>
            <a:ext cx="11332433" cy="4362986"/>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C2703A"/>
                </a:solidFill>
                <a:latin typeface="Calibri"/>
              </a:rPr>
              <a:t>PART 4 · WHAT WE CHANGED, AND WHY</a:t>
            </a:r>
          </a:p>
        </p:txBody>
      </p:sp>
      <p:sp>
        <p:nvSpPr>
          <p:cNvPr id="4" name="Rectangle 3"/>
          <p:cNvSpPr/>
          <p:nvPr/>
        </p:nvSpPr>
        <p:spPr>
          <a:xfrm>
            <a:off x="429768" y="5888736"/>
            <a:ext cx="11332433" cy="566928"/>
          </a:xfrm>
          <a:prstGeom prst="rect">
            <a:avLst/>
          </a:prstGeom>
          <a:solidFill>
            <a:srgbClr val="FBEEE3"/>
          </a:solidFill>
          <a:ln w="15875">
            <a:solidFill>
              <a:srgbClr val="C27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888736"/>
            <a:ext cx="68580" cy="566928"/>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888736"/>
            <a:ext cx="10829513" cy="566928"/>
          </a:xfrm>
          <a:prstGeom prst="rect">
            <a:avLst/>
          </a:prstGeom>
          <a:noFill/>
        </p:spPr>
        <p:txBody>
          <a:bodyPr wrap="square" anchor="ctr" lIns="0" rIns="0" tIns="0" bIns="0">
            <a:spAutoFit/>
          </a:bodyPr>
          <a:lstStyle/>
          <a:p>
            <a:pPr algn="l"/>
            <a:r>
              <a:rPr sz="1450" b="0">
                <a:solidFill>
                  <a:srgbClr val="1C2430"/>
                </a:solidFill>
                <a:latin typeface="Calibri"/>
              </a:rPr>
              <a:t>We implemented TRM’s </a:t>
            </a:r>
            <a:r>
              <a:rPr sz="1450" b="1">
                <a:solidFill>
                  <a:srgbClr val="1C2430"/>
                </a:solidFill>
                <a:latin typeface="Calibri"/>
              </a:rPr>
              <a:t>recursion</a:t>
            </a:r>
            <a:r>
              <a:rPr sz="1450" b="0">
                <a:solidFill>
                  <a:srgbClr val="1C2430"/>
                </a:solidFill>
                <a:latin typeface="Calibri"/>
              </a:rPr>
              <a:t>, not TRM’s </a:t>
            </a:r>
            <a:r>
              <a:rPr sz="1450" b="1">
                <a:solidFill>
                  <a:srgbClr val="1C2430"/>
                </a:solidFill>
                <a:latin typeface="Calibri"/>
              </a:rPr>
              <a:t>blocks</a:t>
            </a:r>
            <a:r>
              <a:rPr sz="1450" b="0">
                <a:solidFill>
                  <a:srgbClr val="1C2430"/>
                </a:solidFill>
                <a:latin typeface="Calibri"/>
              </a:rPr>
              <a:t>. They use attention; every real run of ours uses a convolution.</a:t>
            </a:r>
          </a:p>
        </p:txBody>
      </p:sp>
      <p:pic>
        <p:nvPicPr>
          <p:cNvPr id="7" name="Picture 6" descr="fig31_what_we_changed.png"/>
          <p:cNvPicPr>
            <a:picLocks noChangeAspect="1"/>
          </p:cNvPicPr>
          <p:nvPr/>
        </p:nvPicPr>
        <p:blipFill>
          <a:blip r:embed="rId2"/>
          <a:stretch>
            <a:fillRect/>
          </a:stretch>
        </p:blipFill>
        <p:spPr>
          <a:xfrm>
            <a:off x="512480" y="713232"/>
            <a:ext cx="11167008" cy="504748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4 · THE FINISHED MODEL</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Notice what is </a:t>
            </a:r>
            <a:r>
              <a:rPr sz="1400" b="1">
                <a:solidFill>
                  <a:srgbClr val="1C2430"/>
                </a:solidFill>
                <a:latin typeface="Calibri"/>
              </a:rPr>
              <a:t>missing</a:t>
            </a:r>
            <a:r>
              <a:rPr sz="1400" b="0">
                <a:solidFill>
                  <a:srgbClr val="1C2430"/>
                </a:solidFill>
                <a:latin typeface="Calibri"/>
              </a:rPr>
              <a:t>: no stages, no patch merging, no downsampling. Width 128 from the stem all the way to the head.</a:t>
            </a:r>
          </a:p>
        </p:txBody>
      </p:sp>
      <p:pic>
        <p:nvPicPr>
          <p:cNvPr id="7" name="Picture 6" descr="fig32_pipeline_simple.png"/>
          <p:cNvPicPr>
            <a:picLocks noChangeAspect="1"/>
          </p:cNvPicPr>
          <p:nvPr/>
        </p:nvPicPr>
        <p:blipFill>
          <a:blip r:embed="rId2"/>
          <a:stretch>
            <a:fillRect/>
          </a:stretch>
        </p:blipFill>
        <p:spPr>
          <a:xfrm>
            <a:off x="429768" y="1117713"/>
            <a:ext cx="11332433" cy="4142004"/>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PART 4 · WHERE EACH PIECE CAME FROM</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The start states are </a:t>
            </a:r>
            <a:r>
              <a:rPr sz="1400" b="1">
                <a:solidFill>
                  <a:srgbClr val="1C2430"/>
                </a:solidFill>
                <a:latin typeface="Calibri"/>
              </a:rPr>
              <a:t>buffers, not parameters</a:t>
            </a:r>
            <a:r>
              <a:rPr sz="1400" b="0">
                <a:solidFill>
                  <a:srgbClr val="1C2430"/>
                </a:solidFill>
                <a:latin typeface="Calibri"/>
              </a:rPr>
              <a:t> — because the first round that reads them is inside the no-grad block. Make them parameters and they silently never train.</a:t>
            </a:r>
          </a:p>
        </p:txBody>
      </p:sp>
      <p:pic>
        <p:nvPicPr>
          <p:cNvPr id="7" name="Picture 6" descr="fig16_lineage.png"/>
          <p:cNvPicPr>
            <a:picLocks noChangeAspect="1"/>
          </p:cNvPicPr>
          <p:nvPr/>
        </p:nvPicPr>
        <p:blipFill>
          <a:blip r:embed="rId2"/>
          <a:stretch>
            <a:fillRect/>
          </a:stretch>
        </p:blipFill>
        <p:spPr>
          <a:xfrm>
            <a:off x="429768" y="723911"/>
            <a:ext cx="11332433" cy="492960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(2)</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74320" cy="6858000"/>
          </a:xfrm>
          <a:prstGeom prst="rect">
            <a:avLst/>
          </a:prstGeom>
          <a:solidFill>
            <a:srgbClr val="E8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9814529" cy="640080"/>
          </a:xfrm>
          <a:prstGeom prst="rect">
            <a:avLst/>
          </a:prstGeom>
          <a:noFill/>
        </p:spPr>
        <p:txBody>
          <a:bodyPr wrap="square" anchor="t" lIns="0" rIns="0" tIns="0" bIns="0">
            <a:spAutoFit/>
          </a:bodyPr>
          <a:lstStyle/>
          <a:p>
            <a:pPr algn="l"/>
            <a:r>
              <a:rPr sz="1700" b="1">
                <a:solidFill>
                  <a:srgbClr val="4E8C6A"/>
                </a:solidFill>
                <a:latin typeface="Calibri"/>
              </a:rPr>
              <a:t>PART 5</a:t>
            </a:r>
          </a:p>
        </p:txBody>
      </p:sp>
      <p:sp>
        <p:nvSpPr>
          <p:cNvPr id="5" name="TextBox 4"/>
          <p:cNvSpPr txBox="1"/>
          <p:nvPr/>
        </p:nvSpPr>
        <p:spPr>
          <a:xfrm>
            <a:off x="1188720" y="2304288"/>
            <a:ext cx="9814529" cy="1051560"/>
          </a:xfrm>
          <a:prstGeom prst="rect">
            <a:avLst/>
          </a:prstGeom>
          <a:noFill/>
        </p:spPr>
        <p:txBody>
          <a:bodyPr wrap="square" anchor="t" lIns="0" rIns="0" tIns="0" bIns="0">
            <a:spAutoFit/>
          </a:bodyPr>
          <a:lstStyle/>
          <a:p>
            <a:pPr algn="l"/>
            <a:r>
              <a:rPr sz="4400" b="1">
                <a:solidFill>
                  <a:srgbClr val="1C2430"/>
                </a:solidFill>
                <a:latin typeface="Calibri"/>
              </a:rPr>
              <a:t>Results</a:t>
            </a:r>
          </a:p>
        </p:txBody>
      </p:sp>
      <p:sp>
        <p:nvSpPr>
          <p:cNvPr id="6" name="Rounded Rectangle 5"/>
          <p:cNvSpPr/>
          <p:nvPr/>
        </p:nvSpPr>
        <p:spPr>
          <a:xfrm>
            <a:off x="1188720" y="3493008"/>
            <a:ext cx="2011680" cy="32004"/>
          </a:xfrm>
          <a:prstGeom prst="round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767328"/>
            <a:ext cx="9083009" cy="1737360"/>
          </a:xfrm>
          <a:prstGeom prst="rect">
            <a:avLst/>
          </a:prstGeom>
          <a:noFill/>
        </p:spPr>
        <p:txBody>
          <a:bodyPr wrap="square" anchor="t" lIns="0" rIns="0" tIns="0" bIns="0">
            <a:spAutoFit/>
          </a:bodyPr>
          <a:lstStyle/>
          <a:p>
            <a:pPr algn="l">
              <a:spcAft>
                <a:spcPts val="800"/>
              </a:spcAft>
            </a:pPr>
            <a:r>
              <a:rPr sz="1600" b="0">
                <a:solidFill>
                  <a:srgbClr val="5A6472"/>
                </a:solidFill>
                <a:latin typeface="Calibri"/>
              </a:rPr>
              <a:t>Three results and one honest cost.</a:t>
            </a:r>
          </a:p>
          <a:p>
            <a:pPr algn="l">
              <a:spcAft>
                <a:spcPts val="800"/>
              </a:spcAft>
            </a:pPr>
            <a:r>
              <a:rPr sz="1600" b="0">
                <a:solidFill>
                  <a:srgbClr val="7B8794"/>
                </a:solidFill>
                <a:latin typeface="Calibri"/>
              </a:rPr>
              <a:t>Everything here is a </a:t>
            </a:r>
            <a:r>
              <a:rPr sz="1600" b="1">
                <a:solidFill>
                  <a:srgbClr val="7B8794"/>
                </a:solidFill>
                <a:latin typeface="Calibri"/>
              </a:rPr>
              <a:t>single seed</a:t>
            </a:r>
            <a:r>
              <a:rPr sz="1600" b="0">
                <a:solidFill>
                  <a:srgbClr val="7B8794"/>
                </a:solidFill>
                <a:latin typeface="Calibri"/>
              </a:rPr>
              <a:t> and </a:t>
            </a:r>
            <a:r>
              <a:rPr sz="1600" b="1">
                <a:solidFill>
                  <a:srgbClr val="7B8794"/>
                </a:solidFill>
                <a:latin typeface="Calibri"/>
              </a:rPr>
              <a:t>five held-out patients</a:t>
            </a:r>
            <a:r>
              <a:rPr sz="1600" b="0">
                <a:solidFill>
                  <a:srgbClr val="7B8794"/>
                </a:solidFill>
                <a:latin typeface="Calibri"/>
              </a:rPr>
              <a:t>. I will say that again when it matters.</a:t>
            </a:r>
          </a:p>
        </p:txBody>
      </p:sp>
      <p:sp>
        <p:nvSpPr>
          <p:cNvPr id="8" name="Rectangle 7"/>
          <p:cNvSpPr/>
          <p:nvPr/>
        </p:nvSpPr>
        <p:spPr>
          <a:xfrm>
            <a:off x="429768"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7784" y="5760720"/>
            <a:ext cx="1908041" cy="457200"/>
          </a:xfrm>
          <a:prstGeom prst="rect">
            <a:avLst/>
          </a:prstGeom>
          <a:noFill/>
        </p:spPr>
        <p:txBody>
          <a:bodyPr wrap="square" anchor="ctr" lIns="0" rIns="0" tIns="0" bIns="0">
            <a:spAutoFit/>
          </a:bodyPr>
          <a:lstStyle/>
          <a:p>
            <a:r>
              <a:rPr sz="1150" b="0">
                <a:solidFill>
                  <a:srgbClr val="A6ADB6"/>
                </a:solidFill>
                <a:latin typeface="Calibri"/>
              </a:rPr>
              <a:t>1  MedMamba</a:t>
            </a:r>
          </a:p>
        </p:txBody>
      </p:sp>
      <p:sp>
        <p:nvSpPr>
          <p:cNvPr id="10" name="Rectangle 9"/>
          <p:cNvSpPr/>
          <p:nvPr/>
        </p:nvSpPr>
        <p:spPr>
          <a:xfrm>
            <a:off x="272185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9873" y="5760720"/>
            <a:ext cx="1908041" cy="457200"/>
          </a:xfrm>
          <a:prstGeom prst="rect">
            <a:avLst/>
          </a:prstGeom>
          <a:noFill/>
        </p:spPr>
        <p:txBody>
          <a:bodyPr wrap="square" anchor="ctr" lIns="0" rIns="0" tIns="0" bIns="0">
            <a:spAutoFit/>
          </a:bodyPr>
          <a:lstStyle/>
          <a:p>
            <a:r>
              <a:rPr sz="1150" b="0">
                <a:solidFill>
                  <a:srgbClr val="A6ADB6"/>
                </a:solidFill>
                <a:latin typeface="Calibri"/>
              </a:rPr>
              <a:t>2  → MedMamba-SS</a:t>
            </a:r>
          </a:p>
        </p:txBody>
      </p:sp>
      <p:sp>
        <p:nvSpPr>
          <p:cNvPr id="12" name="Rectangle 11"/>
          <p:cNvSpPr/>
          <p:nvPr/>
        </p:nvSpPr>
        <p:spPr>
          <a:xfrm>
            <a:off x="501394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1963" y="5760720"/>
            <a:ext cx="1908041" cy="457200"/>
          </a:xfrm>
          <a:prstGeom prst="rect">
            <a:avLst/>
          </a:prstGeom>
          <a:noFill/>
        </p:spPr>
        <p:txBody>
          <a:bodyPr wrap="square" anchor="ctr" lIns="0" rIns="0" tIns="0" bIns="0">
            <a:spAutoFit/>
          </a:bodyPr>
          <a:lstStyle/>
          <a:p>
            <a:r>
              <a:rPr sz="1150" b="0">
                <a:solidFill>
                  <a:srgbClr val="A6ADB6"/>
                </a:solidFill>
                <a:latin typeface="Calibri"/>
              </a:rPr>
              <a:t>3  TRM</a:t>
            </a:r>
          </a:p>
        </p:txBody>
      </p:sp>
      <p:sp>
        <p:nvSpPr>
          <p:cNvPr id="14" name="Rectangle 13"/>
          <p:cNvSpPr/>
          <p:nvPr/>
        </p:nvSpPr>
        <p:spPr>
          <a:xfrm>
            <a:off x="7306037" y="5760720"/>
            <a:ext cx="2164073" cy="457200"/>
          </a:xfrm>
          <a:prstGeom prst="rect">
            <a:avLst/>
          </a:prstGeom>
          <a:solidFill>
            <a:srgbClr val="FFFFFF"/>
          </a:solidFill>
          <a:ln w="12700">
            <a:solidFill>
              <a:srgbClr val="DF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34053" y="5760720"/>
            <a:ext cx="1908041" cy="457200"/>
          </a:xfrm>
          <a:prstGeom prst="rect">
            <a:avLst/>
          </a:prstGeom>
          <a:noFill/>
        </p:spPr>
        <p:txBody>
          <a:bodyPr wrap="square" anchor="ctr" lIns="0" rIns="0" tIns="0" bIns="0">
            <a:spAutoFit/>
          </a:bodyPr>
          <a:lstStyle/>
          <a:p>
            <a:r>
              <a:rPr sz="1150" b="0">
                <a:solidFill>
                  <a:srgbClr val="A6ADB6"/>
                </a:solidFill>
                <a:latin typeface="Calibri"/>
              </a:rPr>
              <a:t>4  → MedMamba-SS-TRM</a:t>
            </a:r>
          </a:p>
        </p:txBody>
      </p:sp>
      <p:sp>
        <p:nvSpPr>
          <p:cNvPr id="16" name="Rectangle 15"/>
          <p:cNvSpPr/>
          <p:nvPr/>
        </p:nvSpPr>
        <p:spPr>
          <a:xfrm>
            <a:off x="9598127" y="5760720"/>
            <a:ext cx="2164073" cy="457200"/>
          </a:xfrm>
          <a:prstGeom prst="rect">
            <a:avLst/>
          </a:prstGeom>
          <a:solidFill>
            <a:srgbClr val="E8F3ED"/>
          </a:solidFill>
          <a:ln w="17780">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26143" y="5760720"/>
            <a:ext cx="1908041" cy="457200"/>
          </a:xfrm>
          <a:prstGeom prst="rect">
            <a:avLst/>
          </a:prstGeom>
          <a:noFill/>
        </p:spPr>
        <p:txBody>
          <a:bodyPr wrap="square" anchor="ctr" lIns="0" rIns="0" tIns="0" bIns="0">
            <a:spAutoFit/>
          </a:bodyPr>
          <a:lstStyle/>
          <a:p>
            <a:r>
              <a:rPr sz="1150" b="1">
                <a:solidFill>
                  <a:srgbClr val="1C2430"/>
                </a:solidFill>
                <a:latin typeface="Calibri"/>
              </a:rPr>
              <a:t>5  Results</a:t>
            </a:r>
          </a:p>
        </p:txBody>
      </p:sp>
      <p:sp>
        <p:nvSpPr>
          <p:cNvPr id="18" name="TextBox 1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9" name="TextBox 1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4E8C6A"/>
                </a:solidFill>
                <a:latin typeface="Calibri"/>
              </a:rPr>
              <a:t>PART 5 · DOES THE SPECTRUM EARN ITS PLACE</a:t>
            </a:r>
          </a:p>
        </p:txBody>
      </p:sp>
      <p:sp>
        <p:nvSpPr>
          <p:cNvPr id="4" name="5-Point Star 3"/>
          <p:cNvSpPr/>
          <p:nvPr/>
        </p:nvSpPr>
        <p:spPr>
          <a:xfrm>
            <a:off x="11487881" y="274320"/>
            <a:ext cx="256032" cy="256032"/>
          </a:xfrm>
          <a:prstGeom prst="star5">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E8F3ED"/>
          </a:solidFill>
          <a:ln w="15875">
            <a:solidFill>
              <a:srgbClr val="4E8C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+15.0 points of balanced accuracy</a:t>
            </a:r>
            <a:r>
              <a:rPr sz="1400" b="0">
                <a:solidFill>
                  <a:srgbClr val="1C2430"/>
                </a:solidFill>
                <a:latin typeface="Calibri"/>
              </a:rPr>
              <a:t>, and essentially all of it is the healthy / DCIS boundary — the call that actually matters.</a:t>
            </a:r>
          </a:p>
        </p:txBody>
      </p:sp>
      <p:pic>
        <p:nvPicPr>
          <p:cNvPr id="8" name="Picture 7" descr="fig14_results.png"/>
          <p:cNvPicPr>
            <a:picLocks noChangeAspect="1"/>
          </p:cNvPicPr>
          <p:nvPr/>
        </p:nvPicPr>
        <p:blipFill>
          <a:blip r:embed="rId2"/>
          <a:stretch>
            <a:fillRect/>
          </a:stretch>
        </p:blipFill>
        <p:spPr>
          <a:xfrm>
            <a:off x="429768" y="845735"/>
            <a:ext cx="11332433" cy="4685961"/>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PART 5 · AGAINST THE BASELINE</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Leads </a:t>
            </a:r>
            <a:r>
              <a:rPr sz="1400" b="1">
                <a:solidFill>
                  <a:srgbClr val="1C2430"/>
                </a:solidFill>
                <a:latin typeface="Calibri"/>
              </a:rPr>
              <a:t>every aggregate metric</a:t>
            </a:r>
            <a:r>
              <a:rPr sz="1400" b="0">
                <a:solidFill>
                  <a:srgbClr val="1C2430"/>
                </a:solidFill>
                <a:latin typeface="Calibri"/>
              </a:rPr>
              <a:t> at an eighth of the parameters — but the two models trained on differently balanced splits, so read it as </a:t>
            </a:r>
            <a:r>
              <a:rPr sz="1400" b="1">
                <a:solidFill>
                  <a:srgbClr val="1C2430"/>
                </a:solidFill>
                <a:latin typeface="Calibri"/>
              </a:rPr>
              <a:t>indicative, not controlled</a:t>
            </a:r>
            <a:r>
              <a:rPr sz="1400" b="0">
                <a:solidFill>
                  <a:srgbClr val="1C2430"/>
                </a:solidFill>
                <a:latin typeface="Calibri"/>
              </a:rPr>
              <a:t>.</a:t>
            </a:r>
          </a:p>
        </p:txBody>
      </p:sp>
      <p:pic>
        <p:nvPicPr>
          <p:cNvPr id="7" name="Picture 6" descr="fig33_vs_medmamba.png"/>
          <p:cNvPicPr>
            <a:picLocks noChangeAspect="1"/>
          </p:cNvPicPr>
          <p:nvPr/>
        </p:nvPicPr>
        <p:blipFill>
          <a:blip r:embed="rId2"/>
          <a:stretch>
            <a:fillRect/>
          </a:stretch>
        </p:blipFill>
        <p:spPr>
          <a:xfrm>
            <a:off x="1069621" y="713232"/>
            <a:ext cx="10052726" cy="495096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cuttable (4)</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PART 5 · THE CATCH</a:t>
            </a:r>
          </a:p>
        </p:txBody>
      </p:sp>
      <p:sp>
        <p:nvSpPr>
          <p:cNvPr id="4" name="5-Point Star 3"/>
          <p:cNvSpPr/>
          <p:nvPr/>
        </p:nvSpPr>
        <p:spPr>
          <a:xfrm>
            <a:off x="11487881" y="274320"/>
            <a:ext cx="256032" cy="256032"/>
          </a:xfrm>
          <a:prstGeom prst="star5">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Parameter count in a recursive model measures storage, and is close to an inverse indicator of compute.</a:t>
            </a:r>
            <a:r>
              <a:rPr sz="1400" b="0">
                <a:solidFill>
                  <a:srgbClr val="1C2430"/>
                </a:solidFill>
                <a:latin typeface="Calibri"/>
              </a:rPr>
              <a:t> This is the most transferable result in the project.</a:t>
            </a:r>
          </a:p>
        </p:txBody>
      </p:sp>
      <p:pic>
        <p:nvPicPr>
          <p:cNvPr id="8" name="Picture 7" descr="fig15_the_catch.png"/>
          <p:cNvPicPr>
            <a:picLocks noChangeAspect="1"/>
          </p:cNvPicPr>
          <p:nvPr/>
        </p:nvPicPr>
        <p:blipFill>
          <a:blip r:embed="rId2"/>
          <a:stretch>
            <a:fillRect/>
          </a:stretch>
        </p:blipFill>
        <p:spPr>
          <a:xfrm>
            <a:off x="429768" y="1007222"/>
            <a:ext cx="11332433" cy="4362986"/>
          </a:xfrm>
          <a:prstGeom prst="rect">
            <a:avLst/>
          </a:prstGeom>
        </p:spPr>
      </p:pic>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PART 5 · WHAT WE HAVE NOT MEASURED</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Every result in this talk is a </a:t>
            </a:r>
            <a:r>
              <a:rPr sz="1400" b="1">
                <a:solidFill>
                  <a:srgbClr val="1C2430"/>
                </a:solidFill>
                <a:latin typeface="Calibri"/>
              </a:rPr>
              <a:t>single seed</a:t>
            </a:r>
            <a:r>
              <a:rPr sz="1400" b="0">
                <a:solidFill>
                  <a:srgbClr val="1C2430"/>
                </a:solidFill>
                <a:latin typeface="Calibri"/>
              </a:rPr>
              <a:t>. The hyperspectral evaluation is </a:t>
            </a:r>
            <a:r>
              <a:rPr sz="1400" b="1">
                <a:solidFill>
                  <a:srgbClr val="1C2430"/>
                </a:solidFill>
                <a:latin typeface="Calibri"/>
              </a:rPr>
              <a:t>five patients</a:t>
            </a:r>
            <a:r>
              <a:rPr sz="1400" b="0">
                <a:solidFill>
                  <a:srgbClr val="1C2430"/>
                </a:solidFill>
                <a:latin typeface="Calibri"/>
              </a:rPr>
              <a:t>. Neither of those is a detail.</a:t>
            </a:r>
          </a:p>
        </p:txBody>
      </p:sp>
      <p:pic>
        <p:nvPicPr>
          <p:cNvPr id="7" name="Picture 6" descr="fig34_not_measured.png"/>
          <p:cNvPicPr>
            <a:picLocks noChangeAspect="1"/>
          </p:cNvPicPr>
          <p:nvPr/>
        </p:nvPicPr>
        <p:blipFill>
          <a:blip r:embed="rId2"/>
          <a:stretch>
            <a:fillRect/>
          </a:stretch>
        </p:blipFill>
        <p:spPr>
          <a:xfrm>
            <a:off x="429768" y="899564"/>
            <a:ext cx="11332433" cy="4578303"/>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4E8C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4E8C6A"/>
                </a:solidFill>
                <a:latin typeface="Calibri"/>
              </a:rPr>
              <a:t>TAKEAWAYS</a:t>
            </a:r>
          </a:p>
        </p:txBody>
      </p:sp>
      <p:pic>
        <p:nvPicPr>
          <p:cNvPr id="4" name="Picture 3" descr="fig35_takeaways.png"/>
          <p:cNvPicPr>
            <a:picLocks noChangeAspect="1"/>
          </p:cNvPicPr>
          <p:nvPr/>
        </p:nvPicPr>
        <p:blipFill>
          <a:blip r:embed="rId2"/>
          <a:stretch>
            <a:fillRect/>
          </a:stretch>
        </p:blipFill>
        <p:spPr>
          <a:xfrm>
            <a:off x="429768" y="917203"/>
            <a:ext cx="11332433" cy="5297912"/>
          </a:xfrm>
          <a:prstGeom prst="rect">
            <a:avLst/>
          </a:prstGeom>
        </p:spPr>
      </p:pic>
      <p:sp>
        <p:nvSpPr>
          <p:cNvPr id="5" name="TextBox 4"/>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6" name="TextBox 5"/>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237744"/>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554480"/>
            <a:ext cx="10271729" cy="1005840"/>
          </a:xfrm>
          <a:prstGeom prst="rect">
            <a:avLst/>
          </a:prstGeom>
          <a:noFill/>
        </p:spPr>
        <p:txBody>
          <a:bodyPr wrap="square" anchor="t" lIns="0" rIns="0" tIns="0" bIns="0">
            <a:spAutoFit/>
          </a:bodyPr>
          <a:lstStyle/>
          <a:p>
            <a:pPr algn="l"/>
            <a:r>
              <a:rPr sz="4000" b="1">
                <a:solidFill>
                  <a:srgbClr val="1C2430"/>
                </a:solidFill>
                <a:latin typeface="Calibri"/>
              </a:rPr>
              <a:t>Thank you — questions?</a:t>
            </a:r>
          </a:p>
        </p:txBody>
      </p:sp>
      <p:sp>
        <p:nvSpPr>
          <p:cNvPr id="5" name="Rounded Rectangle 4"/>
          <p:cNvSpPr/>
          <p:nvPr/>
        </p:nvSpPr>
        <p:spPr>
          <a:xfrm>
            <a:off x="960120" y="2670048"/>
            <a:ext cx="2011680" cy="32004"/>
          </a:xfrm>
          <a:prstGeom prst="round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971800"/>
            <a:ext cx="9814529" cy="3474720"/>
          </a:xfrm>
          <a:prstGeom prst="rect">
            <a:avLst/>
          </a:prstGeom>
          <a:noFill/>
        </p:spPr>
        <p:txBody>
          <a:bodyPr wrap="square" anchor="t" lIns="0" rIns="0" tIns="0" bIns="0">
            <a:spAutoFit/>
          </a:bodyPr>
          <a:lstStyle/>
          <a:p>
            <a:pPr algn="l">
              <a:spcAft>
                <a:spcPts val="869"/>
              </a:spcAft>
            </a:pPr>
            <a:r>
              <a:rPr sz="1450" b="1">
                <a:solidFill>
                  <a:srgbClr val="5A6472"/>
                </a:solidFill>
                <a:latin typeface="Calibri"/>
              </a:rPr>
              <a:t>The manuscript</a:t>
            </a:r>
            <a:r>
              <a:rPr sz="1450" b="0">
                <a:solidFill>
                  <a:srgbClr val="5A6472"/>
                </a:solidFill>
                <a:latin typeface="Calibri"/>
              </a:rPr>
              <a:t> — </a:t>
            </a:r>
            <a:r>
              <a:rPr sz="1400" b="0">
                <a:solidFill>
                  <a:srgbClr val="5A6472"/>
                </a:solidFill>
                <a:latin typeface="Consolas"/>
              </a:rPr>
              <a:t>paper/draft/MedMamba-SS-TRM_manuscript_v8.md</a:t>
            </a:r>
          </a:p>
          <a:p>
            <a:pPr algn="l">
              <a:spcAft>
                <a:spcPts val="869"/>
              </a:spcAft>
            </a:pPr>
            <a:r>
              <a:rPr sz="1450" b="1">
                <a:solidFill>
                  <a:srgbClr val="5A6472"/>
                </a:solidFill>
                <a:latin typeface="Calibri"/>
              </a:rPr>
              <a:t>The deep version, with line-by-line citations</a:t>
            </a:r>
            <a:r>
              <a:rPr sz="1450" b="0">
                <a:solidFill>
                  <a:srgbClr val="5A6472"/>
                </a:solidFill>
                <a:latin typeface="Calibri"/>
              </a:rPr>
              <a:t> — </a:t>
            </a:r>
            <a:r>
              <a:rPr sz="1400" b="0">
                <a:solidFill>
                  <a:srgbClr val="5A6472"/>
                </a:solidFill>
                <a:latin typeface="Consolas"/>
              </a:rPr>
              <a:t>doc/PROJECT_ARCHITECTURE_AND_HISTORY.md</a:t>
            </a:r>
          </a:p>
          <a:p>
            <a:pPr algn="l">
              <a:spcAft>
                <a:spcPts val="869"/>
              </a:spcAft>
            </a:pPr>
            <a:r>
              <a:rPr sz="1450" b="1">
                <a:solidFill>
                  <a:srgbClr val="5A6472"/>
                </a:solidFill>
                <a:latin typeface="Calibri"/>
              </a:rPr>
              <a:t>The model</a:t>
            </a:r>
            <a:r>
              <a:rPr sz="1450" b="0">
                <a:solidFill>
                  <a:srgbClr val="5A6472"/>
                </a:solidFill>
                <a:latin typeface="Calibri"/>
              </a:rPr>
              <a:t> — </a:t>
            </a:r>
            <a:r>
              <a:rPr sz="1400" b="0">
                <a:solidFill>
                  <a:srgbClr val="5A6472"/>
                </a:solidFill>
                <a:latin typeface="Consolas"/>
              </a:rPr>
              <a:t>gmedmamba.py</a:t>
            </a:r>
            <a:r>
              <a:rPr sz="1450" b="0">
                <a:solidFill>
                  <a:srgbClr val="5A6472"/>
                </a:solidFill>
                <a:latin typeface="Calibri"/>
              </a:rPr>
              <a:t>  ·  </a:t>
            </a:r>
            <a:r>
              <a:rPr sz="1400" b="0">
                <a:solidFill>
                  <a:srgbClr val="5A6472"/>
                </a:solidFill>
                <a:latin typeface="Consolas"/>
              </a:rPr>
              <a:t>SpectralTokenizer:724</a:t>
            </a:r>
            <a:r>
              <a:rPr sz="1450" b="0">
                <a:solidFill>
                  <a:srgbClr val="5A6472"/>
                </a:solidFill>
                <a:latin typeface="Calibri"/>
              </a:rPr>
              <a:t>, </a:t>
            </a:r>
            <a:r>
              <a:rPr sz="1400" b="0">
                <a:solidFill>
                  <a:srgbClr val="5A6472"/>
                </a:solidFill>
                <a:latin typeface="Consolas"/>
              </a:rPr>
              <a:t>RecursiveCore:1711</a:t>
            </a:r>
          </a:p>
          <a:p>
            <a:pPr algn="l">
              <a:spcAft>
                <a:spcPts val="869"/>
              </a:spcAft>
            </a:pPr>
            <a:r>
              <a:rPr sz="1450" b="1">
                <a:solidFill>
                  <a:srgbClr val="5A6472"/>
                </a:solidFill>
                <a:latin typeface="Calibri"/>
              </a:rPr>
              <a:t>TRM</a:t>
            </a:r>
            <a:r>
              <a:rPr sz="1450" b="0">
                <a:solidFill>
                  <a:srgbClr val="5A6472"/>
                </a:solidFill>
                <a:latin typeface="Calibri"/>
              </a:rPr>
              <a:t> — Jolicoeur-Martineau, *Less is More: Recursive Reasoning with Tiny Networks*, arXiv:2510.04871</a:t>
            </a:r>
          </a:p>
          <a:p>
            <a:pPr algn="l">
              <a:spcAft>
                <a:spcPts val="869"/>
              </a:spcAft>
            </a:pPr>
            <a:r>
              <a:rPr sz="1450" b="1">
                <a:solidFill>
                  <a:srgbClr val="5A6472"/>
                </a:solidFill>
                <a:latin typeface="Calibri"/>
              </a:rPr>
              <a:t>HRM, the paper TRM reacts to</a:t>
            </a:r>
            <a:r>
              <a:rPr sz="1450" b="0">
                <a:solidFill>
                  <a:srgbClr val="5A6472"/>
                </a:solidFill>
                <a:latin typeface="Calibri"/>
              </a:rPr>
              <a:t> — Wang et al., arXiv:2506.21734  ·  independent audit at arcprize.org/blog/hrm-analysis</a:t>
            </a:r>
          </a:p>
          <a:p>
            <a:pPr algn="l">
              <a:spcAft>
                <a:spcPts val="869"/>
              </a:spcAft>
            </a:pPr>
            <a:r>
              <a:rPr sz="1450" b="1">
                <a:solidFill>
                  <a:srgbClr val="5A6472"/>
                </a:solidFill>
                <a:latin typeface="Calibri"/>
              </a:rPr>
              <a:t>MedMamba</a:t>
            </a:r>
            <a:r>
              <a:rPr sz="1450" b="0">
                <a:solidFill>
                  <a:srgbClr val="5A6472"/>
                </a:solidFill>
                <a:latin typeface="Calibri"/>
              </a:rPr>
              <a:t> — Yue &amp; Li, arXiv:2403.03849</a:t>
            </a:r>
          </a:p>
          <a:p>
            <a:pPr algn="l">
              <a:spcAft>
                <a:spcPts val="869"/>
              </a:spcAft>
            </a:pPr>
            <a:r>
              <a:rPr sz="1450" b="0">
                <a:solidFill>
                  <a:srgbClr val="5A6472"/>
                </a:solidFill>
                <a:latin typeface="Calibri"/>
              </a:rPr>
              <a:t> </a:t>
            </a:r>
          </a:p>
          <a:p>
            <a:pPr algn="l">
              <a:spcAft>
                <a:spcPts val="869"/>
              </a:spcAft>
            </a:pPr>
            <a:r>
              <a:rPr sz="1450" b="0">
                <a:solidFill>
                  <a:srgbClr val="5A6472"/>
                </a:solidFill>
                <a:latin typeface="Calibri"/>
              </a:rPr>
              <a:t>Backup slides follow: the full architecture, the TRM ablation table, and the diagram that does not describe the code.</a:t>
            </a:r>
          </a:p>
        </p:txBody>
      </p:sp>
      <p:sp>
        <p:nvSpPr>
          <p:cNvPr id="7" name="TextBox 6"/>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8" name="TextBox 7"/>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BACKUP · NOT PRESENTED</a:t>
            </a:r>
          </a:p>
        </p:txBody>
      </p:sp>
      <p:sp>
        <p:nvSpPr>
          <p:cNvPr id="4" name="TextBox 3"/>
          <p:cNvSpPr txBox="1"/>
          <p:nvPr/>
        </p:nvSpPr>
        <p:spPr>
          <a:xfrm>
            <a:off x="749808" y="2661157"/>
            <a:ext cx="10692353" cy="592327"/>
          </a:xfrm>
          <a:prstGeom prst="rect">
            <a:avLst/>
          </a:prstGeom>
          <a:noFill/>
        </p:spPr>
        <p:txBody>
          <a:bodyPr wrap="square" anchor="t" lIns="0" rIns="0" tIns="0" bIns="0">
            <a:spAutoFit/>
          </a:bodyPr>
          <a:lstStyle/>
          <a:p>
            <a:pPr algn="l"/>
            <a:r>
              <a:rPr sz="3400" b="1">
                <a:solidFill>
                  <a:srgbClr val="1C2430"/>
                </a:solidFill>
                <a:latin typeface="Calibri"/>
              </a:rPr>
              <a:t>Backup slides</a:t>
            </a:r>
          </a:p>
        </p:txBody>
      </p:sp>
      <p:sp>
        <p:nvSpPr>
          <p:cNvPr id="5" name="TextBox 4"/>
          <p:cNvSpPr txBox="1"/>
          <p:nvPr/>
        </p:nvSpPr>
        <p:spPr>
          <a:xfrm>
            <a:off x="749808" y="3472941"/>
            <a:ext cx="10235153" cy="906780"/>
          </a:xfrm>
          <a:prstGeom prst="rect">
            <a:avLst/>
          </a:prstGeom>
          <a:noFill/>
        </p:spPr>
        <p:txBody>
          <a:bodyPr wrap="square" anchor="t" lIns="0" rIns="0" tIns="0" bIns="0">
            <a:spAutoFit/>
          </a:bodyPr>
          <a:lstStyle/>
          <a:p>
            <a:pPr algn="l">
              <a:spcAft>
                <a:spcPts val="1000"/>
              </a:spcAft>
            </a:pPr>
            <a:r>
              <a:rPr sz="1700" b="0">
                <a:solidFill>
                  <a:srgbClr val="5A6472"/>
                </a:solidFill>
                <a:latin typeface="Calibri"/>
              </a:rPr>
              <a:t>These are here to be jumped to during questions. None of them are in the talk.</a:t>
            </a:r>
          </a:p>
          <a:p>
            <a:pPr algn="l">
              <a:spcAft>
                <a:spcPts val="1000"/>
              </a:spcAft>
            </a:pPr>
            <a:r>
              <a:rPr sz="1700" b="0">
                <a:solidFill>
                  <a:srgbClr val="5A6472"/>
                </a:solidFill>
                <a:latin typeface="Calibri"/>
              </a:rPr>
              <a:t>Ordered by how likely the question is.</a:t>
            </a:r>
          </a:p>
        </p:txBody>
      </p:sp>
      <p:sp>
        <p:nvSpPr>
          <p:cNvPr id="6" name="TextBox 5"/>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7" name="TextBox 6"/>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REFERENCE ARCHITECTURE</a:t>
            </a:r>
          </a:p>
        </p:txBody>
      </p:sp>
      <p:pic>
        <p:nvPicPr>
          <p:cNvPr id="4" name="Picture 3" descr="fig17_gmedmamba_r_architecture.png"/>
          <p:cNvPicPr>
            <a:picLocks noChangeAspect="1"/>
          </p:cNvPicPr>
          <p:nvPr/>
        </p:nvPicPr>
        <p:blipFill>
          <a:blip r:embed="rId2"/>
          <a:stretch>
            <a:fillRect/>
          </a:stretch>
        </p:blipFill>
        <p:spPr>
          <a:xfrm>
            <a:off x="2484683" y="713232"/>
            <a:ext cx="7222602" cy="5705855"/>
          </a:xfrm>
          <a:prstGeom prst="rect">
            <a:avLst/>
          </a:prstGeom>
        </p:spPr>
      </p:pic>
      <p:sp>
        <p:nvSpPr>
          <p:cNvPr id="5" name="TextBox 4"/>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labelled G-MedMamba-R — the earlier name for MedMamba-SS-TRM</a:t>
            </a:r>
          </a:p>
        </p:txBody>
      </p:sp>
      <p:sp>
        <p:nvSpPr>
          <p:cNvPr id="6" name="TextBox 5"/>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BACKUP · SS2D, IF ANYONE WANTS IT</a:t>
            </a:r>
          </a:p>
        </p:txBody>
      </p:sp>
      <p:sp>
        <p:nvSpPr>
          <p:cNvPr id="4" name="Rectangle 3"/>
          <p:cNvSpPr/>
          <p:nvPr/>
        </p:nvSpPr>
        <p:spPr>
          <a:xfrm>
            <a:off x="429768" y="5792216"/>
            <a:ext cx="11332433" cy="663448"/>
          </a:xfrm>
          <a:prstGeom prst="rect">
            <a:avLst/>
          </a:prstGeom>
          <a:solidFill>
            <a:srgbClr val="F2F4F7"/>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1">
                <a:solidFill>
                  <a:srgbClr val="1C2430"/>
                </a:solidFill>
                <a:latin typeface="Calibri"/>
              </a:rPr>
              <a:t>SS2D</a:t>
            </a:r>
            <a:r>
              <a:rPr sz="1400" b="0">
                <a:solidFill>
                  <a:srgbClr val="1C2430"/>
                </a:solidFill>
                <a:latin typeface="Calibri"/>
              </a:rPr>
              <a:t> = read the image as a line, four different ways, and combine. That is the only piece of MedMamba jargon in this talk.</a:t>
            </a:r>
          </a:p>
        </p:txBody>
      </p:sp>
      <p:pic>
        <p:nvPicPr>
          <p:cNvPr id="7" name="Picture 6" descr="fig02_ss2d.png"/>
          <p:cNvPicPr>
            <a:picLocks noChangeAspect="1"/>
          </p:cNvPicPr>
          <p:nvPr/>
        </p:nvPicPr>
        <p:blipFill>
          <a:blip r:embed="rId2"/>
          <a:stretch>
            <a:fillRect/>
          </a:stretch>
        </p:blipFill>
        <p:spPr>
          <a:xfrm>
            <a:off x="429768" y="1554012"/>
            <a:ext cx="11332433" cy="3269407"/>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RECURSION, ONE ROW PER LINE</a:t>
            </a:r>
          </a:p>
        </p:txBody>
      </p:sp>
      <p:pic>
        <p:nvPicPr>
          <p:cNvPr id="4" name="Picture 3" descr="fig09_trm_loop.png"/>
          <p:cNvPicPr>
            <a:picLocks noChangeAspect="1"/>
          </p:cNvPicPr>
          <p:nvPr/>
        </p:nvPicPr>
        <p:blipFill>
          <a:blip r:embed="rId2"/>
          <a:stretch>
            <a:fillRect/>
          </a:stretch>
        </p:blipFill>
        <p:spPr>
          <a:xfrm>
            <a:off x="429768" y="1005030"/>
            <a:ext cx="11332433" cy="5122259"/>
          </a:xfrm>
          <a:prstGeom prst="rect">
            <a:avLst/>
          </a:prstGeom>
        </p:spPr>
      </p:pic>
      <p:sp>
        <p:nvSpPr>
          <p:cNvPr id="5" name="TextBox 4"/>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6" name="TextBox 5"/>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6A5A92"/>
                </a:solidFill>
                <a:latin typeface="Calibri"/>
              </a:rPr>
              <a:t>BACKUP · THE FULL TRM ABLATION</a:t>
            </a:r>
          </a:p>
        </p:txBody>
      </p:sp>
      <p:sp>
        <p:nvSpPr>
          <p:cNvPr id="4" name="Rectangle 3"/>
          <p:cNvSpPr/>
          <p:nvPr/>
        </p:nvSpPr>
        <p:spPr>
          <a:xfrm>
            <a:off x="429768" y="5792216"/>
            <a:ext cx="11332433" cy="663448"/>
          </a:xfrm>
          <a:prstGeom prst="rect">
            <a:avLst/>
          </a:prstGeom>
          <a:solidFill>
            <a:srgbClr val="ECE9F3"/>
          </a:solidFill>
          <a:ln w="15875">
            <a:solidFill>
              <a:srgbClr val="6A5A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Depth is not the knob. HRM across effective depths 9 → 168 only moves 46.4 % → 62.3 %, and is worse at the deepest setting than at depth 48.</a:t>
            </a:r>
          </a:p>
        </p:txBody>
      </p:sp>
      <p:sp>
        <p:nvSpPr>
          <p:cNvPr id="7" name="TextBox 6"/>
          <p:cNvSpPr txBox="1"/>
          <p:nvPr/>
        </p:nvSpPr>
        <p:spPr>
          <a:xfrm>
            <a:off x="749808" y="1143000"/>
            <a:ext cx="10692353" cy="533399"/>
          </a:xfrm>
          <a:prstGeom prst="rect">
            <a:avLst/>
          </a:prstGeom>
          <a:noFill/>
        </p:spPr>
        <p:txBody>
          <a:bodyPr wrap="square" anchor="t" lIns="0" rIns="0" tIns="0" bIns="0">
            <a:spAutoFit/>
          </a:bodyPr>
          <a:lstStyle/>
          <a:p>
            <a:pPr algn="l"/>
            <a:r>
              <a:rPr sz="3000" b="1">
                <a:solidFill>
                  <a:srgbClr val="1C2430"/>
                </a:solidFill>
                <a:latin typeface="Calibri"/>
              </a:rPr>
              <a:t>Every row is TRM with exactly one thing put back.</a:t>
            </a:r>
          </a:p>
        </p:txBody>
      </p:sp>
      <p:sp>
        <p:nvSpPr>
          <p:cNvPr id="8" name="TextBox 7"/>
          <p:cNvSpPr txBox="1"/>
          <p:nvPr/>
        </p:nvSpPr>
        <p:spPr>
          <a:xfrm>
            <a:off x="749808" y="1895856"/>
            <a:ext cx="10235153" cy="3340100"/>
          </a:xfrm>
          <a:prstGeom prst="rect">
            <a:avLst/>
          </a:prstGeom>
          <a:noFill/>
        </p:spPr>
        <p:txBody>
          <a:bodyPr wrap="square" anchor="t" lIns="0" rIns="0" tIns="0" bIns="0">
            <a:spAutoFit/>
          </a:bodyPr>
          <a:lstStyle/>
          <a:p>
            <a:pPr algn="l">
              <a:spcAft>
                <a:spcPts val="900"/>
              </a:spcAft>
            </a:pPr>
            <a:r>
              <a:rPr sz="1550" b="1">
                <a:solidFill>
                  <a:srgbClr val="5A6472"/>
                </a:solidFill>
                <a:latin typeface="Calibri"/>
              </a:rPr>
              <a:t>87.4 %</a:t>
            </a:r>
            <a:r>
              <a:rPr sz="1550" b="0">
                <a:solidFill>
                  <a:srgbClr val="5A6472"/>
                </a:solidFill>
                <a:latin typeface="Calibri"/>
              </a:rPr>
              <a:t> TRM as published, 5 M · </a:t>
            </a:r>
            <a:r>
              <a:rPr sz="1550" b="1">
                <a:solidFill>
                  <a:srgbClr val="5A6472"/>
                </a:solidFill>
                <a:latin typeface="Calibri"/>
              </a:rPr>
              <a:t>56.5 %</a:t>
            </a:r>
            <a:r>
              <a:rPr sz="1550" b="0">
                <a:solidFill>
                  <a:srgbClr val="5A6472"/>
                </a:solidFill>
                <a:latin typeface="Calibri"/>
              </a:rPr>
              <a:t> with HRM’s 1-step gradient · </a:t>
            </a:r>
            <a:r>
              <a:rPr sz="1550" b="1">
                <a:solidFill>
                  <a:srgbClr val="5A6472"/>
                </a:solidFill>
                <a:latin typeface="Calibri"/>
              </a:rPr>
              <a:t>73.7 %</a:t>
            </a:r>
            <a:r>
              <a:rPr sz="1550" b="0">
                <a:solidFill>
                  <a:srgbClr val="5A6472"/>
                </a:solidFill>
                <a:latin typeface="Calibri"/>
              </a:rPr>
              <a:t> with HRM’s recursion depth</a:t>
            </a:r>
          </a:p>
          <a:p>
            <a:pPr algn="l">
              <a:spcAft>
                <a:spcPts val="900"/>
              </a:spcAft>
            </a:pPr>
            <a:r>
              <a:rPr sz="1550" b="1">
                <a:solidFill>
                  <a:srgbClr val="5A6472"/>
                </a:solidFill>
                <a:latin typeface="Calibri"/>
              </a:rPr>
              <a:t>74.7 %</a:t>
            </a:r>
            <a:r>
              <a:rPr sz="1550" b="0">
                <a:solidFill>
                  <a:srgbClr val="5A6472"/>
                </a:solidFill>
                <a:latin typeface="Calibri"/>
              </a:rPr>
              <a:t> self-attention instead of the MLP mixer, 7 M · </a:t>
            </a:r>
            <a:r>
              <a:rPr sz="1550" b="1">
                <a:solidFill>
                  <a:srgbClr val="5A6472"/>
                </a:solidFill>
                <a:latin typeface="Calibri"/>
              </a:rPr>
              <a:t>79.5 %</a:t>
            </a:r>
            <a:r>
              <a:rPr sz="1550" b="0">
                <a:solidFill>
                  <a:srgbClr val="5A6472"/>
                </a:solidFill>
                <a:latin typeface="Calibri"/>
              </a:rPr>
              <a:t> 4 layers instead of 2, 10 M · </a:t>
            </a:r>
            <a:r>
              <a:rPr sz="1550" b="1">
                <a:solidFill>
                  <a:srgbClr val="5A6472"/>
                </a:solidFill>
                <a:latin typeface="Calibri"/>
              </a:rPr>
              <a:t>79.9 %</a:t>
            </a:r>
            <a:r>
              <a:rPr sz="1550" b="0">
                <a:solidFill>
                  <a:srgbClr val="5A6472"/>
                </a:solidFill>
                <a:latin typeface="Calibri"/>
              </a:rPr>
              <a:t> without EMA</a:t>
            </a:r>
          </a:p>
          <a:p>
            <a:pPr algn="l">
              <a:spcAft>
                <a:spcPts val="900"/>
              </a:spcAft>
            </a:pPr>
            <a:r>
              <a:rPr sz="1550" b="1">
                <a:solidFill>
                  <a:srgbClr val="5A6472"/>
                </a:solidFill>
                <a:latin typeface="Calibri"/>
              </a:rPr>
              <a:t>82.4 %</a:t>
            </a:r>
            <a:r>
              <a:rPr sz="1550" b="0">
                <a:solidFill>
                  <a:srgbClr val="5A6472"/>
                </a:solidFill>
                <a:latin typeface="Calibri"/>
              </a:rPr>
              <a:t> two networks instead of one, 10 M · </a:t>
            </a:r>
            <a:r>
              <a:rPr sz="1550" b="1">
                <a:solidFill>
                  <a:srgbClr val="5A6472"/>
                </a:solidFill>
                <a:latin typeface="Calibri"/>
              </a:rPr>
              <a:t>86.1 %</a:t>
            </a:r>
            <a:r>
              <a:rPr sz="1550" b="0">
                <a:solidFill>
                  <a:srgbClr val="5A6472"/>
                </a:solidFill>
                <a:latin typeface="Calibri"/>
              </a:rPr>
              <a:t> with HRM’s 2-pass halting · </a:t>
            </a:r>
            <a:r>
              <a:rPr sz="1550" b="1">
                <a:solidFill>
                  <a:srgbClr val="5A6472"/>
                </a:solidFill>
                <a:latin typeface="Calibri"/>
              </a:rPr>
              <a:t>55.0 %</a:t>
            </a:r>
            <a:r>
              <a:rPr sz="1550" b="0">
                <a:solidFill>
                  <a:srgbClr val="5A6472"/>
                </a:solidFill>
                <a:latin typeface="Calibri"/>
              </a:rPr>
              <a:t> HRM itself, 27 M</a:t>
            </a:r>
          </a:p>
          <a:p>
            <a:pPr algn="l">
              <a:spcAft>
                <a:spcPts val="900"/>
              </a:spcAft>
            </a:pPr>
            <a:r>
              <a:rPr sz="1550" b="0">
                <a:solidFill>
                  <a:srgbClr val="5A6472"/>
                </a:solidFill>
                <a:latin typeface="Calibri"/>
              </a:rPr>
              <a:t> </a:t>
            </a:r>
          </a:p>
          <a:p>
            <a:pPr algn="l">
              <a:spcAft>
                <a:spcPts val="900"/>
              </a:spcAft>
            </a:pPr>
            <a:r>
              <a:rPr sz="1550" b="1">
                <a:solidFill>
                  <a:srgbClr val="5A6472"/>
                </a:solidFill>
                <a:latin typeface="Calibri"/>
              </a:rPr>
              <a:t>It is also slow.</a:t>
            </a:r>
            <a:r>
              <a:rPr sz="1550" b="0">
                <a:solidFill>
                  <a:srgbClr val="5A6472"/>
                </a:solidFill>
                <a:latin typeface="Calibri"/>
              </a:rPr>
              <a:t> Sudoku: under 36 h on an L40S. ARC: about 3 days on 4×H100 — for 7 M parameters.</a:t>
            </a:r>
          </a:p>
          <a:p>
            <a:pPr algn="l">
              <a:spcAft>
                <a:spcPts val="900"/>
              </a:spcAft>
            </a:pPr>
            <a:r>
              <a:rPr sz="1550" b="1">
                <a:solidFill>
                  <a:srgbClr val="5A6472"/>
                </a:solidFill>
                <a:latin typeface="Calibri"/>
              </a:rPr>
              <a:t>Ideas the paper tried and dropped:</a:t>
            </a:r>
            <a:r>
              <a:rPr sz="1550" b="0">
                <a:solidFill>
                  <a:srgbClr val="5A6472"/>
                </a:solidFill>
                <a:latin typeface="Calibri"/>
              </a:rPr>
              <a:t> Mixture-of-Experts · backprop through only the last *k* steps · removing halting · tying the input embedding to the output head · and true fixed-point iteration (TorchDEQ), which was slower *and* worse.</a:t>
            </a:r>
          </a:p>
        </p:txBody>
      </p:sp>
      <p:sp>
        <p:nvSpPr>
          <p:cNvPr id="9" name="TextBox 8"/>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10" name="TextBox 9"/>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B4553F"/>
                </a:solidFill>
                <a:latin typeface="Calibri"/>
              </a:rPr>
              <a:t>BACKUP · A DIAGRAM THAT DOES NOT DESCRIBE THE CODE</a:t>
            </a:r>
          </a:p>
        </p:txBody>
      </p:sp>
      <p:sp>
        <p:nvSpPr>
          <p:cNvPr id="4" name="Rectangle 3"/>
          <p:cNvSpPr/>
          <p:nvPr/>
        </p:nvSpPr>
        <p:spPr>
          <a:xfrm>
            <a:off x="429768" y="5792216"/>
            <a:ext cx="11332433" cy="663448"/>
          </a:xfrm>
          <a:prstGeom prst="rect">
            <a:avLst/>
          </a:prstGeom>
          <a:solidFill>
            <a:srgbClr val="F8E7E2"/>
          </a:solidFill>
          <a:ln w="15875">
            <a:solidFill>
              <a:srgbClr val="B455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29768" y="5792216"/>
            <a:ext cx="68580" cy="663448"/>
          </a:xfrm>
          <a:prstGeom prst="rect">
            <a:avLst/>
          </a:prstGeom>
          <a:solidFill>
            <a:srgbClr val="B45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5792216"/>
            <a:ext cx="10829513" cy="663448"/>
          </a:xfrm>
          <a:prstGeom prst="rect">
            <a:avLst/>
          </a:prstGeom>
          <a:noFill/>
        </p:spPr>
        <p:txBody>
          <a:bodyPr wrap="square" anchor="ctr" lIns="0" rIns="0" tIns="0" bIns="0">
            <a:spAutoFit/>
          </a:bodyPr>
          <a:lstStyle/>
          <a:p>
            <a:pPr algn="l"/>
            <a:r>
              <a:rPr sz="1400" b="0">
                <a:solidFill>
                  <a:srgbClr val="1C2430"/>
                </a:solidFill>
                <a:latin typeface="Calibri"/>
              </a:rPr>
              <a:t>If you have seen the older G-MedMamba diagram: </a:t>
            </a:r>
            <a:r>
              <a:rPr sz="1400" b="1">
                <a:solidFill>
                  <a:srgbClr val="1C2430"/>
                </a:solidFill>
                <a:latin typeface="Calibri"/>
              </a:rPr>
              <a:t>three of the blocks on it were never built.</a:t>
            </a:r>
            <a:r>
              <a:rPr sz="1400" b="0">
                <a:solidFill>
                  <a:srgbClr val="1C2430"/>
                </a:solidFill>
                <a:latin typeface="Calibri"/>
              </a:rPr>
              <a:t> Treat it as a design proposal, not architecture.</a:t>
            </a:r>
          </a:p>
        </p:txBody>
      </p:sp>
      <p:pic>
        <p:nvPicPr>
          <p:cNvPr id="7" name="Picture 6" descr="fig18_then_vs_now.png"/>
          <p:cNvPicPr>
            <a:picLocks noChangeAspect="1"/>
          </p:cNvPicPr>
          <p:nvPr/>
        </p:nvPicPr>
        <p:blipFill>
          <a:blip r:embed="rId2"/>
          <a:stretch>
            <a:fillRect/>
          </a:stretch>
        </p:blipFill>
        <p:spPr>
          <a:xfrm>
            <a:off x="2103268" y="713232"/>
            <a:ext cx="7985432" cy="4950968"/>
          </a:xfrm>
          <a:prstGeom prst="rect">
            <a:avLst/>
          </a:prstGeom>
        </p:spPr>
      </p:pic>
      <p:sp>
        <p:nvSpPr>
          <p:cNvPr id="8" name="TextBox 7"/>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9" name="TextBox 8"/>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29768" y="310896"/>
            <a:ext cx="68580" cy="219456"/>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7" y="292608"/>
            <a:ext cx="10875233" cy="256032"/>
          </a:xfrm>
          <a:prstGeom prst="rect">
            <a:avLst/>
          </a:prstGeom>
          <a:noFill/>
        </p:spPr>
        <p:txBody>
          <a:bodyPr wrap="square" anchor="t" lIns="0" rIns="0" tIns="0" bIns="0">
            <a:spAutoFit/>
          </a:bodyPr>
          <a:lstStyle/>
          <a:p>
            <a:r>
              <a:rPr sz="1100" b="1">
                <a:solidFill>
                  <a:srgbClr val="5A6472"/>
                </a:solidFill>
                <a:latin typeface="Calibri"/>
              </a:rPr>
              <a:t>BACKUP · THE QUESTIONS I EXPECT</a:t>
            </a:r>
          </a:p>
        </p:txBody>
      </p:sp>
      <p:sp>
        <p:nvSpPr>
          <p:cNvPr id="4" name="TextBox 3"/>
          <p:cNvSpPr txBox="1"/>
          <p:nvPr/>
        </p:nvSpPr>
        <p:spPr>
          <a:xfrm>
            <a:off x="749808" y="1143000"/>
            <a:ext cx="10692353" cy="533399"/>
          </a:xfrm>
          <a:prstGeom prst="rect">
            <a:avLst/>
          </a:prstGeom>
          <a:noFill/>
        </p:spPr>
        <p:txBody>
          <a:bodyPr wrap="square" anchor="t" lIns="0" rIns="0" tIns="0" bIns="0">
            <a:spAutoFit/>
          </a:bodyPr>
          <a:lstStyle/>
          <a:p>
            <a:pPr algn="l"/>
            <a:r>
              <a:rPr sz="3000" b="1">
                <a:solidFill>
                  <a:srgbClr val="1C2430"/>
                </a:solidFill>
                <a:latin typeface="Calibri"/>
              </a:rPr>
              <a:t>Short answers to the six most likely questions.</a:t>
            </a:r>
          </a:p>
        </p:txBody>
      </p:sp>
      <p:sp>
        <p:nvSpPr>
          <p:cNvPr id="5" name="TextBox 4"/>
          <p:cNvSpPr txBox="1"/>
          <p:nvPr/>
        </p:nvSpPr>
        <p:spPr>
          <a:xfrm>
            <a:off x="749808" y="1895856"/>
            <a:ext cx="10235153" cy="4359910"/>
          </a:xfrm>
          <a:prstGeom prst="rect">
            <a:avLst/>
          </a:prstGeom>
          <a:noFill/>
        </p:spPr>
        <p:txBody>
          <a:bodyPr wrap="square" anchor="t" lIns="0" rIns="0" tIns="0" bIns="0">
            <a:spAutoFit/>
          </a:bodyPr>
          <a:lstStyle/>
          <a:p>
            <a:pPr algn="l">
              <a:spcAft>
                <a:spcPts val="900"/>
              </a:spcAft>
            </a:pPr>
            <a:r>
              <a:rPr sz="1550" b="1">
                <a:solidFill>
                  <a:srgbClr val="5A6472"/>
                </a:solidFill>
                <a:latin typeface="Calibri"/>
              </a:rPr>
              <a:t>"Could you just pad every input to 32 channels?"</a:t>
            </a:r>
            <a:r>
              <a:rPr sz="1550" b="0">
                <a:solidFill>
                  <a:srgbClr val="5A6472"/>
                </a:solidFill>
                <a:latin typeface="Calibri"/>
              </a:rPr>
              <a:t> You could, and people do. You would be feeding the model zeros it has to learn to ignore, you would still have no representation of wavelength, and you would be capped at whatever you padded to. Ours has no cap.</a:t>
            </a:r>
          </a:p>
          <a:p>
            <a:pPr algn="l">
              <a:spcAft>
                <a:spcPts val="900"/>
              </a:spcAft>
            </a:pPr>
            <a:r>
              <a:rPr sz="1550" b="1">
                <a:solidFill>
                  <a:srgbClr val="5A6472"/>
                </a:solidFill>
                <a:latin typeface="Calibri"/>
              </a:rPr>
              <a:t>"Why does recursion beat just making the network deeper?"</a:t>
            </a:r>
            <a:r>
              <a:rPr sz="1550" b="0">
                <a:solidFill>
                  <a:srgbClr val="5A6472"/>
                </a:solidFill>
                <a:latin typeface="Calibri"/>
              </a:rPr>
              <a:t> Nobody knows, and the paper says so outright. Do not offer a mechanism you cannot defend.</a:t>
            </a:r>
          </a:p>
          <a:p>
            <a:pPr algn="l">
              <a:spcAft>
                <a:spcPts val="900"/>
              </a:spcAft>
            </a:pPr>
            <a:r>
              <a:rPr sz="1550" b="1">
                <a:solidFill>
                  <a:srgbClr val="5A6472"/>
                </a:solidFill>
                <a:latin typeface="Calibri"/>
              </a:rPr>
              <a:t>"If there is no fixed point, why does the no-grad prelude work?"</a:t>
            </a:r>
            <a:r>
              <a:rPr sz="1550" b="0">
                <a:solidFill>
                  <a:srgbClr val="5A6472"/>
                </a:solidFill>
                <a:latin typeface="Calibri"/>
              </a:rPr>
              <a:t> Because deep supervision trains for it directly — every pass is handed an arbitrary state and graded on improving it.</a:t>
            </a:r>
          </a:p>
          <a:p>
            <a:pPr algn="l">
              <a:spcAft>
                <a:spcPts val="900"/>
              </a:spcAft>
            </a:pPr>
            <a:r>
              <a:rPr sz="1550" b="1">
                <a:solidFill>
                  <a:srgbClr val="5A6472"/>
                </a:solidFill>
                <a:latin typeface="Calibri"/>
              </a:rPr>
              <a:t>"Is the 61× parameter saving real?"</a:t>
            </a:r>
            <a:r>
              <a:rPr sz="1550" b="0">
                <a:solidFill>
                  <a:srgbClr val="5A6472"/>
                </a:solidFill>
                <a:latin typeface="Calibri"/>
              </a:rPr>
              <a:t> The structural claim is exact. The multiplier depends on which hierarchical width you compare against; against our own config it is ~6×.</a:t>
            </a:r>
          </a:p>
          <a:p>
            <a:pPr algn="l">
              <a:spcAft>
                <a:spcPts val="900"/>
              </a:spcAft>
            </a:pPr>
            <a:r>
              <a:rPr sz="1550" b="1">
                <a:solidFill>
                  <a:srgbClr val="5A6472"/>
                </a:solidFill>
                <a:latin typeface="Calibri"/>
              </a:rPr>
              <a:t>"What is the reconstruction decoder for, if it is off?"</a:t>
            </a:r>
            <a:r>
              <a:rPr sz="1550" b="0">
                <a:solidFill>
                  <a:srgbClr val="5A6472"/>
                </a:solidFill>
                <a:latin typeface="Calibri"/>
              </a:rPr>
              <a:t> It reconstructs the input cube as an auxiliary objective. It was silently broken for a long time — it read a detached feature map. Fixed and gated; whether it helps classification has never been measured.</a:t>
            </a:r>
          </a:p>
          <a:p>
            <a:pPr algn="l">
              <a:spcAft>
                <a:spcPts val="900"/>
              </a:spcAft>
            </a:pPr>
            <a:r>
              <a:rPr sz="1550" b="1">
                <a:solidFill>
                  <a:srgbClr val="5A6472"/>
                </a:solidFill>
                <a:latin typeface="Calibri"/>
              </a:rPr>
              <a:t>"What is the biggest weakness?"</a:t>
            </a:r>
            <a:r>
              <a:rPr sz="1550" b="0">
                <a:solidFill>
                  <a:srgbClr val="5A6472"/>
                </a:solidFill>
                <a:latin typeface="Calibri"/>
              </a:rPr>
              <a:t> Two. Single seed everywhere. And the backbone averages away spatial detail inside each patch — free at patch size 1, most of the image at patch size 8.</a:t>
            </a:r>
          </a:p>
        </p:txBody>
      </p:sp>
      <p:sp>
        <p:nvSpPr>
          <p:cNvPr id="6" name="TextBox 5"/>
          <p:cNvSpPr txBox="1"/>
          <p:nvPr/>
        </p:nvSpPr>
        <p:spPr>
          <a:xfrm>
            <a:off x="429768" y="6510528"/>
            <a:ext cx="11332433" cy="219456"/>
          </a:xfrm>
          <a:prstGeom prst="rect">
            <a:avLst/>
          </a:prstGeom>
          <a:noFill/>
        </p:spPr>
        <p:txBody>
          <a:bodyPr wrap="square" anchor="t" lIns="0" rIns="0" tIns="0" bIns="0">
            <a:spAutoFit/>
          </a:bodyPr>
          <a:lstStyle/>
          <a:p>
            <a:r>
              <a:rPr sz="950">
                <a:solidFill>
                  <a:srgbClr val="A6ADB6"/>
                </a:solidFill>
                <a:latin typeface="Calibri"/>
              </a:rPr>
              <a:t/>
            </a:r>
          </a:p>
        </p:txBody>
      </p:sp>
      <p:sp>
        <p:nvSpPr>
          <p:cNvPr id="7" name="TextBox 6"/>
          <p:cNvSpPr txBox="1"/>
          <p:nvPr/>
        </p:nvSpPr>
        <p:spPr>
          <a:xfrm>
            <a:off x="10664921" y="6510528"/>
            <a:ext cx="1097280" cy="219456"/>
          </a:xfrm>
          <a:prstGeom prst="rect">
            <a:avLst/>
          </a:prstGeom>
          <a:noFill/>
        </p:spPr>
        <p:txBody>
          <a:bodyPr wrap="square" anchor="t" lIns="0" rIns="0" tIns="0" bIns="0">
            <a:spAutoFit/>
          </a:bodyPr>
          <a:lstStyle/>
          <a:p>
            <a:pPr algn="r"/>
            <a:r>
              <a:rPr sz="950">
                <a:solidFill>
                  <a:srgbClr val="A6ADB6"/>
                </a:solidFill>
                <a:latin typeface="Calibri"/>
              </a:rPr>
              <a:t>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