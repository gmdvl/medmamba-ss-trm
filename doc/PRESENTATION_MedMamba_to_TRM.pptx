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x="1219196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MedMamba you already know, so Part 1 moves fast. The thing I actually want to spend time on is the second number — and getting there needs a detour through a paper. That detour is Part 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Ninety seconds of recap and no more — you have all seen this block. The only thing on this slide that matters later is the red callout on the patch‑embed.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split — half the channels get a global operator, half get a local one, then shuffle — is MedMamba's and we kept all of it. ② is a learnable dial on the residual branch, ③ a feed‑forward block; standard. We also made the four scan directions weighted rather than summed, so a reading order can be switched **off** if it isn't earning its place.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consequence is the subtler one and it is the one that actually limits the science. A spectral model that cannot represent a wavelength is not a spectral model.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the trade on the slide rather than in the limitations section, because it is the first thing a careful listener will object to. What it buys is the next slide, which is the one I actually want you to remember.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it slowly, and pause after "that's the whole trick". One loose end to close: averaging destroys order, so before we average, each band token is tagged with its real wavelength in nanometres as a sine/cosine pattern. That is what stops the average from forgetting *which* band was which.</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hinge of the talk. Say it explicitly: *we went looking for a backbone that reuses its weights, and the paper we found spends most of its pages on something else — on why reuse makes the model better rather than just smaller.* That is why Part 2 is long. The 38,724 is counted from the run checkpoint; the 27 M is the manuscript's figure for a MedMamba‑width stack and is unverified — say "about"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the picture before the maths. You look at the maze once; you commit a line in pencil; you rub out the bit that was wrong and redraw just that bit. You never get a fresh sheet. And mazes are not a metaphor I picked for flavour — 30×30 mazes are one of the four benchmarks in the paper.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the room remembers one sentence from Part 2, make it that one. Everything mechanical on the next three slides exists only to make it possible. If people look lost later, come back to this slide rather than pressing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**87.4% is the reference number for the rest of Part 2** — it is TRM exactly as published, on Sudoku‑Extreme. Every ablation from here is that same model with one thing put back, so you only ever have to remember whether the number went down. This slide changes no code; it changes whether you can explain the model in one sentence.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③ is the one people miss, so point at the two lines and read them out. And land the table: half the parameters *and* five points better.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lesson is not "skip most of the gradient". It is "make the part you *do* differentiate a complete, self‑contained round". Pause after 31 points.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the direction of causality and say it out loud — deep supervision is what *licenses* the `no_grad` rounds. That is what people get wrong when they reimplement TRM.</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TRM's claim is not that HRM's recursion was a weak idea. It is that it was implemented wrong — and slide 11 is the receipt.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Part 2 by saying again that none of it was ours. The credibility of Part 3 depends on the room knowing which half is which.</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Same spectral front end, same head, same trainer, same `forward_features` keys. Only the middle changes. Give the honest range for the multiplier before anyone asks which configuration the 61× is against.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is my favourite thing in this codebase, and it is a good one to leave the room with: a bug that does not crash, does not warn, and does not move the loss. TRM uses buffers; we use buffers; our source says why.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 precise and say it before anyone catches you: we implemented TRM's **recursion**, not TRM's **blocks**. They use attention; every real run of ours uses a convolution.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Drawn in the MedMamba paper figure's own style so you can hold them side by side. This is the one to print and pin up — don't try to read it from the back. Two things to point at: the red box is the reconstruction decoder, which exists, is gated, and is **off in every run**; and bottom right, every call to `f` is gradient‑checkpointed, which is the only reason this fits on the card.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Put this slide in deliberately. Volunteering the gaps costs a minute and buys the room's trust for everything else — and it turns the three hardest questions into things you said first.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is the one to leave them with. If you are behind, read the five headlines and stop.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9.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969" cy="6858000"/>
          </a:xfrm>
          <a:prstGeom prst="rect">
            <a:avLst/>
          </a:prstGeom>
          <a:solidFill>
            <a:srgbClr val="FAFB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969" cy="274320"/>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965960"/>
            <a:ext cx="10363169" cy="1097280"/>
          </a:xfrm>
          <a:prstGeom prst="rect">
            <a:avLst/>
          </a:prstGeom>
          <a:noFill/>
        </p:spPr>
        <p:txBody>
          <a:bodyPr wrap="square" lIns="0" rIns="0" tIns="0" bIns="0">
            <a:spAutoFit/>
          </a:bodyPr>
          <a:lstStyle/>
          <a:p>
            <a:r>
              <a:rPr sz="4400" b="1">
                <a:solidFill>
                  <a:srgbClr val="23282F"/>
                </a:solidFill>
                <a:latin typeface="Calibri"/>
              </a:rPr>
              <a:t>From MedMamba to G-MedMamba-R</a:t>
            </a:r>
          </a:p>
        </p:txBody>
      </p:sp>
      <p:sp>
        <p:nvSpPr>
          <p:cNvPr id="5" name="TextBox 4"/>
          <p:cNvSpPr txBox="1"/>
          <p:nvPr/>
        </p:nvSpPr>
        <p:spPr>
          <a:xfrm>
            <a:off x="914400" y="3063240"/>
            <a:ext cx="10363169" cy="731520"/>
          </a:xfrm>
          <a:prstGeom prst="rect">
            <a:avLst/>
          </a:prstGeom>
          <a:noFill/>
        </p:spPr>
        <p:txBody>
          <a:bodyPr wrap="square" lIns="0" rIns="0" tIns="0" bIns="0">
            <a:spAutoFit/>
          </a:bodyPr>
          <a:lstStyle/>
          <a:p>
            <a:r>
              <a:rPr sz="2100">
                <a:solidFill>
                  <a:srgbClr val="5A6472"/>
                </a:solidFill>
                <a:latin typeface="Calibri"/>
              </a:rPr>
              <a:t>Two numbers we deleted from the weights</a:t>
            </a:r>
          </a:p>
        </p:txBody>
      </p:sp>
      <p:sp>
        <p:nvSpPr>
          <p:cNvPr id="6" name="TextBox 5"/>
          <p:cNvSpPr txBox="1"/>
          <p:nvPr/>
        </p:nvSpPr>
        <p:spPr>
          <a:xfrm>
            <a:off x="914400" y="4160520"/>
            <a:ext cx="10363169" cy="1463040"/>
          </a:xfrm>
          <a:prstGeom prst="rect">
            <a:avLst/>
          </a:prstGeom>
          <a:noFill/>
        </p:spPr>
        <p:txBody>
          <a:bodyPr wrap="square" lIns="0" rIns="0" tIns="0" bIns="0">
            <a:spAutoFit/>
          </a:bodyPr>
          <a:lstStyle/>
          <a:p/>
          <a:p>
            <a:pPr>
              <a:spcAft>
                <a:spcPts val="500"/>
              </a:spcAft>
            </a:pPr>
            <a:r>
              <a:rPr sz="1400">
                <a:solidFill>
                  <a:srgbClr val="6B7482"/>
                </a:solidFill>
                <a:latin typeface="Calibri"/>
              </a:rPr>
              <a:t>Audience: engineers who have already seen MedMamba</a:t>
            </a:r>
          </a:p>
          <a:p>
            <a:pPr>
              <a:spcAft>
                <a:spcPts val="500"/>
              </a:spcAft>
            </a:pPr>
            <a:r>
              <a:rPr sz="1400">
                <a:solidFill>
                  <a:srgbClr val="6B7482"/>
                </a:solidFill>
                <a:latin typeface="Calibri"/>
              </a:rPr>
              <a:t>Length: 24:15 in the intended cut — timed from the speaker script, not estimated</a:t>
            </a:r>
          </a:p>
          <a:p>
            <a:pPr>
              <a:spcAft>
                <a:spcPts val="500"/>
              </a:spcAft>
            </a:pPr>
            <a:r>
              <a:rPr sz="1400">
                <a:solidFill>
                  <a:srgbClr val="6B7482"/>
                </a:solidFill>
                <a:latin typeface="Calibri"/>
              </a:rPr>
              <a:t>Part 2 is a self-contained TRM tutorial — ~13 minutes, and stands alone</a:t>
            </a:r>
          </a:p>
          <a:p>
            <a:pPr>
              <a:spcAft>
                <a:spcPts val="500"/>
              </a:spcAft>
            </a:pPr>
            <a:r>
              <a:rPr sz="1400">
                <a:solidFill>
                  <a:srgbClr val="6B7482"/>
                </a:solidFill>
                <a:latin typeface="Calibri"/>
              </a:rPr>
              <a:t>You do not need to know TRM. Every term is defined on first use.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Roadmap</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0:45</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Intro      2</a:t>
            </a:r>
          </a:p>
        </p:txBody>
      </p:sp>
      <p:sp>
        <p:nvSpPr>
          <p:cNvPr id="7" name="TextBox 6"/>
          <p:cNvSpPr txBox="1"/>
          <p:nvPr/>
        </p:nvSpPr>
        <p:spPr>
          <a:xfrm>
            <a:off x="502920" y="1115568"/>
            <a:ext cx="11186129" cy="347345"/>
          </a:xfrm>
          <a:prstGeom prst="rect">
            <a:avLst/>
          </a:prstGeom>
          <a:noFill/>
        </p:spPr>
        <p:txBody>
          <a:bodyPr wrap="square" lIns="0" rIns="0" tIns="0" bIns="0">
            <a:spAutoFit/>
          </a:bodyPr>
          <a:lstStyle/>
          <a:p>
            <a:r>
              <a:rPr sz="1550" b="1" i="0">
                <a:solidFill>
                  <a:srgbClr val="23282F"/>
                </a:solidFill>
                <a:latin typeface="Calibri"/>
              </a:rPr>
              <a:t>Two numbers are frozen into MedMamba's weights.</a:t>
            </a:r>
          </a:p>
        </p:txBody>
      </p:sp>
      <p:graphicFrame>
        <p:nvGraphicFramePr>
          <p:cNvPr id="8" name="Table 7"/>
          <p:cNvGraphicFramePr>
            <a:graphicFrameLocks noGrp="1"/>
          </p:cNvGraphicFramePr>
          <p:nvPr/>
        </p:nvGraphicFramePr>
        <p:xfrm>
          <a:off x="502920" y="1462913"/>
          <a:ext cx="11186129" cy="1673352"/>
        </p:xfrm>
        <a:graphic>
          <a:graphicData uri="http://schemas.openxmlformats.org/drawingml/2006/table">
            <a:tbl>
              <a:tblPr bandRow="1">
                <a:tableStyleId>{5C22544A-7EE6-4342-B048-85BDC9FD1C3A}</a:tableStyleId>
              </a:tblPr>
              <a:tblGrid>
                <a:gridCol w="3975236"/>
                <a:gridCol w="5546841"/>
                <a:gridCol w="1664052"/>
              </a:tblGrid>
              <a:tr h="557784">
                <a:tc>
                  <a:txBody>
                    <a:bodyPr wrap="square"/>
                    <a:lstStyle/>
                    <a:p>
                      <a:pPr algn="l"/>
                      <a:r>
                        <a:rPr sz="1350" b="1" i="0">
                          <a:solidFill>
                            <a:srgbClr val="5A6472"/>
                          </a:solidFill>
                          <a:latin typeface="Calibri"/>
                        </a:rPr>
                        <a:t>frozen number</a:t>
                      </a:r>
                    </a:p>
                  </a:txBody>
                  <a:tcPr marL="64008" marR="64008" marT="27432" marB="27432" anchor="ctr">
                    <a:solidFill>
                      <a:srgbClr val="F4F5F7"/>
                    </a:solidFill>
                  </a:tcPr>
                </a:tc>
                <a:tc>
                  <a:txBody>
                    <a:bodyPr wrap="square"/>
                    <a:lstStyle/>
                    <a:p>
                      <a:pPr algn="l"/>
                      <a:r>
                        <a:rPr sz="1350" b="1" i="0">
                          <a:solidFill>
                            <a:srgbClr val="5A6472"/>
                          </a:solidFill>
                          <a:latin typeface="Calibri"/>
                        </a:rPr>
                        <a:t>what it costs you</a:t>
                      </a:r>
                    </a:p>
                  </a:txBody>
                  <a:tcPr marL="64008" marR="64008" marT="27432" marB="27432" anchor="ctr">
                    <a:solidFill>
                      <a:srgbClr val="F4F5F7"/>
                    </a:solidFill>
                  </a:tcPr>
                </a:tc>
                <a:tc>
                  <a:txBody>
                    <a:bodyPr wrap="square"/>
                    <a:lstStyle/>
                    <a:p>
                      <a:pPr algn="l"/>
                      <a:r>
                        <a:rPr sz="1350" b="1" i="0">
                          <a:solidFill>
                            <a:srgbClr val="5A6472"/>
                          </a:solidFill>
                          <a:latin typeface="Calibri"/>
                        </a:rPr>
                        <a:t>where we remove it</a:t>
                      </a:r>
                    </a:p>
                  </a:txBody>
                  <a:tcPr marL="64008" marR="64008" marT="27432" marB="27432" anchor="ctr">
                    <a:solidFill>
                      <a:srgbClr val="F4F5F7"/>
                    </a:solidFill>
                  </a:tcPr>
                </a:tc>
              </a:tr>
              <a:tr h="557784">
                <a:tc>
                  <a:txBody>
                    <a:bodyPr wrap="square"/>
                    <a:lstStyle/>
                    <a:p>
                      <a:pPr algn="l"/>
                      <a:r>
                        <a:rPr sz="1300" b="1" i="0">
                          <a:solidFill>
                            <a:srgbClr val="23282F"/>
                          </a:solidFill>
                          <a:latin typeface="Consolas"/>
                        </a:rPr>
                        <a:t>C</a:t>
                      </a:r>
                      <a:r>
                        <a:rPr sz="1350" b="0" i="0">
                          <a:solidFill>
                            <a:srgbClr val="23282F"/>
                          </a:solidFill>
                          <a:latin typeface="Calibri"/>
                        </a:rPr>
                        <a:t> — how many channels it can read</a:t>
                      </a:r>
                    </a:p>
                  </a:txBody>
                  <a:tcPr marL="64008" marR="64008" marT="27432" marB="27432" anchor="ctr">
                    <a:solidFill>
                      <a:srgbClr val="FFFFFF"/>
                    </a:solidFill>
                  </a:tcPr>
                </a:tc>
                <a:tc>
                  <a:txBody>
                    <a:bodyPr wrap="square"/>
                    <a:lstStyle/>
                    <a:p>
                      <a:pPr algn="l"/>
                      <a:r>
                        <a:rPr sz="1350" b="0" i="0">
                          <a:solidFill>
                            <a:srgbClr val="23282F"/>
                          </a:solidFill>
                          <a:latin typeface="Calibri"/>
                        </a:rPr>
                        <a:t>one model per sensor; RGB weights cannot load into a 32-band model</a:t>
                      </a:r>
                    </a:p>
                  </a:txBody>
                  <a:tcPr marL="64008" marR="64008" marT="27432" marB="27432" anchor="ctr">
                    <a:solidFill>
                      <a:srgbClr val="FFFFFF"/>
                    </a:solidFill>
                  </a:tcPr>
                </a:tc>
                <a:tc>
                  <a:txBody>
                    <a:bodyPr wrap="square"/>
                    <a:lstStyle/>
                    <a:p>
                      <a:pPr algn="l"/>
                      <a:r>
                        <a:rPr sz="1350" b="1" i="0">
                          <a:solidFill>
                            <a:srgbClr val="23282F"/>
                          </a:solidFill>
                          <a:latin typeface="Calibri"/>
                        </a:rPr>
                        <a:t>Part 1</a:t>
                      </a:r>
                    </a:p>
                  </a:txBody>
                  <a:tcPr marL="64008" marR="64008" marT="27432" marB="27432" anchor="ctr">
                    <a:solidFill>
                      <a:srgbClr val="FFFFFF"/>
                    </a:solidFill>
                  </a:tcPr>
                </a:tc>
              </a:tr>
              <a:tr h="557784">
                <a:tc>
                  <a:txBody>
                    <a:bodyPr wrap="square"/>
                    <a:lstStyle/>
                    <a:p>
                      <a:pPr algn="l"/>
                      <a:r>
                        <a:rPr sz="1350" b="1" i="0">
                          <a:solidFill>
                            <a:srgbClr val="23282F"/>
                          </a:solidFill>
                          <a:latin typeface="Calibri"/>
                        </a:rPr>
                        <a:t>12</a:t>
                      </a:r>
                      <a:r>
                        <a:rPr sz="1350" b="0" i="0">
                          <a:solidFill>
                            <a:srgbClr val="23282F"/>
                          </a:solidFill>
                          <a:latin typeface="Calibri"/>
                        </a:rPr>
                        <a:t> — how many distinct blocks it must store</a:t>
                      </a:r>
                    </a:p>
                  </a:txBody>
                  <a:tcPr marL="64008" marR="64008" marT="27432" marB="27432" anchor="ctr">
                    <a:solidFill>
                      <a:srgbClr val="FFFFFF"/>
                    </a:solidFill>
                  </a:tcPr>
                </a:tc>
                <a:tc>
                  <a:txBody>
                    <a:bodyPr wrap="square"/>
                    <a:lstStyle/>
                    <a:p>
                      <a:pPr algn="l"/>
                      <a:r>
                        <a:rPr sz="1350" b="0" i="0">
                          <a:solidFill>
                            <a:srgbClr val="23282F"/>
                          </a:solidFill>
                          <a:latin typeface="Calibri"/>
                        </a:rPr>
                        <a:t>~27 M parameters, all of them stored separately</a:t>
                      </a:r>
                    </a:p>
                  </a:txBody>
                  <a:tcPr marL="64008" marR="64008" marT="27432" marB="27432" anchor="ctr">
                    <a:solidFill>
                      <a:srgbClr val="FFFFFF"/>
                    </a:solidFill>
                  </a:tcPr>
                </a:tc>
                <a:tc>
                  <a:txBody>
                    <a:bodyPr wrap="square"/>
                    <a:lstStyle/>
                    <a:p>
                      <a:pPr algn="l"/>
                      <a:r>
                        <a:rPr sz="1350" b="1" i="0">
                          <a:solidFill>
                            <a:srgbClr val="23282F"/>
                          </a:solidFill>
                          <a:latin typeface="Calibri"/>
                        </a:rPr>
                        <a:t>Part 3</a:t>
                      </a:r>
                    </a:p>
                  </a:txBody>
                  <a:tcPr marL="64008" marR="64008" marT="27432" marB="27432" anchor="ctr">
                    <a:solidFill>
                      <a:srgbClr val="FFFFFF"/>
                    </a:solidFill>
                  </a:tcPr>
                </a:tc>
              </a:tr>
            </a:tbl>
          </a:graphicData>
        </a:graphic>
      </p:graphicFrame>
      <p:graphicFrame>
        <p:nvGraphicFramePr>
          <p:cNvPr id="9" name="Table 8"/>
          <p:cNvGraphicFramePr>
            <a:graphicFrameLocks noGrp="1"/>
          </p:cNvGraphicFramePr>
          <p:nvPr/>
        </p:nvGraphicFramePr>
        <p:xfrm>
          <a:off x="502920" y="3227705"/>
          <a:ext cx="11186128" cy="1014984"/>
        </p:xfrm>
        <a:graphic>
          <a:graphicData uri="http://schemas.openxmlformats.org/drawingml/2006/table">
            <a:tbl>
              <a:tblPr bandRow="1">
                <a:tableStyleId>{5C22544A-7EE6-4342-B048-85BDC9FD1C3A}</a:tableStyleId>
              </a:tblPr>
              <a:tblGrid>
                <a:gridCol w="945306"/>
                <a:gridCol w="9453067"/>
                <a:gridCol w="787755"/>
              </a:tblGrid>
              <a:tr h="338328">
                <a:tc>
                  <a:txBody>
                    <a:bodyPr wrap="square"/>
                    <a:lstStyle/>
                    <a:p>
                      <a:pPr algn="l"/>
                      <a:r>
                        <a:rPr sz="1350" b="1" i="0">
                          <a:solidFill>
                            <a:srgbClr val="5A6472"/>
                          </a:solidFill>
                          <a:latin typeface="Calibri"/>
                        </a:rPr>
                        <a:t>Part 1</a:t>
                      </a:r>
                    </a:p>
                  </a:txBody>
                  <a:tcPr marL="64008" marR="64008" marT="27432" marB="27432" anchor="ctr">
                    <a:solidFill>
                      <a:srgbClr val="F4F5F7"/>
                    </a:solidFill>
                  </a:tcPr>
                </a:tc>
                <a:tc>
                  <a:txBody>
                    <a:bodyPr wrap="square"/>
                    <a:lstStyle/>
                    <a:p>
                      <a:pPr algn="l"/>
                      <a:r>
                        <a:rPr sz="1350" b="1" i="0">
                          <a:solidFill>
                            <a:srgbClr val="5A6472"/>
                          </a:solidFill>
                          <a:latin typeface="Calibri"/>
                        </a:rPr>
                        <a:t>We delete </a:t>
                      </a:r>
                      <a:r>
                        <a:rPr sz="1300" b="1" i="0">
                          <a:solidFill>
                            <a:srgbClr val="6B7482"/>
                          </a:solidFill>
                          <a:latin typeface="Consolas"/>
                        </a:rPr>
                        <a:t>C</a:t>
                      </a:r>
                    </a:p>
                  </a:txBody>
                  <a:tcPr marL="64008" marR="64008" marT="27432" marB="27432" anchor="ctr">
                    <a:solidFill>
                      <a:srgbClr val="F4F5F7"/>
                    </a:solidFill>
                  </a:tcPr>
                </a:tc>
                <a:tc>
                  <a:txBody>
                    <a:bodyPr wrap="square"/>
                    <a:lstStyle/>
                    <a:p>
                      <a:pPr algn="l"/>
                      <a:r>
                        <a:rPr sz="1350" b="1" i="0">
                          <a:solidFill>
                            <a:srgbClr val="5A6472"/>
                          </a:solidFill>
                          <a:latin typeface="Calibri"/>
                        </a:rPr>
                        <a:t>5:55</a:t>
                      </a:r>
                    </a:p>
                  </a:txBody>
                  <a:tcPr marL="64008" marR="64008" marT="27432" marB="27432" anchor="ctr">
                    <a:solidFill>
                      <a:srgbClr val="F4F5F7"/>
                    </a:solidFill>
                  </a:tcPr>
                </a:tc>
              </a:tr>
              <a:tr h="338328">
                <a:tc>
                  <a:txBody>
                    <a:bodyPr wrap="square"/>
                    <a:lstStyle/>
                    <a:p>
                      <a:pPr algn="l"/>
                      <a:r>
                        <a:rPr sz="1350" b="1" i="0">
                          <a:solidFill>
                            <a:srgbClr val="23282F"/>
                          </a:solidFill>
                          <a:latin typeface="Calibri"/>
                        </a:rPr>
                        <a:t>Part 2</a:t>
                      </a:r>
                    </a:p>
                  </a:txBody>
                  <a:tcPr marL="64008" marR="64008" marT="27432" marB="27432" anchor="ctr">
                    <a:solidFill>
                      <a:srgbClr val="FFFFFF"/>
                    </a:solidFill>
                  </a:tcPr>
                </a:tc>
                <a:tc>
                  <a:txBody>
                    <a:bodyPr wrap="square"/>
                    <a:lstStyle/>
                    <a:p>
                      <a:pPr algn="l"/>
                      <a:r>
                        <a:rPr sz="1350" b="0" i="0">
                          <a:solidFill>
                            <a:srgbClr val="23282F"/>
                          </a:solidFill>
                          <a:latin typeface="Calibri"/>
                        </a:rPr>
                        <a:t>TRM — the tool we used for the second one </a:t>
                      </a:r>
                      <a:r>
                        <a:rPr sz="1350" b="0" i="1">
                          <a:solidFill>
                            <a:srgbClr val="23282F"/>
                          </a:solidFill>
                          <a:latin typeface="Calibri"/>
                        </a:rPr>
                        <a:t>(someone else's paper; ours is not mentioned)</a:t>
                      </a:r>
                    </a:p>
                  </a:txBody>
                  <a:tcPr marL="64008" marR="64008" marT="27432" marB="27432" anchor="ctr">
                    <a:solidFill>
                      <a:srgbClr val="FFFFFF"/>
                    </a:solidFill>
                  </a:tcPr>
                </a:tc>
                <a:tc>
                  <a:txBody>
                    <a:bodyPr wrap="square"/>
                    <a:lstStyle/>
                    <a:p>
                      <a:pPr algn="l"/>
                      <a:r>
                        <a:rPr sz="1350" b="0" i="0">
                          <a:solidFill>
                            <a:srgbClr val="23282F"/>
                          </a:solidFill>
                          <a:latin typeface="Calibri"/>
                        </a:rPr>
                        <a:t>12:55</a:t>
                      </a:r>
                    </a:p>
                  </a:txBody>
                  <a:tcPr marL="64008" marR="64008" marT="27432" marB="27432" anchor="ctr">
                    <a:solidFill>
                      <a:srgbClr val="FFFFFF"/>
                    </a:solidFill>
                  </a:tcPr>
                </a:tc>
              </a:tr>
              <a:tr h="338328">
                <a:tc>
                  <a:txBody>
                    <a:bodyPr wrap="square"/>
                    <a:lstStyle/>
                    <a:p>
                      <a:pPr algn="l"/>
                      <a:r>
                        <a:rPr sz="1350" b="1" i="0">
                          <a:solidFill>
                            <a:srgbClr val="23282F"/>
                          </a:solidFill>
                          <a:latin typeface="Calibri"/>
                        </a:rPr>
                        <a:t>Part 3</a:t>
                      </a:r>
                    </a:p>
                  </a:txBody>
                  <a:tcPr marL="64008" marR="64008" marT="27432" marB="27432" anchor="ctr">
                    <a:solidFill>
                      <a:srgbClr val="FFFFFF"/>
                    </a:solidFill>
                  </a:tcPr>
                </a:tc>
                <a:tc>
                  <a:txBody>
                    <a:bodyPr wrap="square"/>
                    <a:lstStyle/>
                    <a:p>
                      <a:pPr algn="l"/>
                      <a:r>
                        <a:rPr sz="1350" b="0" i="0">
                          <a:solidFill>
                            <a:srgbClr val="23282F"/>
                          </a:solidFill>
                          <a:latin typeface="Calibri"/>
                        </a:rPr>
                        <a:t>We delete the 12</a:t>
                      </a:r>
                    </a:p>
                  </a:txBody>
                  <a:tcPr marL="64008" marR="64008" marT="27432" marB="27432" anchor="ctr">
                    <a:solidFill>
                      <a:srgbClr val="FFFFFF"/>
                    </a:solidFill>
                  </a:tcPr>
                </a:tc>
                <a:tc>
                  <a:txBody>
                    <a:bodyPr wrap="square"/>
                    <a:lstStyle/>
                    <a:p>
                      <a:pPr algn="l"/>
                      <a:r>
                        <a:rPr sz="1350" b="0" i="0">
                          <a:solidFill>
                            <a:srgbClr val="23282F"/>
                          </a:solidFill>
                          <a:latin typeface="Calibri"/>
                        </a:rPr>
                        <a:t>7:20</a:t>
                      </a:r>
                    </a:p>
                  </a:txBody>
                  <a:tcPr marL="64008" marR="64008" marT="27432" marB="27432" anchor="ctr">
                    <a:solidFill>
                      <a:srgbClr val="FFFFFF"/>
                    </a:solidFill>
                  </a:tcPr>
                </a:tc>
              </a:tr>
            </a:tbl>
          </a:graphicData>
        </a:graphic>
      </p:graphicFrame>
      <p:sp>
        <p:nvSpPr>
          <p:cNvPr id="10" name="TextBox 9"/>
          <p:cNvSpPr txBox="1"/>
          <p:nvPr/>
        </p:nvSpPr>
        <p:spPr>
          <a:xfrm>
            <a:off x="502920" y="4334129"/>
            <a:ext cx="11186129" cy="603250"/>
          </a:xfrm>
          <a:prstGeom prst="rect">
            <a:avLst/>
          </a:prstGeom>
          <a:noFill/>
        </p:spPr>
        <p:txBody>
          <a:bodyPr wrap="square" lIns="0" rIns="0" tIns="0" bIns="0">
            <a:spAutoFit/>
          </a:bodyPr>
          <a:lstStyle/>
          <a:p>
            <a:r>
              <a:rPr sz="1550" b="1" i="0">
                <a:solidFill>
                  <a:srgbClr val="23282F"/>
                </a:solidFill>
                <a:latin typeface="Calibri"/>
              </a:rPr>
              <a:t>Part 2 is the long one on purpose.</a:t>
            </a:r>
            <a:r>
              <a:rPr sz="1550" b="0" i="0">
                <a:solidFill>
                  <a:srgbClr val="23282F"/>
                </a:solidFill>
                <a:latin typeface="Calibri"/>
              </a:rPr>
              <a:t> It is a 2025 paper most of the room will not have read, and Part 3 is unreadable without it.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331720"/>
            <a:ext cx="12191969" cy="91440"/>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3169" cy="914400"/>
          </a:xfrm>
          <a:prstGeom prst="rect">
            <a:avLst/>
          </a:prstGeom>
          <a:noFill/>
        </p:spPr>
        <p:txBody>
          <a:bodyPr wrap="square" lIns="0" rIns="0" tIns="0" bIns="0">
            <a:spAutoFit/>
          </a:bodyPr>
          <a:lstStyle/>
          <a:p>
            <a:r>
              <a:rPr sz="3800" b="1">
                <a:solidFill>
                  <a:srgbClr val="23282F"/>
                </a:solidFill>
                <a:latin typeface="Calibri"/>
              </a:rPr>
              <a:t>Part 1 — Deleting `C`</a:t>
            </a:r>
          </a:p>
        </p:txBody>
      </p:sp>
      <p:sp>
        <p:nvSpPr>
          <p:cNvPr id="4" name="TextBox 3"/>
          <p:cNvSpPr txBox="1"/>
          <p:nvPr/>
        </p:nvSpPr>
        <p:spPr>
          <a:xfrm>
            <a:off x="914400" y="3703320"/>
            <a:ext cx="10363169" cy="349758"/>
          </a:xfrm>
          <a:prstGeom prst="rect">
            <a:avLst/>
          </a:prstGeom>
          <a:noFill/>
        </p:spPr>
        <p:txBody>
          <a:bodyPr wrap="square" lIns="0" rIns="0" tIns="0" bIns="0">
            <a:spAutoFit/>
          </a:bodyPr>
          <a:lstStyle/>
          <a:p>
            <a:r>
              <a:rPr sz="1400" b="0" i="0">
                <a:solidFill>
                  <a:srgbClr val="6B7482"/>
                </a:solidFill>
                <a:latin typeface="Calibri"/>
              </a:rPr>
              <a:t>Where we start, what is wrong with it, and the one change that fixes it.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MedMamba, in one slide</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0:55</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1 — Deleting `C`      4</a:t>
            </a:r>
          </a:p>
        </p:txBody>
      </p:sp>
      <p:pic>
        <p:nvPicPr>
          <p:cNvPr id="7" name="Picture 6" descr="fig01_medmamba_simple.png"/>
          <p:cNvPicPr>
            <a:picLocks noChangeAspect="1"/>
          </p:cNvPicPr>
          <p:nvPr/>
        </p:nvPicPr>
        <p:blipFill>
          <a:blip r:embed="rId2"/>
          <a:stretch>
            <a:fillRect/>
          </a:stretch>
        </p:blipFill>
        <p:spPr>
          <a:xfrm>
            <a:off x="502920" y="1115568"/>
            <a:ext cx="11186129" cy="3551596"/>
          </a:xfrm>
          <a:prstGeom prst="rect">
            <a:avLst/>
          </a:prstGeom>
        </p:spPr>
      </p:pic>
      <p:sp>
        <p:nvSpPr>
          <p:cNvPr id="8" name="TextBox 7"/>
          <p:cNvSpPr txBox="1"/>
          <p:nvPr/>
        </p:nvSpPr>
        <p:spPr>
          <a:xfrm>
            <a:off x="502920" y="4776892"/>
            <a:ext cx="11186129" cy="859155"/>
          </a:xfrm>
          <a:prstGeom prst="rect">
            <a:avLst/>
          </a:prstGeom>
          <a:noFill/>
        </p:spPr>
        <p:txBody>
          <a:bodyPr wrap="square" lIns="0" rIns="0" tIns="0" bIns="0">
            <a:spAutoFit/>
          </a:bodyPr>
          <a:lstStyle/>
          <a:p>
            <a:r>
              <a:rPr sz="1550" b="1" i="0">
                <a:solidFill>
                  <a:srgbClr val="23282F"/>
                </a:solidFill>
                <a:latin typeface="Calibri"/>
              </a:rPr>
              <a:t>You have seen this. Two things only:</a:t>
            </a:r>
            <a:r>
              <a:rPr sz="1550" b="0" i="0">
                <a:solidFill>
                  <a:srgbClr val="23282F"/>
                </a:solidFill>
                <a:latin typeface="Calibri"/>
              </a:rPr>
              <a:t> </a:t>
            </a:r>
            <a:r>
              <a:rPr sz="1500" b="0" i="0">
                <a:solidFill>
                  <a:srgbClr val="6B7482"/>
                </a:solidFill>
                <a:latin typeface="Consolas"/>
              </a:rPr>
              <a:t>SS2D</a:t>
            </a:r>
            <a:r>
              <a:rPr sz="1550" b="0" i="0">
                <a:solidFill>
                  <a:srgbClr val="23282F"/>
                </a:solidFill>
                <a:latin typeface="Calibri"/>
              </a:rPr>
              <a:t> is a state-space scan run over the image four ways — left-right, right-left, top-down, bottom-up — and summed. Everything else is the ResNet/Swin skeleton: the picture halves, the features double, four times, then average and classify.</a:t>
            </a:r>
          </a:p>
        </p:txBody>
      </p:sp>
      <p:sp>
        <p:nvSpPr>
          <p:cNvPr id="9" name="TextBox 8"/>
          <p:cNvSpPr txBox="1"/>
          <p:nvPr/>
        </p:nvSpPr>
        <p:spPr>
          <a:xfrm>
            <a:off x="502920" y="5636047"/>
            <a:ext cx="11186129" cy="347345"/>
          </a:xfrm>
          <a:prstGeom prst="rect">
            <a:avLst/>
          </a:prstGeom>
          <a:noFill/>
        </p:spPr>
        <p:txBody>
          <a:bodyPr wrap="square" lIns="0" rIns="0" tIns="0" bIns="0">
            <a:spAutoFit/>
          </a:bodyPr>
          <a:lstStyle/>
          <a:p>
            <a:r>
              <a:rPr sz="1550" b="1" i="0">
                <a:solidFill>
                  <a:srgbClr val="23282F"/>
                </a:solidFill>
                <a:latin typeface="Calibri"/>
              </a:rPr>
              <a:t>Hold the red box.</a:t>
            </a:r>
            <a:r>
              <a:rPr sz="1550" b="0" i="0">
                <a:solidFill>
                  <a:srgbClr val="23282F"/>
                </a:solidFill>
                <a:latin typeface="Calibri"/>
              </a:rPr>
              <a:t> It is the entire reason Part 1 exists.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The three things we hung off its block</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0:40</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1 — Deleting `C`      5</a:t>
            </a:r>
          </a:p>
        </p:txBody>
      </p:sp>
      <p:pic>
        <p:nvPicPr>
          <p:cNvPr id="7" name="Picture 6" descr="fig03_block.png"/>
          <p:cNvPicPr>
            <a:picLocks noChangeAspect="1"/>
          </p:cNvPicPr>
          <p:nvPr/>
        </p:nvPicPr>
        <p:blipFill>
          <a:blip r:embed="rId2"/>
          <a:stretch>
            <a:fillRect/>
          </a:stretch>
        </p:blipFill>
        <p:spPr>
          <a:xfrm>
            <a:off x="1190188" y="1115568"/>
            <a:ext cx="9811592" cy="4434840"/>
          </a:xfrm>
          <a:prstGeom prst="rect">
            <a:avLst/>
          </a:prstGeom>
        </p:spPr>
      </p:pic>
      <p:sp>
        <p:nvSpPr>
          <p:cNvPr id="8" name="TextBox 7"/>
          <p:cNvSpPr txBox="1"/>
          <p:nvPr/>
        </p:nvSpPr>
        <p:spPr>
          <a:xfrm>
            <a:off x="502920" y="5660136"/>
            <a:ext cx="11186129" cy="603250"/>
          </a:xfrm>
          <a:prstGeom prst="rect">
            <a:avLst/>
          </a:prstGeom>
          <a:noFill/>
        </p:spPr>
        <p:txBody>
          <a:bodyPr wrap="square" lIns="0" rIns="0" tIns="0" bIns="0">
            <a:spAutoFit/>
          </a:bodyPr>
          <a:lstStyle/>
          <a:p>
            <a:r>
              <a:rPr sz="1550" b="1" i="0">
                <a:solidFill>
                  <a:srgbClr val="23282F"/>
                </a:solidFill>
                <a:latin typeface="Calibri"/>
              </a:rPr>
              <a:t>Grey is MedMamba's and untouched. Orange is ours.</a:t>
            </a:r>
            <a:r>
              <a:rPr sz="1550" b="0" i="0">
                <a:solidFill>
                  <a:srgbClr val="23282F"/>
                </a:solidFill>
                <a:latin typeface="Calibri"/>
              </a:rPr>
              <a:t> Badge ① is the one that matters: the spectrum conditions the block at </a:t>
            </a:r>
            <a:r>
              <a:rPr sz="1550" b="1" i="0">
                <a:solidFill>
                  <a:srgbClr val="23282F"/>
                </a:solidFill>
                <a:latin typeface="Calibri"/>
              </a:rPr>
              <a:t>every</a:t>
            </a:r>
            <a:r>
              <a:rPr sz="1550" b="0" i="0">
                <a:solidFill>
                  <a:srgbClr val="23282F"/>
                </a:solidFill>
                <a:latin typeface="Calibri"/>
              </a:rPr>
              <a:t> stage, not just at the input.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Problem 1 — </a:t>
            </a:r>
            <a:r>
              <a:rPr sz="2500" b="1" i="0">
                <a:solidFill>
                  <a:srgbClr val="23282F"/>
                </a:solidFill>
                <a:latin typeface="Consolas"/>
              </a:rPr>
              <a:t>C</a:t>
            </a:r>
            <a:r>
              <a:rPr sz="2700" b="1" i="0">
                <a:solidFill>
                  <a:srgbClr val="23282F"/>
                </a:solidFill>
                <a:latin typeface="Calibri"/>
              </a:rPr>
              <a:t> is welded into the first layer</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0:55</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1 — Deleting `C`      6</a:t>
            </a:r>
          </a:p>
        </p:txBody>
      </p:sp>
      <p:pic>
        <p:nvPicPr>
          <p:cNvPr id="7" name="Picture 6" descr="fig04_the_problem.png"/>
          <p:cNvPicPr>
            <a:picLocks noChangeAspect="1"/>
          </p:cNvPicPr>
          <p:nvPr/>
        </p:nvPicPr>
        <p:blipFill>
          <a:blip r:embed="rId2"/>
          <a:stretch>
            <a:fillRect/>
          </a:stretch>
        </p:blipFill>
        <p:spPr>
          <a:xfrm>
            <a:off x="1048414" y="1115568"/>
            <a:ext cx="10095140" cy="3301110"/>
          </a:xfrm>
          <a:prstGeom prst="rect">
            <a:avLst/>
          </a:prstGeom>
        </p:spPr>
      </p:pic>
      <p:sp>
        <p:nvSpPr>
          <p:cNvPr id="8" name="TextBox 7"/>
          <p:cNvSpPr txBox="1"/>
          <p:nvPr/>
        </p:nvSpPr>
        <p:spPr>
          <a:xfrm>
            <a:off x="502920" y="4526407"/>
            <a:ext cx="11186129" cy="347345"/>
          </a:xfrm>
          <a:prstGeom prst="rect">
            <a:avLst/>
          </a:prstGeom>
          <a:noFill/>
        </p:spPr>
        <p:txBody>
          <a:bodyPr wrap="square" lIns="0" rIns="0" tIns="0" bIns="0">
            <a:spAutoFit/>
          </a:bodyPr>
          <a:lstStyle/>
          <a:p>
            <a:r>
              <a:rPr sz="1550" b="1" i="0">
                <a:solidFill>
                  <a:srgbClr val="23282F"/>
                </a:solidFill>
                <a:latin typeface="Calibri"/>
              </a:rPr>
              <a:t>We do not have 3 colour channels. We have 32 wavelength bands, chosen from 740.</a:t>
            </a:r>
          </a:p>
        </p:txBody>
      </p:sp>
      <p:graphicFrame>
        <p:nvGraphicFramePr>
          <p:cNvPr id="9" name="Table 8"/>
          <p:cNvGraphicFramePr>
            <a:graphicFrameLocks noGrp="1"/>
          </p:cNvGraphicFramePr>
          <p:nvPr/>
        </p:nvGraphicFramePr>
        <p:xfrm>
          <a:off x="502920" y="4873752"/>
          <a:ext cx="11186128" cy="1453896"/>
        </p:xfrm>
        <a:graphic>
          <a:graphicData uri="http://schemas.openxmlformats.org/drawingml/2006/table">
            <a:tbl>
              <a:tblPr bandRow="1">
                <a:tableStyleId>{5C22544A-7EE6-4342-B048-85BDC9FD1C3A}</a:tableStyleId>
              </a:tblPr>
              <a:tblGrid>
                <a:gridCol w="5593064"/>
                <a:gridCol w="5593064"/>
              </a:tblGrid>
              <a:tr h="338328">
                <a:tc>
                  <a:txBody>
                    <a:bodyPr wrap="square"/>
                    <a:lstStyle/>
                    <a:p>
                      <a:pPr algn="l"/>
                      <a:r>
                        <a:rPr sz="1350" b="1" i="0">
                          <a:solidFill>
                            <a:srgbClr val="5A6472"/>
                          </a:solidFill>
                          <a:latin typeface="Calibri"/>
                        </a:rPr>
                        <a:t>consequence</a:t>
                      </a:r>
                    </a:p>
                  </a:txBody>
                  <a:tcPr marL="64008" marR="64008" marT="27432" marB="27432" anchor="ctr">
                    <a:solidFill>
                      <a:srgbClr val="F4F5F7"/>
                    </a:solidFill>
                  </a:tcPr>
                </a:tc>
                <a:tc>
                  <a:txBody>
                    <a:bodyPr wrap="square"/>
                    <a:lstStyle/>
                    <a:p>
                      <a:pPr algn="l"/>
                      <a:r>
                        <a:rPr sz="1350" b="1" i="0">
                          <a:solidFill>
                            <a:srgbClr val="5A6472"/>
                          </a:solidFill>
                          <a:latin typeface="Calibri"/>
                        </a:rPr>
                        <a:t>why it hurts</a:t>
                      </a:r>
                    </a:p>
                  </a:txBody>
                  <a:tcPr marL="64008" marR="64008" marT="27432" marB="27432" anchor="ctr">
                    <a:solidFill>
                      <a:srgbClr val="F4F5F7"/>
                    </a:solidFill>
                  </a:tcPr>
                </a:tc>
              </a:tr>
              <a:tr h="557784">
                <a:tc>
                  <a:txBody>
                    <a:bodyPr wrap="square"/>
                    <a:lstStyle/>
                    <a:p>
                      <a:pPr algn="l"/>
                      <a:r>
                        <a:rPr sz="1350" b="0" i="0">
                          <a:solidFill>
                            <a:srgbClr val="23282F"/>
                          </a:solidFill>
                          <a:latin typeface="Calibri"/>
                        </a:rPr>
                        <a:t>A model trained on one sensor </a:t>
                      </a:r>
                      <a:r>
                        <a:rPr sz="1350" b="1" i="0">
                          <a:solidFill>
                            <a:srgbClr val="23282F"/>
                          </a:solidFill>
                          <a:latin typeface="Calibri"/>
                        </a:rPr>
                        <a:t>cannot load</a:t>
                      </a:r>
                      <a:r>
                        <a:rPr sz="1350" b="0" i="0">
                          <a:solidFill>
                            <a:srgbClr val="23282F"/>
                          </a:solidFill>
                          <a:latin typeface="Calibri"/>
                        </a:rPr>
                        <a:t> into a model for another</a:t>
                      </a:r>
                    </a:p>
                  </a:txBody>
                  <a:tcPr marL="64008" marR="64008" marT="27432" marB="27432" anchor="ctr">
                    <a:solidFill>
                      <a:srgbClr val="FFFFFF"/>
                    </a:solidFill>
                  </a:tcPr>
                </a:tc>
                <a:tc>
                  <a:txBody>
                    <a:bodyPr wrap="square"/>
                    <a:lstStyle/>
                    <a:p>
                      <a:pPr algn="l"/>
                      <a:r>
                        <a:rPr sz="1350" b="0" i="0">
                          <a:solidFill>
                            <a:srgbClr val="23282F"/>
                          </a:solidFill>
                          <a:latin typeface="Calibri"/>
                        </a:rPr>
                        <a:t>not "performs badly" — the tensors are different shapes</a:t>
                      </a:r>
                    </a:p>
                  </a:txBody>
                  <a:tcPr marL="64008" marR="64008" marT="27432" marB="27432" anchor="ctr">
                    <a:solidFill>
                      <a:srgbClr val="FFFFFF"/>
                    </a:solidFill>
                  </a:tcPr>
                </a:tc>
              </a:tr>
              <a:tr h="557784">
                <a:tc>
                  <a:txBody>
                    <a:bodyPr wrap="square"/>
                    <a:lstStyle/>
                    <a:p>
                      <a:pPr algn="l"/>
                      <a:r>
                        <a:rPr sz="1350" b="0" i="0">
                          <a:solidFill>
                            <a:srgbClr val="23282F"/>
                          </a:solidFill>
                          <a:latin typeface="Calibri"/>
                        </a:rPr>
                        <a:t>Nothing anywhere represents </a:t>
                      </a:r>
                      <a:r>
                        <a:rPr sz="1350" b="1" i="0">
                          <a:solidFill>
                            <a:srgbClr val="23282F"/>
                          </a:solidFill>
                          <a:latin typeface="Calibri"/>
                        </a:rPr>
                        <a:t>which wavelength</a:t>
                      </a:r>
                      <a:r>
                        <a:rPr sz="1350" b="0" i="0">
                          <a:solidFill>
                            <a:srgbClr val="23282F"/>
                          </a:solidFill>
                          <a:latin typeface="Calibri"/>
                        </a:rPr>
                        <a:t> a channel is</a:t>
                      </a:r>
                    </a:p>
                  </a:txBody>
                  <a:tcPr marL="64008" marR="64008" marT="27432" marB="27432" anchor="ctr">
                    <a:solidFill>
                      <a:srgbClr val="FFFFFF"/>
                    </a:solidFill>
                  </a:tcPr>
                </a:tc>
                <a:tc>
                  <a:txBody>
                    <a:bodyPr wrap="square"/>
                    <a:lstStyle/>
                    <a:p>
                      <a:pPr algn="l"/>
                      <a:r>
                        <a:rPr sz="1350" b="0" i="0">
                          <a:solidFill>
                            <a:srgbClr val="23282F"/>
                          </a:solidFill>
                          <a:latin typeface="Calibri"/>
                        </a:rPr>
                        <a:t>band 7 is just "index 7"; swap two bands and the model cannot tell</a:t>
                      </a:r>
                    </a:p>
                  </a:txBody>
                  <a:tcPr marL="64008" marR="64008" marT="27432" marB="27432" anchor="ctr">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The fix: delete the stem</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1:00</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1 — Deleting `C`      7</a:t>
            </a:r>
          </a:p>
        </p:txBody>
      </p:sp>
      <p:pic>
        <p:nvPicPr>
          <p:cNvPr id="7" name="Picture 6" descr="fig05_stem_swap.png"/>
          <p:cNvPicPr>
            <a:picLocks noChangeAspect="1"/>
          </p:cNvPicPr>
          <p:nvPr/>
        </p:nvPicPr>
        <p:blipFill>
          <a:blip r:embed="rId2"/>
          <a:stretch>
            <a:fillRect/>
          </a:stretch>
        </p:blipFill>
        <p:spPr>
          <a:xfrm>
            <a:off x="1274591" y="1115568"/>
            <a:ext cx="9642785" cy="3987291"/>
          </a:xfrm>
          <a:prstGeom prst="rect">
            <a:avLst/>
          </a:prstGeom>
        </p:spPr>
      </p:pic>
      <p:sp>
        <p:nvSpPr>
          <p:cNvPr id="8" name="TextBox 7"/>
          <p:cNvSpPr txBox="1"/>
          <p:nvPr/>
        </p:nvSpPr>
        <p:spPr>
          <a:xfrm>
            <a:off x="502920" y="5212587"/>
            <a:ext cx="11186129" cy="347345"/>
          </a:xfrm>
          <a:prstGeom prst="rect">
            <a:avLst/>
          </a:prstGeom>
          <a:noFill/>
        </p:spPr>
        <p:txBody>
          <a:bodyPr wrap="square" lIns="0" rIns="0" tIns="0" bIns="0">
            <a:spAutoFit/>
          </a:bodyPr>
          <a:lstStyle/>
          <a:p>
            <a:r>
              <a:rPr sz="1550" b="1" i="0">
                <a:solidFill>
                  <a:srgbClr val="23282F"/>
                </a:solidFill>
                <a:latin typeface="Calibri"/>
              </a:rPr>
              <a:t>Everything else in Part 1 follows from this one change.</a:t>
            </a:r>
          </a:p>
        </p:txBody>
      </p:sp>
      <p:sp>
        <p:nvSpPr>
          <p:cNvPr id="9" name="TextBox 8"/>
          <p:cNvSpPr txBox="1"/>
          <p:nvPr/>
        </p:nvSpPr>
        <p:spPr>
          <a:xfrm>
            <a:off x="502920" y="5559933"/>
            <a:ext cx="11186129" cy="859155"/>
          </a:xfrm>
          <a:prstGeom prst="rect">
            <a:avLst/>
          </a:prstGeom>
          <a:noFill/>
        </p:spPr>
        <p:txBody>
          <a:bodyPr wrap="square" lIns="0" rIns="0" tIns="0" bIns="0">
            <a:spAutoFit/>
          </a:bodyPr>
          <a:lstStyle/>
          <a:p>
            <a:r>
              <a:rPr sz="1550" b="1" i="0">
                <a:solidFill>
                  <a:srgbClr val="23282F"/>
                </a:solidFill>
                <a:latin typeface="Calibri"/>
              </a:rPr>
              <a:t>The cost, stated up front:</a:t>
            </a:r>
            <a:r>
              <a:rPr sz="1550" b="0" i="0">
                <a:solidFill>
                  <a:srgbClr val="23282F"/>
                </a:solidFill>
                <a:latin typeface="Calibri"/>
              </a:rPr>
              <a:t> the backbone no longer sees pixels. It sees a per-patch summary of the spectrum, so texture </a:t>
            </a:r>
            <a:r>
              <a:rPr sz="1550" b="0" i="1">
                <a:solidFill>
                  <a:srgbClr val="23282F"/>
                </a:solidFill>
                <a:latin typeface="Calibri"/>
              </a:rPr>
              <a:t>inside</a:t>
            </a:r>
            <a:r>
              <a:rPr sz="1550" b="0" i="0">
                <a:solidFill>
                  <a:srgbClr val="23282F"/>
                </a:solidFill>
                <a:latin typeface="Calibri"/>
              </a:rPr>
              <a:t> a patch is gone. At patch size 1 that costs nothing; at patch size 8 it is most of the image.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 y="365760"/>
            <a:ext cx="9357329" cy="566928"/>
          </a:xfrm>
          <a:prstGeom prst="rect">
            <a:avLst/>
          </a:prstGeom>
          <a:noFill/>
        </p:spPr>
        <p:txBody>
          <a:bodyPr wrap="square" lIns="0" rIns="0" tIns="0" bIns="0">
            <a:spAutoFit/>
          </a:bodyPr>
          <a:lstStyle/>
          <a:p>
            <a:r>
              <a:rPr sz="2700" b="1" i="0">
                <a:solidFill>
                  <a:srgbClr val="23282F"/>
                </a:solidFill>
                <a:latin typeface="Calibri"/>
              </a:rPr>
              <a:t>Why </a:t>
            </a:r>
            <a:r>
              <a:rPr sz="2500" b="1" i="0">
                <a:solidFill>
                  <a:srgbClr val="23282F"/>
                </a:solidFill>
                <a:latin typeface="Consolas"/>
              </a:rPr>
              <a:t>C</a:t>
            </a:r>
            <a:r>
              <a:rPr sz="2700" b="1" i="0">
                <a:solidFill>
                  <a:srgbClr val="23282F"/>
                </a:solidFill>
                <a:latin typeface="Calibri"/>
              </a:rPr>
              <a:t> vanishes</a:t>
            </a:r>
          </a:p>
        </p:txBody>
      </p:sp>
      <p:sp>
        <p:nvSpPr>
          <p:cNvPr id="3" name="5-Point Star 2"/>
          <p:cNvSpPr/>
          <p:nvPr/>
        </p:nvSpPr>
        <p:spPr>
          <a:xfrm>
            <a:off x="493776" y="457200"/>
            <a:ext cx="274320" cy="274320"/>
          </a:xfrm>
          <a:prstGeom prst="star5">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1:25</a:t>
            </a:r>
          </a:p>
        </p:txBody>
      </p:sp>
      <p:sp>
        <p:nvSpPr>
          <p:cNvPr id="5" name="Rectangle 4"/>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987552"/>
            <a:ext cx="1051560" cy="25603"/>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1 — Deleting `C`      8</a:t>
            </a:r>
          </a:p>
        </p:txBody>
      </p:sp>
      <p:pic>
        <p:nvPicPr>
          <p:cNvPr id="8" name="Picture 7" descr="fig06_why_c_vanishes.png"/>
          <p:cNvPicPr>
            <a:picLocks noChangeAspect="1"/>
          </p:cNvPicPr>
          <p:nvPr/>
        </p:nvPicPr>
        <p:blipFill>
          <a:blip r:embed="rId2"/>
          <a:stretch>
            <a:fillRect/>
          </a:stretch>
        </p:blipFill>
        <p:spPr>
          <a:xfrm>
            <a:off x="1968344" y="1115568"/>
            <a:ext cx="8255280" cy="3731386"/>
          </a:xfrm>
          <a:prstGeom prst="rect">
            <a:avLst/>
          </a:prstGeom>
        </p:spPr>
      </p:pic>
      <p:sp>
        <p:nvSpPr>
          <p:cNvPr id="9" name="TextBox 8"/>
          <p:cNvSpPr txBox="1"/>
          <p:nvPr/>
        </p:nvSpPr>
        <p:spPr>
          <a:xfrm>
            <a:off x="502920" y="4956683"/>
            <a:ext cx="11186129" cy="859155"/>
          </a:xfrm>
          <a:prstGeom prst="rect">
            <a:avLst/>
          </a:prstGeom>
          <a:noFill/>
        </p:spPr>
        <p:txBody>
          <a:bodyPr wrap="square" lIns="0" rIns="0" tIns="0" bIns="0">
            <a:spAutoFit/>
          </a:bodyPr>
          <a:lstStyle/>
          <a:p>
            <a:r>
              <a:rPr sz="1550" b="1" i="0">
                <a:solidFill>
                  <a:srgbClr val="23282F"/>
                </a:solidFill>
                <a:latin typeface="Calibri"/>
              </a:rPr>
              <a:t>Feed the bands in one at a time, and no weight ever learns how many there are.</a:t>
            </a:r>
            <a:r>
              <a:rPr sz="1550" b="0" i="0">
                <a:solidFill>
                  <a:srgbClr val="23282F"/>
                </a:solidFill>
                <a:latin typeface="Calibri"/>
              </a:rPr>
              <a:t> </a:t>
            </a:r>
            <a:r>
              <a:rPr sz="1500" b="0" i="0">
                <a:solidFill>
                  <a:srgbClr val="6B7482"/>
                </a:solidFill>
                <a:latin typeface="Consolas"/>
              </a:rPr>
              <a:t>Linear(1 → 32)</a:t>
            </a:r>
            <a:r>
              <a:rPr sz="1550" b="0" i="0">
                <a:solidFill>
                  <a:srgbClr val="23282F"/>
                </a:solidFill>
                <a:latin typeface="Calibri"/>
              </a:rPr>
              <a:t> takes a single band's value; its weight is </a:t>
            </a:r>
            <a:r>
              <a:rPr sz="1500" b="0" i="0">
                <a:solidFill>
                  <a:srgbClr val="6B7482"/>
                </a:solidFill>
                <a:latin typeface="Consolas"/>
              </a:rPr>
              <a:t>[32, 1]</a:t>
            </a:r>
            <a:r>
              <a:rPr sz="1550" b="0" i="0">
                <a:solidFill>
                  <a:srgbClr val="23282F"/>
                </a:solidFill>
                <a:latin typeface="Calibri"/>
              </a:rPr>
              <a:t>. 32 bands → 32 tokens; 3 bands → 3 tokens; </a:t>
            </a:r>
            <a:r>
              <a:rPr sz="1550" b="1" i="0">
                <a:solidFill>
                  <a:srgbClr val="23282F"/>
                </a:solidFill>
                <a:latin typeface="Calibri"/>
              </a:rPr>
              <a:t>same weights</a:t>
            </a:r>
            <a:r>
              <a:rPr sz="1550" b="0" i="0">
                <a:solidFill>
                  <a:srgbClr val="23282F"/>
                </a:solidFill>
                <a:latin typeface="Calibri"/>
              </a:rPr>
              <a:t>. Then average over however many there were, and the output is fixed-size.</a:t>
            </a:r>
          </a:p>
        </p:txBody>
      </p:sp>
      <p:sp>
        <p:nvSpPr>
          <p:cNvPr id="10" name="TextBox 9"/>
          <p:cNvSpPr txBox="1"/>
          <p:nvPr/>
        </p:nvSpPr>
        <p:spPr>
          <a:xfrm>
            <a:off x="502920" y="5815837"/>
            <a:ext cx="11186129" cy="603250"/>
          </a:xfrm>
          <a:prstGeom prst="rect">
            <a:avLst/>
          </a:prstGeom>
          <a:noFill/>
        </p:spPr>
        <p:txBody>
          <a:bodyPr wrap="square" lIns="0" rIns="0" tIns="0" bIns="0">
            <a:spAutoFit/>
          </a:bodyPr>
          <a:lstStyle/>
          <a:p>
            <a:r>
              <a:rPr sz="1550" b="1" i="0">
                <a:solidFill>
                  <a:srgbClr val="23282F"/>
                </a:solidFill>
                <a:latin typeface="Calibri"/>
              </a:rPr>
              <a:t>446,409 parameters at 32 bands. 446,409 at 3.</a:t>
            </a:r>
            <a:r>
              <a:rPr sz="1550" b="0" i="0">
                <a:solidFill>
                  <a:srgbClr val="23282F"/>
                </a:solidFill>
                <a:latin typeface="Calibri"/>
              </a:rPr>
              <a:t> Not "about the same" — identical. </a:t>
            </a:r>
            <a:r>
              <a:rPr sz="1550" b="1" i="0">
                <a:solidFill>
                  <a:srgbClr val="4E8C6A"/>
                </a:solidFill>
                <a:latin typeface="Calibri"/>
              </a:rPr>
              <a:t>●</a:t>
            </a:r>
            <a:r>
              <a:rPr sz="1550" b="0" i="0">
                <a:solidFill>
                  <a:srgbClr val="23282F"/>
                </a:solidFill>
                <a:latin typeface="Calibri"/>
              </a:rPr>
              <a:t> </a:t>
            </a:r>
            <a:r>
              <a:rPr sz="1550" b="0" i="1">
                <a:solidFill>
                  <a:srgbClr val="23282F"/>
                </a:solidFill>
                <a:latin typeface="Calibri"/>
              </a:rPr>
              <a:t>verified from two run configs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Problem 2 — the backbone is the expensive part</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1:00</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C270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1 — Deleting `C`      9</a:t>
            </a:r>
          </a:p>
        </p:txBody>
      </p:sp>
      <p:sp>
        <p:nvSpPr>
          <p:cNvPr id="7" name="TextBox 6"/>
          <p:cNvSpPr txBox="1"/>
          <p:nvPr/>
        </p:nvSpPr>
        <p:spPr>
          <a:xfrm>
            <a:off x="502920" y="1115568"/>
            <a:ext cx="11186129" cy="603250"/>
          </a:xfrm>
          <a:prstGeom prst="rect">
            <a:avLst/>
          </a:prstGeom>
          <a:noFill/>
        </p:spPr>
        <p:txBody>
          <a:bodyPr wrap="square" lIns="0" rIns="0" tIns="0" bIns="0">
            <a:spAutoFit/>
          </a:bodyPr>
          <a:lstStyle/>
          <a:p>
            <a:r>
              <a:rPr sz="1500" b="0" i="0">
                <a:solidFill>
                  <a:srgbClr val="6B7482"/>
                </a:solidFill>
                <a:latin typeface="Consolas"/>
              </a:rPr>
              <a:t>C</a:t>
            </a:r>
            <a:r>
              <a:rPr sz="1550" b="0" i="0">
                <a:solidFill>
                  <a:srgbClr val="23282F"/>
                </a:solidFill>
                <a:latin typeface="Calibri"/>
              </a:rPr>
              <a:t> is gone, and the model is still a </a:t>
            </a:r>
            <a:r>
              <a:rPr sz="1550" b="1" i="0">
                <a:solidFill>
                  <a:srgbClr val="23282F"/>
                </a:solidFill>
                <a:latin typeface="Calibri"/>
              </a:rPr>
              <a:t>four-stage hierarchical stack</a:t>
            </a:r>
            <a:r>
              <a:rPr sz="1550" b="0" i="0">
                <a:solidFill>
                  <a:srgbClr val="23282F"/>
                </a:solidFill>
                <a:latin typeface="Calibri"/>
              </a:rPr>
              <a:t>: twelve distinct blocks, every one of them stored separately.</a:t>
            </a:r>
          </a:p>
        </p:txBody>
      </p:sp>
      <p:graphicFrame>
        <p:nvGraphicFramePr>
          <p:cNvPr id="8" name="Table 7"/>
          <p:cNvGraphicFramePr>
            <a:graphicFrameLocks noGrp="1"/>
          </p:cNvGraphicFramePr>
          <p:nvPr/>
        </p:nvGraphicFramePr>
        <p:xfrm>
          <a:off x="502920" y="1718817"/>
          <a:ext cx="11186129" cy="1014984"/>
        </p:xfrm>
        <a:graphic>
          <a:graphicData uri="http://schemas.openxmlformats.org/drawingml/2006/table">
            <a:tbl>
              <a:tblPr bandRow="1">
                <a:tableStyleId>{5C22544A-7EE6-4342-B048-85BDC9FD1C3A}</a:tableStyleId>
              </a:tblPr>
              <a:tblGrid>
                <a:gridCol w="8988854"/>
                <a:gridCol w="2197275"/>
              </a:tblGrid>
              <a:tr h="338328">
                <a:tc>
                  <a:txBody>
                    <a:bodyPr wrap="square"/>
                    <a:lstStyle/>
                    <a:p>
                      <a:pPr algn="l"/>
                      <a:r>
                        <a:rPr sz="1350" b="1" i="0">
                          <a:solidFill>
                            <a:srgbClr val="5A6472"/>
                          </a:solidFill>
                          <a:latin typeface="Calibri"/>
                        </a:rPr>
                        <a:t>where the parameters live</a:t>
                      </a:r>
                    </a:p>
                  </a:txBody>
                  <a:tcPr marL="64008" marR="64008" marT="27432" marB="27432" anchor="ctr">
                    <a:solidFill>
                      <a:srgbClr val="F4F5F7"/>
                    </a:solidFill>
                  </a:tcPr>
                </a:tc>
                <a:tc>
                  <a:txBody>
                    <a:bodyPr wrap="square"/>
                    <a:lstStyle/>
                    <a:p>
                      <a:pPr algn="l"/>
                    </a:p>
                  </a:txBody>
                  <a:tcPr marL="64008" marR="64008" marT="27432" marB="27432" anchor="ctr">
                    <a:solidFill>
                      <a:srgbClr val="F4F5F7"/>
                    </a:solidFill>
                  </a:tcPr>
                </a:tc>
              </a:tr>
              <a:tr h="338328">
                <a:tc>
                  <a:txBody>
                    <a:bodyPr wrap="square"/>
                    <a:lstStyle/>
                    <a:p>
                      <a:pPr algn="l"/>
                      <a:r>
                        <a:rPr sz="1350" b="0" i="0">
                          <a:solidFill>
                            <a:srgbClr val="23282F"/>
                          </a:solidFill>
                          <a:latin typeface="Calibri"/>
                        </a:rPr>
                        <a:t>the spectral front end — </a:t>
                      </a:r>
                      <a:r>
                        <a:rPr sz="1350" b="1" i="0">
                          <a:solidFill>
                            <a:srgbClr val="23282F"/>
                          </a:solidFill>
                          <a:latin typeface="Calibri"/>
                        </a:rPr>
                        <a:t>everything in Part 1</a:t>
                      </a:r>
                    </a:p>
                  </a:txBody>
                  <a:tcPr marL="64008" marR="64008" marT="27432" marB="27432" anchor="ctr">
                    <a:solidFill>
                      <a:srgbClr val="FFFFFF"/>
                    </a:solidFill>
                  </a:tcPr>
                </a:tc>
                <a:tc>
                  <a:txBody>
                    <a:bodyPr wrap="square"/>
                    <a:lstStyle/>
                    <a:p>
                      <a:pPr algn="r"/>
                      <a:r>
                        <a:rPr sz="1350" b="1" i="0">
                          <a:solidFill>
                            <a:srgbClr val="23282F"/>
                          </a:solidFill>
                          <a:latin typeface="Calibri"/>
                        </a:rPr>
                        <a:t>38,724</a:t>
                      </a:r>
                      <a:r>
                        <a:rPr sz="1350" b="0" i="0">
                          <a:solidFill>
                            <a:srgbClr val="23282F"/>
                          </a:solidFill>
                          <a:latin typeface="Calibri"/>
                        </a:rPr>
                        <a:t> </a:t>
                      </a:r>
                      <a:r>
                        <a:rPr sz="1350" b="1" i="0">
                          <a:solidFill>
                            <a:srgbClr val="4E8C6A"/>
                          </a:solidFill>
                          <a:latin typeface="Calibri"/>
                        </a:rPr>
                        <a:t>●</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a 4-stage hierarchical backbone</a:t>
                      </a:r>
                    </a:p>
                  </a:txBody>
                  <a:tcPr marL="64008" marR="64008" marT="27432" marB="27432" anchor="ctr">
                    <a:solidFill>
                      <a:srgbClr val="FFFFFF"/>
                    </a:solidFill>
                  </a:tcPr>
                </a:tc>
                <a:tc>
                  <a:txBody>
                    <a:bodyPr wrap="square"/>
                    <a:lstStyle/>
                    <a:p>
                      <a:pPr algn="l"/>
                      <a:r>
                        <a:rPr sz="1350" b="1" i="0">
                          <a:solidFill>
                            <a:srgbClr val="23282F"/>
                          </a:solidFill>
                          <a:latin typeface="Calibri"/>
                        </a:rPr>
                        <a:t>~27,000,000</a:t>
                      </a:r>
                    </a:p>
                  </a:txBody>
                  <a:tcPr marL="64008" marR="64008" marT="27432" marB="27432" anchor="ctr">
                    <a:solidFill>
                      <a:srgbClr val="FFFFFF"/>
                    </a:solidFill>
                  </a:tcPr>
                </a:tc>
              </a:tr>
            </a:tbl>
          </a:graphicData>
        </a:graphic>
      </p:graphicFrame>
      <p:sp>
        <p:nvSpPr>
          <p:cNvPr id="9" name="TextBox 8"/>
          <p:cNvSpPr txBox="1"/>
          <p:nvPr/>
        </p:nvSpPr>
        <p:spPr>
          <a:xfrm>
            <a:off x="502920" y="2825242"/>
            <a:ext cx="11186129" cy="347345"/>
          </a:xfrm>
          <a:prstGeom prst="rect">
            <a:avLst/>
          </a:prstGeom>
          <a:noFill/>
        </p:spPr>
        <p:txBody>
          <a:bodyPr wrap="square" lIns="0" rIns="0" tIns="0" bIns="0">
            <a:spAutoFit/>
          </a:bodyPr>
          <a:lstStyle/>
          <a:p>
            <a:r>
              <a:rPr sz="1550" b="1" i="0">
                <a:solidFill>
                  <a:srgbClr val="23282F"/>
                </a:solidFill>
                <a:latin typeface="Calibri"/>
              </a:rPr>
              <a:t>So: can a backbone reuse the same weights instead of storing twelve sets?</a:t>
            </a:r>
          </a:p>
        </p:txBody>
      </p:sp>
      <p:sp>
        <p:nvSpPr>
          <p:cNvPr id="10" name="TextBox 9"/>
          <p:cNvSpPr txBox="1"/>
          <p:nvPr/>
        </p:nvSpPr>
        <p:spPr>
          <a:xfrm>
            <a:off x="502920" y="3172586"/>
            <a:ext cx="11186129" cy="603250"/>
          </a:xfrm>
          <a:prstGeom prst="rect">
            <a:avLst/>
          </a:prstGeom>
          <a:noFill/>
        </p:spPr>
        <p:txBody>
          <a:bodyPr wrap="square" lIns="0" rIns="0" tIns="0" bIns="0">
            <a:spAutoFit/>
          </a:bodyPr>
          <a:lstStyle/>
          <a:p>
            <a:r>
              <a:rPr sz="1550" b="0" i="0">
                <a:solidFill>
                  <a:srgbClr val="23282F"/>
                </a:solidFill>
                <a:latin typeface="Calibri"/>
              </a:rPr>
              <a:t>That question has an answer in a paper from October 2025, and it is not a small one — the answer also happens to be </a:t>
            </a:r>
            <a:r>
              <a:rPr sz="1550" b="1" i="0">
                <a:solidFill>
                  <a:srgbClr val="23282F"/>
                </a:solidFill>
                <a:latin typeface="Calibri"/>
              </a:rPr>
              <a:t>why the thing works at all</a:t>
            </a:r>
            <a:r>
              <a:rPr sz="1550" b="0" i="0">
                <a:solidFill>
                  <a:srgbClr val="23282F"/>
                </a:solidFill>
                <a:latin typeface="Calibri"/>
              </a:rPr>
              <a:t>. So Part 2 is that paper.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331720"/>
            <a:ext cx="12191969" cy="91440"/>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3169" cy="914400"/>
          </a:xfrm>
          <a:prstGeom prst="rect">
            <a:avLst/>
          </a:prstGeom>
          <a:noFill/>
        </p:spPr>
        <p:txBody>
          <a:bodyPr wrap="square" lIns="0" rIns="0" tIns="0" bIns="0">
            <a:spAutoFit/>
          </a:bodyPr>
          <a:lstStyle/>
          <a:p>
            <a:r>
              <a:rPr sz="3800" b="1">
                <a:solidFill>
                  <a:srgbClr val="23282F"/>
                </a:solidFill>
                <a:latin typeface="Calibri"/>
              </a:rPr>
              <a:t>Part 2 — What is TRM?</a:t>
            </a:r>
          </a:p>
        </p:txBody>
      </p:sp>
      <p:sp>
        <p:nvSpPr>
          <p:cNvPr id="4" name="TextBox 3"/>
          <p:cNvSpPr txBox="1"/>
          <p:nvPr/>
        </p:nvSpPr>
        <p:spPr>
          <a:xfrm>
            <a:off x="914400" y="3703320"/>
            <a:ext cx="10363169" cy="589788"/>
          </a:xfrm>
          <a:prstGeom prst="rect">
            <a:avLst/>
          </a:prstGeom>
          <a:noFill/>
        </p:spPr>
        <p:txBody>
          <a:bodyPr wrap="square" lIns="0" rIns="0" tIns="0" bIns="0">
            <a:spAutoFit/>
          </a:bodyPr>
          <a:lstStyle/>
          <a:p>
            <a:r>
              <a:rPr sz="1400" b="1" i="0">
                <a:solidFill>
                  <a:srgbClr val="6B7482"/>
                </a:solidFill>
                <a:latin typeface="Calibri"/>
              </a:rPr>
              <a:t>Tiny Recursive Model</a:t>
            </a:r>
            <a:r>
              <a:rPr sz="1400" b="0" i="0">
                <a:solidFill>
                  <a:srgbClr val="6B7482"/>
                </a:solidFill>
                <a:latin typeface="Calibri"/>
              </a:rPr>
              <a:t> — </a:t>
            </a:r>
            <a:r>
              <a:rPr sz="1400" b="0" i="1">
                <a:solidFill>
                  <a:srgbClr val="6B7482"/>
                </a:solidFill>
                <a:latin typeface="Calibri"/>
              </a:rPr>
              <a:t>"Less is More: Recursive Reasoning with Tiny Networks"</a:t>
            </a:r>
            <a:r>
              <a:rPr sz="1400" b="0" i="0">
                <a:solidFill>
                  <a:srgbClr val="6B7482"/>
                </a:solidFill>
                <a:latin typeface="Calibri"/>
              </a:rPr>
              <a:t> Alexia Jolicoeur-Martineau · Samsung SAIL Montréal · </a:t>
            </a:r>
            <a:r>
              <a:rPr sz="1400" b="0" i="0">
                <a:solidFill>
                  <a:srgbClr val="6B7482"/>
                </a:solidFill>
                <a:latin typeface="Calibri"/>
              </a:rPr>
              <a:t>arXiv:2510.04871</a:t>
            </a:r>
            <a:r>
              <a:rPr sz="1400" b="0" i="0">
                <a:solidFill>
                  <a:srgbClr val="6B7482"/>
                </a:solidFill>
                <a:latin typeface="Calibri"/>
              </a:rPr>
              <a:t> · October 2025</a:t>
            </a:r>
          </a:p>
        </p:txBody>
      </p:sp>
      <p:sp>
        <p:nvSpPr>
          <p:cNvPr id="5" name="TextBox 4"/>
          <p:cNvSpPr txBox="1"/>
          <p:nvPr/>
        </p:nvSpPr>
        <p:spPr>
          <a:xfrm>
            <a:off x="914400" y="4384548"/>
            <a:ext cx="10363169" cy="589788"/>
          </a:xfrm>
          <a:prstGeom prst="rect">
            <a:avLst/>
          </a:prstGeom>
          <a:noFill/>
        </p:spPr>
        <p:txBody>
          <a:bodyPr wrap="square" lIns="0" rIns="0" tIns="0" bIns="0">
            <a:spAutoFit/>
          </a:bodyPr>
          <a:lstStyle/>
          <a:p>
            <a:r>
              <a:rPr sz="1400" b="1" i="0">
                <a:solidFill>
                  <a:srgbClr val="6B7482"/>
                </a:solidFill>
                <a:latin typeface="Calibri"/>
              </a:rPr>
              <a:t>Nothing in this part is ours.</a:t>
            </a:r>
            <a:r>
              <a:rPr sz="1400" b="0" i="0">
                <a:solidFill>
                  <a:srgbClr val="6B7482"/>
                </a:solidFill>
                <a:latin typeface="Calibri"/>
              </a:rPr>
              <a:t> Every number in it is the paper's, measured on puzzle benchmarks — not on medical images. We come back in Part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 y="365760"/>
            <a:ext cx="9357329" cy="566928"/>
          </a:xfrm>
          <a:prstGeom prst="rect">
            <a:avLst/>
          </a:prstGeom>
          <a:noFill/>
        </p:spPr>
        <p:txBody>
          <a:bodyPr wrap="square" lIns="0" rIns="0" tIns="0" bIns="0">
            <a:spAutoFit/>
          </a:bodyPr>
          <a:lstStyle/>
          <a:p>
            <a:r>
              <a:rPr sz="2700" b="1" i="0">
                <a:solidFill>
                  <a:srgbClr val="23282F"/>
                </a:solidFill>
                <a:latin typeface="Calibri"/>
              </a:rPr>
              <a:t>A maze, solved in pencil</a:t>
            </a:r>
          </a:p>
        </p:txBody>
      </p:sp>
      <p:sp>
        <p:nvSpPr>
          <p:cNvPr id="3" name="5-Point Star 2"/>
          <p:cNvSpPr/>
          <p:nvPr/>
        </p:nvSpPr>
        <p:spPr>
          <a:xfrm>
            <a:off x="493776" y="457200"/>
            <a:ext cx="274320" cy="274320"/>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2:15</a:t>
            </a:r>
          </a:p>
        </p:txBody>
      </p:sp>
      <p:sp>
        <p:nvSpPr>
          <p:cNvPr id="5" name="Rectangle 4"/>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987552"/>
            <a:ext cx="1051560" cy="25603"/>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2 — What is TRM?      11</a:t>
            </a:r>
          </a:p>
        </p:txBody>
      </p:sp>
      <p:pic>
        <p:nvPicPr>
          <p:cNvPr id="8" name="Picture 7" descr="fig19_trm_maze.png"/>
          <p:cNvPicPr>
            <a:picLocks noChangeAspect="1"/>
          </p:cNvPicPr>
          <p:nvPr/>
        </p:nvPicPr>
        <p:blipFill>
          <a:blip r:embed="rId2"/>
          <a:stretch>
            <a:fillRect/>
          </a:stretch>
        </p:blipFill>
        <p:spPr>
          <a:xfrm>
            <a:off x="2990385" y="1115568"/>
            <a:ext cx="6211199" cy="2807461"/>
          </a:xfrm>
          <a:prstGeom prst="rect">
            <a:avLst/>
          </a:prstGeom>
        </p:spPr>
      </p:pic>
      <p:graphicFrame>
        <p:nvGraphicFramePr>
          <p:cNvPr id="9" name="Table 8"/>
          <p:cNvGraphicFramePr>
            <a:graphicFrameLocks noGrp="1"/>
          </p:cNvGraphicFramePr>
          <p:nvPr/>
        </p:nvGraphicFramePr>
        <p:xfrm>
          <a:off x="502920" y="4032757"/>
          <a:ext cx="11186127" cy="1691640"/>
        </p:xfrm>
        <a:graphic>
          <a:graphicData uri="http://schemas.openxmlformats.org/drawingml/2006/table">
            <a:tbl>
              <a:tblPr bandRow="1">
                <a:tableStyleId>{5C22544A-7EE6-4342-B048-85BDC9FD1C3A}</a:tableStyleId>
              </a:tblPr>
              <a:tblGrid>
                <a:gridCol w="588743"/>
                <a:gridCol w="3679647"/>
                <a:gridCol w="6917737"/>
              </a:tblGrid>
              <a:tr h="338328">
                <a:tc>
                  <a:txBody>
                    <a:bodyPr wrap="square"/>
                    <a:lstStyle/>
                    <a:p>
                      <a:pPr algn="l"/>
                    </a:p>
                  </a:txBody>
                  <a:tcPr marL="64008" marR="64008" marT="27432" marB="27432" anchor="ctr">
                    <a:solidFill>
                      <a:srgbClr val="F4F5F7"/>
                    </a:solidFill>
                  </a:tcPr>
                </a:tc>
                <a:tc>
                  <a:txBody>
                    <a:bodyPr wrap="square"/>
                    <a:lstStyle/>
                    <a:p>
                      <a:pPr algn="l"/>
                      <a:r>
                        <a:rPr sz="1350" b="1" i="0">
                          <a:solidFill>
                            <a:srgbClr val="5A6472"/>
                          </a:solidFill>
                          <a:latin typeface="Calibri"/>
                        </a:rPr>
                        <a:t>in the maze</a:t>
                      </a:r>
                    </a:p>
                  </a:txBody>
                  <a:tcPr marL="64008" marR="64008" marT="27432" marB="27432" anchor="ctr">
                    <a:solidFill>
                      <a:srgbClr val="F4F5F7"/>
                    </a:solidFill>
                  </a:tcPr>
                </a:tc>
                <a:tc>
                  <a:txBody>
                    <a:bodyPr wrap="square"/>
                    <a:lstStyle/>
                    <a:p>
                      <a:pPr algn="l"/>
                      <a:r>
                        <a:rPr sz="1350" b="1" i="0">
                          <a:solidFill>
                            <a:srgbClr val="5A6472"/>
                          </a:solidFill>
                          <a:latin typeface="Calibri"/>
                        </a:rPr>
                        <a:t>in the model</a:t>
                      </a:r>
                    </a:p>
                  </a:txBody>
                  <a:tcPr marL="64008" marR="64008" marT="27432" marB="27432" anchor="ctr">
                    <a:solidFill>
                      <a:srgbClr val="F4F5F7"/>
                    </a:solidFill>
                  </a:tcPr>
                </a:tc>
              </a:tr>
              <a:tr h="338328">
                <a:tc>
                  <a:txBody>
                    <a:bodyPr wrap="square"/>
                    <a:lstStyle/>
                    <a:p>
                      <a:pPr algn="l"/>
                      <a:r>
                        <a:rPr sz="1300" b="0" i="0">
                          <a:solidFill>
                            <a:srgbClr val="6B7482"/>
                          </a:solidFill>
                          <a:latin typeface="Consolas"/>
                        </a:rPr>
                        <a:t>x</a:t>
                      </a:r>
                    </a:p>
                  </a:txBody>
                  <a:tcPr marL="64008" marR="64008" marT="27432" marB="27432" anchor="ctr">
                    <a:solidFill>
                      <a:srgbClr val="FFFFFF"/>
                    </a:solidFill>
                  </a:tcPr>
                </a:tc>
                <a:tc>
                  <a:txBody>
                    <a:bodyPr wrap="square"/>
                    <a:lstStyle/>
                    <a:p>
                      <a:pPr algn="l"/>
                      <a:r>
                        <a:rPr sz="1350" b="0" i="0">
                          <a:solidFill>
                            <a:srgbClr val="23282F"/>
                          </a:solidFill>
                          <a:latin typeface="Calibri"/>
                        </a:rPr>
                        <a:t>the maze on the page</a:t>
                      </a:r>
                    </a:p>
                  </a:txBody>
                  <a:tcPr marL="64008" marR="64008" marT="27432" marB="27432" anchor="ctr">
                    <a:solidFill>
                      <a:srgbClr val="FFFFFF"/>
                    </a:solidFill>
                  </a:tcPr>
                </a:tc>
                <a:tc>
                  <a:txBody>
                    <a:bodyPr wrap="square"/>
                    <a:lstStyle/>
                    <a:p>
                      <a:pPr algn="l"/>
                      <a:r>
                        <a:rPr sz="1350" b="0" i="0">
                          <a:solidFill>
                            <a:srgbClr val="23282F"/>
                          </a:solidFill>
                          <a:latin typeface="Calibri"/>
                        </a:rPr>
                        <a:t>the input, embedded once, never changed again</a:t>
                      </a:r>
                    </a:p>
                  </a:txBody>
                  <a:tcPr marL="64008" marR="64008" marT="27432" marB="27432" anchor="ctr">
                    <a:solidFill>
                      <a:srgbClr val="FFFFFF"/>
                    </a:solidFill>
                  </a:tcPr>
                </a:tc>
              </a:tr>
              <a:tr h="338328">
                <a:tc>
                  <a:txBody>
                    <a:bodyPr wrap="square"/>
                    <a:lstStyle/>
                    <a:p>
                      <a:pPr algn="l"/>
                      <a:r>
                        <a:rPr sz="1300" b="0" i="0">
                          <a:solidFill>
                            <a:srgbClr val="6B7482"/>
                          </a:solidFill>
                          <a:latin typeface="Consolas"/>
                        </a:rPr>
                        <a:t>y</a:t>
                      </a:r>
                    </a:p>
                  </a:txBody>
                  <a:tcPr marL="64008" marR="64008" marT="27432" marB="27432" anchor="ctr">
                    <a:solidFill>
                      <a:srgbClr val="FFFFFF"/>
                    </a:solidFill>
                  </a:tcPr>
                </a:tc>
                <a:tc>
                  <a:txBody>
                    <a:bodyPr wrap="square"/>
                    <a:lstStyle/>
                    <a:p>
                      <a:pPr algn="l"/>
                      <a:r>
                        <a:rPr sz="1350" b="0" i="0">
                          <a:solidFill>
                            <a:srgbClr val="23282F"/>
                          </a:solidFill>
                          <a:latin typeface="Calibri"/>
                        </a:rPr>
                        <a:t>the pencil line so far</a:t>
                      </a:r>
                    </a:p>
                  </a:txBody>
                  <a:tcPr marL="64008" marR="64008" marT="27432" marB="27432" anchor="ctr">
                    <a:solidFill>
                      <a:srgbClr val="FFFFFF"/>
                    </a:solidFill>
                  </a:tcPr>
                </a:tc>
                <a:tc>
                  <a:txBody>
                    <a:bodyPr wrap="square"/>
                    <a:lstStyle/>
                    <a:p>
                      <a:pPr algn="l"/>
                      <a:r>
                        <a:rPr sz="1350" b="0" i="0">
                          <a:solidFill>
                            <a:srgbClr val="23282F"/>
                          </a:solidFill>
                          <a:latin typeface="Calibri"/>
                        </a:rPr>
                        <a:t>the current answer — readable at any moment</a:t>
                      </a:r>
                    </a:p>
                  </a:txBody>
                  <a:tcPr marL="64008" marR="64008" marT="27432" marB="27432" anchor="ctr">
                    <a:solidFill>
                      <a:srgbClr val="FFFFFF"/>
                    </a:solidFill>
                  </a:tcPr>
                </a:tc>
              </a:tr>
              <a:tr h="338328">
                <a:tc>
                  <a:txBody>
                    <a:bodyPr wrap="square"/>
                    <a:lstStyle/>
                    <a:p>
                      <a:pPr algn="l"/>
                      <a:r>
                        <a:rPr sz="1300" b="0" i="0">
                          <a:solidFill>
                            <a:srgbClr val="6B7482"/>
                          </a:solidFill>
                          <a:latin typeface="Consolas"/>
                        </a:rPr>
                        <a:t>z</a:t>
                      </a:r>
                    </a:p>
                  </a:txBody>
                  <a:tcPr marL="64008" marR="64008" marT="27432" marB="27432" anchor="ctr">
                    <a:solidFill>
                      <a:srgbClr val="FFFFFF"/>
                    </a:solidFill>
                  </a:tcPr>
                </a:tc>
                <a:tc>
                  <a:txBody>
                    <a:bodyPr wrap="square"/>
                    <a:lstStyle/>
                    <a:p>
                      <a:pPr algn="l"/>
                      <a:r>
                        <a:rPr sz="1350" b="0" i="0">
                          <a:solidFill>
                            <a:srgbClr val="23282F"/>
                          </a:solidFill>
                          <a:latin typeface="Calibri"/>
                        </a:rPr>
                        <a:t>worked out, not yet drawn</a:t>
                      </a:r>
                    </a:p>
                  </a:txBody>
                  <a:tcPr marL="64008" marR="64008" marT="27432" marB="27432" anchor="ctr">
                    <a:solidFill>
                      <a:srgbClr val="FFFFFF"/>
                    </a:solidFill>
                  </a:tcPr>
                </a:tc>
                <a:tc>
                  <a:txBody>
                    <a:bodyPr wrap="square"/>
                    <a:lstStyle/>
                    <a:p>
                      <a:pPr algn="l"/>
                      <a:r>
                        <a:rPr sz="1350" b="0" i="0">
                          <a:solidFill>
                            <a:srgbClr val="23282F"/>
                          </a:solidFill>
                          <a:latin typeface="Calibri"/>
                        </a:rPr>
                        <a:t>the private working</a:t>
                      </a:r>
                    </a:p>
                  </a:txBody>
                  <a:tcPr marL="64008" marR="64008" marT="27432" marB="27432" anchor="ctr">
                    <a:solidFill>
                      <a:srgbClr val="FFFFFF"/>
                    </a:solidFill>
                  </a:tcPr>
                </a:tc>
              </a:tr>
              <a:tr h="338328">
                <a:tc>
                  <a:txBody>
                    <a:bodyPr wrap="square"/>
                    <a:lstStyle/>
                    <a:p>
                      <a:pPr algn="l"/>
                      <a:r>
                        <a:rPr sz="1300" b="0" i="0">
                          <a:solidFill>
                            <a:srgbClr val="6B7482"/>
                          </a:solidFill>
                          <a:latin typeface="Consolas"/>
                        </a:rPr>
                        <a:t>f</a:t>
                      </a:r>
                    </a:p>
                  </a:txBody>
                  <a:tcPr marL="64008" marR="64008" marT="27432" marB="27432" anchor="ctr">
                    <a:solidFill>
                      <a:srgbClr val="FFFFFF"/>
                    </a:solidFill>
                  </a:tcPr>
                </a:tc>
                <a:tc>
                  <a:txBody>
                    <a:bodyPr wrap="square"/>
                    <a:lstStyle/>
                    <a:p>
                      <a:pPr algn="l"/>
                      <a:r>
                        <a:rPr sz="1350" b="0" i="0">
                          <a:solidFill>
                            <a:srgbClr val="23282F"/>
                          </a:solidFill>
                          <a:latin typeface="Calibri"/>
                        </a:rPr>
                        <a:t>you</a:t>
                      </a:r>
                    </a:p>
                  </a:txBody>
                  <a:tcPr marL="64008" marR="64008" marT="27432" marB="27432" anchor="ctr">
                    <a:solidFill>
                      <a:srgbClr val="FFFFFF"/>
                    </a:solidFill>
                  </a:tcPr>
                </a:tc>
                <a:tc>
                  <a:txBody>
                    <a:bodyPr wrap="square"/>
                    <a:lstStyle/>
                    <a:p>
                      <a:pPr algn="l"/>
                      <a:r>
                        <a:rPr sz="1350" b="0" i="0">
                          <a:solidFill>
                            <a:srgbClr val="23282F"/>
                          </a:solidFill>
                          <a:latin typeface="Calibri"/>
                        </a:rPr>
                        <a:t>a </a:t>
                      </a:r>
                      <a:r>
                        <a:rPr sz="1350" b="1" i="0">
                          <a:solidFill>
                            <a:srgbClr val="23282F"/>
                          </a:solidFill>
                          <a:latin typeface="Calibri"/>
                        </a:rPr>
                        <a:t>2-layer</a:t>
                      </a:r>
                      <a:r>
                        <a:rPr sz="1350" b="0" i="0">
                          <a:solidFill>
                            <a:srgbClr val="23282F"/>
                          </a:solidFill>
                          <a:latin typeface="Calibri"/>
                        </a:rPr>
                        <a:t> network — the only weights that exist</a:t>
                      </a:r>
                    </a:p>
                  </a:txBody>
                  <a:tcPr marL="64008" marR="64008" marT="27432" marB="27432" anchor="ctr">
                    <a:solidFill>
                      <a:srgbClr val="FFFFFF"/>
                    </a:solidFill>
                  </a:tcPr>
                </a:tc>
              </a:tr>
            </a:tbl>
          </a:graphicData>
        </a:graphic>
      </p:graphicFrame>
      <p:sp>
        <p:nvSpPr>
          <p:cNvPr id="10" name="TextBox 9"/>
          <p:cNvSpPr txBox="1"/>
          <p:nvPr/>
        </p:nvSpPr>
        <p:spPr>
          <a:xfrm>
            <a:off x="502920" y="5815837"/>
            <a:ext cx="11186129" cy="603250"/>
          </a:xfrm>
          <a:prstGeom prst="rect">
            <a:avLst/>
          </a:prstGeom>
          <a:noFill/>
        </p:spPr>
        <p:txBody>
          <a:bodyPr wrap="square" lIns="0" rIns="0" tIns="0" bIns="0">
            <a:spAutoFit/>
          </a:bodyPr>
          <a:lstStyle/>
          <a:p>
            <a:r>
              <a:rPr sz="1550" b="1" i="0">
                <a:solidFill>
                  <a:srgbClr val="23282F"/>
                </a:solidFill>
                <a:latin typeface="Calibri"/>
              </a:rPr>
              <a:t>Four words, used consistently from here on:</a:t>
            </a:r>
            <a:r>
              <a:rPr sz="1550" b="0" i="0">
                <a:solidFill>
                  <a:srgbClr val="23282F"/>
                </a:solidFill>
                <a:latin typeface="Calibri"/>
              </a:rPr>
              <a:t> a </a:t>
            </a:r>
            <a:r>
              <a:rPr sz="1550" b="1" i="0">
                <a:solidFill>
                  <a:srgbClr val="23282F"/>
                </a:solidFill>
                <a:latin typeface="Calibri"/>
              </a:rPr>
              <a:t>scribble</a:t>
            </a:r>
            <a:r>
              <a:rPr sz="1550" b="0" i="0">
                <a:solidFill>
                  <a:srgbClr val="23282F"/>
                </a:solidFill>
                <a:latin typeface="Calibri"/>
              </a:rPr>
              <a:t> is one update of </a:t>
            </a:r>
            <a:r>
              <a:rPr sz="1500" b="0" i="0">
                <a:solidFill>
                  <a:srgbClr val="6B7482"/>
                </a:solidFill>
                <a:latin typeface="Consolas"/>
              </a:rPr>
              <a:t>z</a:t>
            </a:r>
            <a:r>
              <a:rPr sz="1550" b="0" i="0">
                <a:solidFill>
                  <a:srgbClr val="23282F"/>
                </a:solidFill>
                <a:latin typeface="Calibri"/>
              </a:rPr>
              <a:t> · a </a:t>
            </a:r>
            <a:r>
              <a:rPr sz="1550" b="1" i="0">
                <a:solidFill>
                  <a:srgbClr val="23282F"/>
                </a:solidFill>
                <a:latin typeface="Calibri"/>
              </a:rPr>
              <a:t>stroke</a:t>
            </a:r>
            <a:r>
              <a:rPr sz="1550" b="0" i="0">
                <a:solidFill>
                  <a:srgbClr val="23282F"/>
                </a:solidFill>
                <a:latin typeface="Calibri"/>
              </a:rPr>
              <a:t> is one update of </a:t>
            </a:r>
            <a:r>
              <a:rPr sz="1500" b="0" i="0">
                <a:solidFill>
                  <a:srgbClr val="6B7482"/>
                </a:solidFill>
                <a:latin typeface="Consolas"/>
              </a:rPr>
              <a:t>y</a:t>
            </a:r>
            <a:r>
              <a:rPr sz="1550" b="0" i="0">
                <a:solidFill>
                  <a:srgbClr val="23282F"/>
                </a:solidFill>
                <a:latin typeface="Calibri"/>
              </a:rPr>
              <a:t> · a </a:t>
            </a:r>
            <a:r>
              <a:rPr sz="1550" b="1" i="0">
                <a:solidFill>
                  <a:srgbClr val="23282F"/>
                </a:solidFill>
                <a:latin typeface="Calibri"/>
              </a:rPr>
              <a:t>round</a:t>
            </a:r>
            <a:r>
              <a:rPr sz="1550" b="0" i="0">
                <a:solidFill>
                  <a:srgbClr val="23282F"/>
                </a:solidFill>
                <a:latin typeface="Calibri"/>
              </a:rPr>
              <a:t> is 6 scribbles then 1 stroke · a </a:t>
            </a:r>
            <a:r>
              <a:rPr sz="1550" b="1" i="0">
                <a:solidFill>
                  <a:srgbClr val="23282F"/>
                </a:solidFill>
                <a:latin typeface="Calibri"/>
              </a:rPr>
              <a:t>pass</a:t>
            </a:r>
            <a:r>
              <a:rPr sz="1550" b="0" i="0">
                <a:solidFill>
                  <a:srgbClr val="23282F"/>
                </a:solidFill>
                <a:latin typeface="Calibri"/>
              </a:rPr>
              <a:t> is 3 rounds, then you look at the answer.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Why it gets better each pass</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1:10</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2 — What is TRM?      12</a:t>
            </a:r>
          </a:p>
        </p:txBody>
      </p:sp>
      <p:pic>
        <p:nvPicPr>
          <p:cNvPr id="7" name="Picture 6" descr="fig20_trm_maze_refine.png"/>
          <p:cNvPicPr>
            <a:picLocks noChangeAspect="1"/>
          </p:cNvPicPr>
          <p:nvPr/>
        </p:nvPicPr>
        <p:blipFill>
          <a:blip r:embed="rId2"/>
          <a:stretch>
            <a:fillRect/>
          </a:stretch>
        </p:blipFill>
        <p:spPr>
          <a:xfrm>
            <a:off x="1218746" y="1115568"/>
            <a:ext cx="9754475" cy="4243196"/>
          </a:xfrm>
          <a:prstGeom prst="rect">
            <a:avLst/>
          </a:prstGeom>
        </p:spPr>
      </p:pic>
      <p:sp>
        <p:nvSpPr>
          <p:cNvPr id="8" name="TextBox 7"/>
          <p:cNvSpPr txBox="1"/>
          <p:nvPr/>
        </p:nvSpPr>
        <p:spPr>
          <a:xfrm>
            <a:off x="502920" y="5468492"/>
            <a:ext cx="11186129" cy="347345"/>
          </a:xfrm>
          <a:prstGeom prst="rect">
            <a:avLst/>
          </a:prstGeom>
          <a:noFill/>
        </p:spPr>
        <p:txBody>
          <a:bodyPr wrap="square" lIns="0" rIns="0" tIns="0" bIns="0">
            <a:spAutoFit/>
          </a:bodyPr>
          <a:lstStyle/>
          <a:p>
            <a:r>
              <a:rPr sz="1550" b="0" i="0">
                <a:solidFill>
                  <a:srgbClr val="23282F"/>
                </a:solidFill>
                <a:latin typeface="Calibri"/>
              </a:rPr>
              <a:t>The model is </a:t>
            </a:r>
            <a:r>
              <a:rPr sz="1550" b="1" i="0">
                <a:solidFill>
                  <a:srgbClr val="23282F"/>
                </a:solidFill>
                <a:latin typeface="Calibri"/>
              </a:rPr>
              <a:t>never</a:t>
            </a:r>
            <a:r>
              <a:rPr sz="1550" b="0" i="0">
                <a:solidFill>
                  <a:srgbClr val="23282F"/>
                </a:solidFill>
                <a:latin typeface="Calibri"/>
              </a:rPr>
              <a:t> asked </a:t>
            </a:r>
            <a:r>
              <a:rPr sz="1550" b="0" i="1">
                <a:solidFill>
                  <a:srgbClr val="23282F"/>
                </a:solidFill>
                <a:latin typeface="Calibri"/>
              </a:rPr>
              <a:t>"solve this."</a:t>
            </a:r>
            <a:r>
              <a:rPr sz="1550" b="0" i="0">
                <a:solidFill>
                  <a:srgbClr val="23282F"/>
                </a:solidFill>
                <a:latin typeface="Calibri"/>
              </a:rPr>
              <a:t> It is asked </a:t>
            </a:r>
            <a:r>
              <a:rPr sz="1550" b="1" i="0">
                <a:solidFill>
                  <a:srgbClr val="23282F"/>
                </a:solidFill>
                <a:latin typeface="Calibri"/>
              </a:rPr>
              <a:t>"here is an imperfect answer — make it less wrong."</a:t>
            </a:r>
          </a:p>
        </p:txBody>
      </p:sp>
      <p:sp>
        <p:nvSpPr>
          <p:cNvPr id="9" name="TextBox 8"/>
          <p:cNvSpPr txBox="1"/>
          <p:nvPr/>
        </p:nvSpPr>
        <p:spPr>
          <a:xfrm>
            <a:off x="502920" y="5815837"/>
            <a:ext cx="11186129" cy="603250"/>
          </a:xfrm>
          <a:prstGeom prst="rect">
            <a:avLst/>
          </a:prstGeom>
          <a:noFill/>
        </p:spPr>
        <p:txBody>
          <a:bodyPr wrap="square" lIns="0" rIns="0" tIns="0" bIns="0">
            <a:spAutoFit/>
          </a:bodyPr>
          <a:lstStyle/>
          <a:p>
            <a:r>
              <a:rPr sz="1550" b="1" i="0">
                <a:solidFill>
                  <a:srgbClr val="23282F"/>
                </a:solidFill>
                <a:latin typeface="Calibri"/>
              </a:rPr>
              <a:t>That is why a tiny network is enough: it never has to be right in one shot, so it never needs the capacity to be right in one shot.</a:t>
            </a:r>
            <a:r>
              <a:rPr sz="1550" b="0" i="0">
                <a:solidFill>
                  <a:srgbClr val="23282F"/>
                </a:solidFill>
                <a:latin typeface="Calibri"/>
              </a:rPr>
              <a:t> It borrows what it is missing from </a:t>
            </a:r>
            <a:r>
              <a:rPr sz="1550" b="0" i="1">
                <a:solidFill>
                  <a:srgbClr val="23282F"/>
                </a:solidFill>
                <a:latin typeface="Calibri"/>
              </a:rPr>
              <a:t>time</a:t>
            </a:r>
            <a:r>
              <a:rPr sz="1550" b="0" i="0">
                <a:solidFill>
                  <a:srgbClr val="23282F"/>
                </a:solidFill>
                <a:latin typeface="Calibri"/>
              </a:rPr>
              <a:t> — from being run again.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500" b="1" i="0">
                <a:solidFill>
                  <a:srgbClr val="23282F"/>
                </a:solidFill>
                <a:latin typeface="Consolas"/>
              </a:rPr>
              <a:t>y</a:t>
            </a:r>
            <a:r>
              <a:rPr sz="2700" b="1" i="0">
                <a:solidFill>
                  <a:srgbClr val="23282F"/>
                </a:solidFill>
                <a:latin typeface="Calibri"/>
              </a:rPr>
              <a:t> is the answer, </a:t>
            </a:r>
            <a:r>
              <a:rPr sz="2500" b="1" i="0">
                <a:solidFill>
                  <a:srgbClr val="23282F"/>
                </a:solidFill>
                <a:latin typeface="Consolas"/>
              </a:rPr>
              <a:t>z</a:t>
            </a:r>
            <a:r>
              <a:rPr sz="2700" b="1" i="0">
                <a:solidFill>
                  <a:srgbClr val="23282F"/>
                </a:solidFill>
                <a:latin typeface="Calibri"/>
              </a:rPr>
              <a:t> is the working — and two is the right number</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1:20</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2 — What is TRM?      13</a:t>
            </a:r>
          </a:p>
        </p:txBody>
      </p:sp>
      <p:sp>
        <p:nvSpPr>
          <p:cNvPr id="7" name="TextBox 6"/>
          <p:cNvSpPr txBox="1"/>
          <p:nvPr/>
        </p:nvSpPr>
        <p:spPr>
          <a:xfrm>
            <a:off x="539496" y="1115568"/>
            <a:ext cx="11149553" cy="950595"/>
          </a:xfrm>
          <a:prstGeom prst="rect">
            <a:avLst/>
          </a:prstGeom>
          <a:noFill/>
        </p:spPr>
        <p:txBody>
          <a:bodyPr wrap="square" lIns="0" rIns="0" tIns="0" bIns="0">
            <a:spAutoFit/>
          </a:bodyPr>
          <a:lstStyle/>
          <a:p>
            <a:pPr>
              <a:spcAft>
                <a:spcPts val="400"/>
              </a:spcAft>
            </a:pPr>
            <a:r>
              <a:rPr sz="1550" b="1">
                <a:solidFill>
                  <a:srgbClr val="6A5A92"/>
                </a:solidFill>
                <a:latin typeface="Calibri"/>
              </a:rPr>
              <a:t>•  </a:t>
            </a:r>
            <a:r>
              <a:rPr sz="1500" b="1" i="0">
                <a:solidFill>
                  <a:srgbClr val="23282F"/>
                </a:solidFill>
                <a:latin typeface="Consolas"/>
              </a:rPr>
              <a:t>y</a:t>
            </a:r>
            <a:r>
              <a:rPr sz="1550" b="1" i="0">
                <a:solidFill>
                  <a:srgbClr val="23282F"/>
                </a:solidFill>
                <a:latin typeface="Calibri"/>
              </a:rPr>
              <a:t> is the answer.</a:t>
            </a:r>
            <a:r>
              <a:rPr sz="1550" b="0" i="0">
                <a:solidFill>
                  <a:srgbClr val="23282F"/>
                </a:solidFill>
                <a:latin typeface="Calibri"/>
              </a:rPr>
              <a:t> Not a code for it — push it through the output head and you get an actual Sudoku grid. Decode it mid-recursion and you see a partly-solved puzzle getting better. That is the pencil line.</a:t>
            </a:r>
          </a:p>
          <a:p>
            <a:pPr>
              <a:spcAft>
                <a:spcPts val="400"/>
              </a:spcAft>
            </a:pPr>
            <a:r>
              <a:rPr sz="1550" b="1">
                <a:solidFill>
                  <a:srgbClr val="6A5A92"/>
                </a:solidFill>
                <a:latin typeface="Calibri"/>
              </a:rPr>
              <a:t>•  </a:t>
            </a:r>
            <a:r>
              <a:rPr sz="1500" b="1" i="0">
                <a:solidFill>
                  <a:srgbClr val="23282F"/>
                </a:solidFill>
                <a:latin typeface="Consolas"/>
              </a:rPr>
              <a:t>z</a:t>
            </a:r>
            <a:r>
              <a:rPr sz="1550" b="1" i="0">
                <a:solidFill>
                  <a:srgbClr val="23282F"/>
                </a:solidFill>
                <a:latin typeface="Calibri"/>
              </a:rPr>
              <a:t> is the working.</a:t>
            </a:r>
            <a:r>
              <a:rPr sz="1550" b="0" i="0">
                <a:solidFill>
                  <a:srgbClr val="23282F"/>
                </a:solidFill>
                <a:latin typeface="Calibri"/>
              </a:rPr>
              <a:t> Decode it and you get nothing meaningful. Nobody ever sees it.</a:t>
            </a:r>
          </a:p>
        </p:txBody>
      </p:sp>
      <p:sp>
        <p:nvSpPr>
          <p:cNvPr id="8" name="TextBox 7"/>
          <p:cNvSpPr txBox="1"/>
          <p:nvPr/>
        </p:nvSpPr>
        <p:spPr>
          <a:xfrm>
            <a:off x="502920" y="2066163"/>
            <a:ext cx="11186129" cy="347345"/>
          </a:xfrm>
          <a:prstGeom prst="rect">
            <a:avLst/>
          </a:prstGeom>
          <a:noFill/>
        </p:spPr>
        <p:txBody>
          <a:bodyPr wrap="square" lIns="0" rIns="0" tIns="0" bIns="0">
            <a:spAutoFit/>
          </a:bodyPr>
          <a:lstStyle/>
          <a:p>
            <a:r>
              <a:rPr sz="1550" b="1" i="0">
                <a:solidFill>
                  <a:srgbClr val="23282F"/>
                </a:solidFill>
                <a:latin typeface="Calibri"/>
              </a:rPr>
              <a:t>Why exactly two?</a:t>
            </a:r>
            <a:r>
              <a:rPr sz="1550" b="0" i="0">
                <a:solidFill>
                  <a:srgbClr val="23282F"/>
                </a:solidFill>
                <a:latin typeface="Calibri"/>
              </a:rPr>
              <a:t> Each one is load-bearing, and the paper tested the alternatives on Sudoku-Extreme:</a:t>
            </a:r>
          </a:p>
        </p:txBody>
      </p:sp>
      <p:graphicFrame>
        <p:nvGraphicFramePr>
          <p:cNvPr id="9" name="Table 8"/>
          <p:cNvGraphicFramePr>
            <a:graphicFrameLocks noGrp="1"/>
          </p:cNvGraphicFramePr>
          <p:nvPr/>
        </p:nvGraphicFramePr>
        <p:xfrm>
          <a:off x="502920" y="2413508"/>
          <a:ext cx="11186128" cy="1353312"/>
        </p:xfrm>
        <a:graphic>
          <a:graphicData uri="http://schemas.openxmlformats.org/drawingml/2006/table">
            <a:tbl>
              <a:tblPr bandRow="1">
                <a:tableStyleId>{5C22544A-7EE6-4342-B048-85BDC9FD1C3A}</a:tableStyleId>
              </a:tblPr>
              <a:tblGrid>
                <a:gridCol w="4021979"/>
                <a:gridCol w="502747"/>
                <a:gridCol w="628434"/>
                <a:gridCol w="6032968"/>
              </a:tblGrid>
              <a:tr h="338328">
                <a:tc>
                  <a:txBody>
                    <a:bodyPr wrap="square"/>
                    <a:lstStyle/>
                    <a:p>
                      <a:pPr algn="l"/>
                      <a:r>
                        <a:rPr sz="1350" b="1" i="0">
                          <a:solidFill>
                            <a:srgbClr val="5A6472"/>
                          </a:solidFill>
                          <a:latin typeface="Calibri"/>
                        </a:rPr>
                        <a:t>what gets carried between passes</a:t>
                      </a:r>
                    </a:p>
                  </a:txBody>
                  <a:tcPr marL="64008" marR="64008" marT="27432" marB="27432" anchor="ctr">
                    <a:solidFill>
                      <a:srgbClr val="F4F5F7"/>
                    </a:solidFill>
                  </a:tcPr>
                </a:tc>
                <a:tc>
                  <a:txBody>
                    <a:bodyPr wrap="square"/>
                    <a:lstStyle/>
                    <a:p>
                      <a:pPr algn="l"/>
                      <a:r>
                        <a:rPr sz="1350" b="1" i="0">
                          <a:solidFill>
                            <a:srgbClr val="5A6472"/>
                          </a:solidFill>
                          <a:latin typeface="Calibri"/>
                        </a:rPr>
                        <a:t>#</a:t>
                      </a:r>
                    </a:p>
                  </a:txBody>
                  <a:tcPr marL="64008" marR="64008" marT="27432" marB="27432" anchor="ctr">
                    <a:solidFill>
                      <a:srgbClr val="F4F5F7"/>
                    </a:solidFill>
                  </a:tcPr>
                </a:tc>
                <a:tc>
                  <a:txBody>
                    <a:bodyPr wrap="square"/>
                    <a:lstStyle/>
                    <a:p>
                      <a:pPr algn="l"/>
                      <a:r>
                        <a:rPr sz="1350" b="1" i="0">
                          <a:solidFill>
                            <a:srgbClr val="5A6472"/>
                          </a:solidFill>
                          <a:latin typeface="Calibri"/>
                        </a:rPr>
                        <a:t>acc</a:t>
                      </a:r>
                    </a:p>
                  </a:txBody>
                  <a:tcPr marL="64008" marR="64008" marT="27432" marB="27432" anchor="ctr">
                    <a:solidFill>
                      <a:srgbClr val="F4F5F7"/>
                    </a:solidFill>
                  </a:tcPr>
                </a:tc>
                <a:tc>
                  <a:txBody>
                    <a:bodyPr wrap="square"/>
                    <a:lstStyle/>
                    <a:p>
                      <a:pPr algn="l"/>
                      <a:r>
                        <a:rPr sz="1350" b="1" i="0">
                          <a:solidFill>
                            <a:srgbClr val="5A6472"/>
                          </a:solidFill>
                          <a:latin typeface="Calibri"/>
                        </a:rPr>
                        <a:t>what breaks</a:t>
                      </a:r>
                    </a:p>
                  </a:txBody>
                  <a:tcPr marL="64008" marR="64008" marT="27432" marB="27432" anchor="ctr">
                    <a:solidFill>
                      <a:srgbClr val="F4F5F7"/>
                    </a:solidFill>
                  </a:tcPr>
                </a:tc>
              </a:tr>
              <a:tr h="338328">
                <a:tc>
                  <a:txBody>
                    <a:bodyPr wrap="square"/>
                    <a:lstStyle/>
                    <a:p>
                      <a:pPr algn="l"/>
                      <a:r>
                        <a:rPr sz="1300" b="1" i="0">
                          <a:solidFill>
                            <a:srgbClr val="23282F"/>
                          </a:solidFill>
                          <a:latin typeface="Consolas"/>
                        </a:rPr>
                        <a:t>y</a:t>
                      </a:r>
                      <a:r>
                        <a:rPr sz="1350" b="1" i="0">
                          <a:solidFill>
                            <a:srgbClr val="23282F"/>
                          </a:solidFill>
                          <a:latin typeface="Calibri"/>
                        </a:rPr>
                        <a:t> and </a:t>
                      </a:r>
                      <a:r>
                        <a:rPr sz="1300" b="1" i="0">
                          <a:solidFill>
                            <a:srgbClr val="23282F"/>
                          </a:solidFill>
                          <a:latin typeface="Consolas"/>
                        </a:rPr>
                        <a:t>z</a:t>
                      </a:r>
                    </a:p>
                  </a:txBody>
                  <a:tcPr marL="64008" marR="64008" marT="27432" marB="27432" anchor="ctr">
                    <a:solidFill>
                      <a:srgbClr val="FFFFFF"/>
                    </a:solidFill>
                  </a:tcPr>
                </a:tc>
                <a:tc>
                  <a:txBody>
                    <a:bodyPr wrap="square"/>
                    <a:lstStyle/>
                    <a:p>
                      <a:pPr algn="r"/>
                      <a:r>
                        <a:rPr sz="1350" b="1" i="0">
                          <a:solidFill>
                            <a:srgbClr val="23282F"/>
                          </a:solidFill>
                          <a:latin typeface="Calibri"/>
                        </a:rPr>
                        <a:t>2</a:t>
                      </a:r>
                    </a:p>
                  </a:txBody>
                  <a:tcPr marL="64008" marR="64008" marT="27432" marB="27432" anchor="ctr">
                    <a:solidFill>
                      <a:srgbClr val="FFFFFF"/>
                    </a:solidFill>
                  </a:tcPr>
                </a:tc>
                <a:tc>
                  <a:txBody>
                    <a:bodyPr wrap="square"/>
                    <a:lstStyle/>
                    <a:p>
                      <a:pPr algn="r"/>
                      <a:r>
                        <a:rPr sz="1350" b="1" i="0">
                          <a:solidFill>
                            <a:srgbClr val="23282F"/>
                          </a:solidFill>
                          <a:latin typeface="Calibri"/>
                        </a:rPr>
                        <a:t>87.4%</a:t>
                      </a:r>
                    </a:p>
                  </a:txBody>
                  <a:tcPr marL="64008" marR="64008" marT="27432" marB="27432" anchor="ctr">
                    <a:solidFill>
                      <a:srgbClr val="FFFFFF"/>
                    </a:solidFill>
                  </a:tcPr>
                </a:tc>
                <a:tc>
                  <a:txBody>
                    <a:bodyPr wrap="square"/>
                    <a:lstStyle/>
                    <a:p>
                      <a:pPr algn="r"/>
                      <a:r>
                        <a:rPr sz="1350" b="0" i="0">
                          <a:solidFill>
                            <a:srgbClr val="23282F"/>
                          </a:solidFill>
                          <a:latin typeface="Calibri"/>
                        </a:rPr>
                        <a:t>—</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one </a:t>
                      </a:r>
                      <a:r>
                        <a:rPr sz="1300" b="0" i="0">
                          <a:solidFill>
                            <a:srgbClr val="6B7482"/>
                          </a:solidFill>
                          <a:latin typeface="Consolas"/>
                        </a:rPr>
                        <a:t>z</a:t>
                      </a:r>
                      <a:r>
                        <a:rPr sz="1350" b="0" i="0">
                          <a:solidFill>
                            <a:srgbClr val="23282F"/>
                          </a:solidFill>
                          <a:latin typeface="Calibri"/>
                        </a:rPr>
                        <a:t> per recursion step</a:t>
                      </a:r>
                    </a:p>
                  </a:txBody>
                  <a:tcPr marL="64008" marR="64008" marT="27432" marB="27432" anchor="ctr">
                    <a:solidFill>
                      <a:srgbClr val="FFFFFF"/>
                    </a:solidFill>
                  </a:tcPr>
                </a:tc>
                <a:tc>
                  <a:txBody>
                    <a:bodyPr wrap="square"/>
                    <a:lstStyle/>
                    <a:p>
                      <a:pPr algn="r"/>
                      <a:r>
                        <a:rPr sz="1350" b="0" i="0">
                          <a:solidFill>
                            <a:srgbClr val="23282F"/>
                          </a:solidFill>
                          <a:latin typeface="Calibri"/>
                        </a:rPr>
                        <a:t>7</a:t>
                      </a:r>
                    </a:p>
                  </a:txBody>
                  <a:tcPr marL="64008" marR="64008" marT="27432" marB="27432" anchor="ctr">
                    <a:solidFill>
                      <a:srgbClr val="FFFFFF"/>
                    </a:solidFill>
                  </a:tcPr>
                </a:tc>
                <a:tc>
                  <a:txBody>
                    <a:bodyPr wrap="square"/>
                    <a:lstStyle/>
                    <a:p>
                      <a:pPr algn="r"/>
                      <a:r>
                        <a:rPr sz="1350" b="0" i="0">
                          <a:solidFill>
                            <a:srgbClr val="23282F"/>
                          </a:solidFill>
                          <a:latin typeface="Calibri"/>
                        </a:rPr>
                        <a:t>77.6%</a:t>
                      </a:r>
                    </a:p>
                  </a:txBody>
                  <a:tcPr marL="64008" marR="64008" marT="27432" marB="27432" anchor="ctr">
                    <a:solidFill>
                      <a:srgbClr val="FFFFFF"/>
                    </a:solidFill>
                  </a:tcPr>
                </a:tc>
                <a:tc>
                  <a:txBody>
                    <a:bodyPr wrap="square"/>
                    <a:lstStyle/>
                    <a:p>
                      <a:pPr algn="l"/>
                      <a:r>
                        <a:rPr sz="1350" b="0" i="0">
                          <a:solidFill>
                            <a:srgbClr val="23282F"/>
                          </a:solidFill>
                          <a:latin typeface="Calibri"/>
                        </a:rPr>
                        <a:t>capacity and overfitting, nothing else</a:t>
                      </a:r>
                    </a:p>
                  </a:txBody>
                  <a:tcPr marL="64008" marR="64008" marT="27432" marB="27432" anchor="ctr">
                    <a:solidFill>
                      <a:srgbClr val="FFFFFF"/>
                    </a:solidFill>
                  </a:tcPr>
                </a:tc>
              </a:tr>
              <a:tr h="338328">
                <a:tc>
                  <a:txBody>
                    <a:bodyPr wrap="square"/>
                    <a:lstStyle/>
                    <a:p>
                      <a:pPr algn="l"/>
                      <a:r>
                        <a:rPr sz="1300" b="0" i="0">
                          <a:solidFill>
                            <a:srgbClr val="6B7482"/>
                          </a:solidFill>
                          <a:latin typeface="Consolas"/>
                        </a:rPr>
                        <a:t>z</a:t>
                      </a:r>
                      <a:r>
                        <a:rPr sz="1350" b="0" i="0">
                          <a:solidFill>
                            <a:srgbClr val="23282F"/>
                          </a:solidFill>
                          <a:latin typeface="Calibri"/>
                        </a:rPr>
                        <a:t> only</a:t>
                      </a:r>
                    </a:p>
                  </a:txBody>
                  <a:tcPr marL="64008" marR="64008" marT="27432" marB="27432" anchor="ctr">
                    <a:solidFill>
                      <a:srgbClr val="FFFFFF"/>
                    </a:solidFill>
                  </a:tcPr>
                </a:tc>
                <a:tc>
                  <a:txBody>
                    <a:bodyPr wrap="square"/>
                    <a:lstStyle/>
                    <a:p>
                      <a:pPr algn="r"/>
                      <a:r>
                        <a:rPr sz="1350" b="0" i="0">
                          <a:solidFill>
                            <a:srgbClr val="23282F"/>
                          </a:solidFill>
                          <a:latin typeface="Calibri"/>
                        </a:rPr>
                        <a:t>1</a:t>
                      </a:r>
                    </a:p>
                  </a:txBody>
                  <a:tcPr marL="64008" marR="64008" marT="27432" marB="27432" anchor="ctr">
                    <a:solidFill>
                      <a:srgbClr val="FFFFFF"/>
                    </a:solidFill>
                  </a:tcPr>
                </a:tc>
                <a:tc>
                  <a:txBody>
                    <a:bodyPr wrap="square"/>
                    <a:lstStyle/>
                    <a:p>
                      <a:pPr algn="r"/>
                      <a:r>
                        <a:rPr sz="1350" b="0" i="0">
                          <a:solidFill>
                            <a:srgbClr val="23282F"/>
                          </a:solidFill>
                          <a:latin typeface="Calibri"/>
                        </a:rPr>
                        <a:t>71.9%</a:t>
                      </a:r>
                    </a:p>
                  </a:txBody>
                  <a:tcPr marL="64008" marR="64008" marT="27432" marB="27432" anchor="ctr">
                    <a:solidFill>
                      <a:srgbClr val="FFFFFF"/>
                    </a:solidFill>
                  </a:tcPr>
                </a:tc>
                <a:tc>
                  <a:txBody>
                    <a:bodyPr wrap="square"/>
                    <a:lstStyle/>
                    <a:p>
                      <a:pPr algn="l"/>
                      <a:r>
                        <a:rPr sz="1350" b="0" i="0">
                          <a:solidFill>
                            <a:srgbClr val="23282F"/>
                          </a:solidFill>
                          <a:latin typeface="Calibri"/>
                        </a:rPr>
                        <a:t>forgets </a:t>
                      </a:r>
                      <a:r>
                        <a:rPr sz="1350" b="0" i="1">
                          <a:solidFill>
                            <a:srgbClr val="23282F"/>
                          </a:solidFill>
                          <a:latin typeface="Calibri"/>
                        </a:rPr>
                        <a:t>how</a:t>
                      </a:r>
                      <a:r>
                        <a:rPr sz="1350" b="0" i="0">
                          <a:solidFill>
                            <a:srgbClr val="23282F"/>
                          </a:solidFill>
                          <a:latin typeface="Calibri"/>
                        </a:rPr>
                        <a:t> it got here — no working to build on</a:t>
                      </a:r>
                    </a:p>
                  </a:txBody>
                  <a:tcPr marL="64008" marR="64008" marT="27432" marB="27432" anchor="ctr">
                    <a:solidFill>
                      <a:srgbClr val="FFFFFF"/>
                    </a:solidFill>
                  </a:tcPr>
                </a:tc>
              </a:tr>
            </a:tbl>
          </a:graphicData>
        </a:graphic>
      </p:graphicFrame>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 y="365760"/>
            <a:ext cx="9357329" cy="566928"/>
          </a:xfrm>
          <a:prstGeom prst="rect">
            <a:avLst/>
          </a:prstGeom>
          <a:noFill/>
        </p:spPr>
        <p:txBody>
          <a:bodyPr wrap="square" lIns="0" rIns="0" tIns="0" bIns="0">
            <a:spAutoFit/>
          </a:bodyPr>
          <a:lstStyle/>
          <a:p>
            <a:r>
              <a:rPr sz="2700" b="1" i="0">
                <a:solidFill>
                  <a:srgbClr val="23282F"/>
                </a:solidFill>
                <a:latin typeface="Calibri"/>
              </a:rPr>
              <a:t>The same thing, precisely</a:t>
            </a:r>
          </a:p>
        </p:txBody>
      </p:sp>
      <p:sp>
        <p:nvSpPr>
          <p:cNvPr id="3" name="5-Point Star 2"/>
          <p:cNvSpPr/>
          <p:nvPr/>
        </p:nvSpPr>
        <p:spPr>
          <a:xfrm>
            <a:off x="493776" y="457200"/>
            <a:ext cx="274320" cy="274320"/>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1:45</a:t>
            </a:r>
          </a:p>
        </p:txBody>
      </p:sp>
      <p:sp>
        <p:nvSpPr>
          <p:cNvPr id="5" name="Rectangle 4"/>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987552"/>
            <a:ext cx="1051560" cy="25603"/>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2 — What is TRM?      14</a:t>
            </a:r>
          </a:p>
        </p:txBody>
      </p:sp>
      <p:sp>
        <p:nvSpPr>
          <p:cNvPr id="8" name="Rectangle 7"/>
          <p:cNvSpPr/>
          <p:nvPr/>
        </p:nvSpPr>
        <p:spPr>
          <a:xfrm>
            <a:off x="502920" y="1115568"/>
            <a:ext cx="11186129" cy="1398143"/>
          </a:xfrm>
          <a:prstGeom prst="rect">
            <a:avLst/>
          </a:prstGeom>
          <a:solidFill>
            <a:srgbClr val="F6F5FA"/>
          </a:solidFill>
          <a:ln w="9525">
            <a:solidFill>
              <a:srgbClr val="DDD8E8"/>
            </a:solidFill>
          </a:ln>
          <a:effectLst/>
        </p:spPr>
        <p:style>
          <a:lnRef idx="1">
            <a:schemeClr val="accent1"/>
          </a:lnRef>
          <a:fillRef idx="3">
            <a:schemeClr val="accent1"/>
          </a:fillRef>
          <a:effectRef idx="2">
            <a:schemeClr val="accent1"/>
          </a:effectRef>
          <a:fontRef idx="minor">
            <a:schemeClr val="lt1"/>
          </a:fontRef>
        </p:style>
        <p:txBody>
          <a:bodyPr rtlCol="0" anchor="t" wrap="none" lIns="146304" tIns="82296" rIns="45720"/>
          <a:lstStyle/>
          <a:p>
            <a:pPr algn="l"/>
            <a:r>
              <a:rPr sz="1450">
                <a:solidFill>
                  <a:srgbClr val="23282F"/>
                </a:solidFill>
                <a:latin typeface="Consolas"/>
              </a:rPr>
              <a:t>def latent_recursion(x, y, z, n=6):</a:t>
            </a:r>
          </a:p>
          <a:p>
            <a:pPr algn="l"/>
            <a:r>
              <a:rPr sz="1450">
                <a:solidFill>
                  <a:srgbClr val="23282F"/>
                </a:solidFill>
                <a:latin typeface="Consolas"/>
              </a:rPr>
              <a:t>    for i in range(n):        </a:t>
            </a:r>
            <a:r>
              <a:rPr sz="1450">
                <a:solidFill>
                  <a:srgbClr val="4E8C6A"/>
                </a:solidFill>
                <a:latin typeface="Consolas"/>
              </a:rPr>
              <a:t># six scribbles: update the working</a:t>
            </a:r>
          </a:p>
          <a:p>
            <a:pPr algn="l"/>
            <a:r>
              <a:rPr sz="1450">
                <a:solidFill>
                  <a:srgbClr val="23282F"/>
                </a:solidFill>
                <a:latin typeface="Consolas"/>
              </a:rPr>
              <a:t>        z = net(x, y, z)      </a:t>
            </a:r>
            <a:r>
              <a:rPr sz="1450">
                <a:solidFill>
                  <a:srgbClr val="4E8C6A"/>
                </a:solidFill>
                <a:latin typeface="Consolas"/>
              </a:rPr>
              <a:t>#   literally  z = f(z + y + x)</a:t>
            </a:r>
          </a:p>
          <a:p>
            <a:pPr algn="l"/>
            <a:r>
              <a:rPr sz="1450">
                <a:solidFill>
                  <a:srgbClr val="23282F"/>
                </a:solidFill>
                <a:latin typeface="Consolas"/>
              </a:rPr>
              <a:t>    y = net(y, z)             </a:t>
            </a:r>
            <a:r>
              <a:rPr sz="1450">
                <a:solidFill>
                  <a:srgbClr val="4E8C6A"/>
                </a:solidFill>
                <a:latin typeface="Consolas"/>
              </a:rPr>
              <a:t># one stroke: update the answer</a:t>
            </a:r>
          </a:p>
          <a:p>
            <a:pPr algn="l"/>
            <a:r>
              <a:rPr sz="1450">
                <a:solidFill>
                  <a:srgbClr val="23282F"/>
                </a:solidFill>
                <a:latin typeface="Consolas"/>
              </a:rPr>
              <a:t>    return y, z               </a:t>
            </a:r>
            <a:r>
              <a:rPr sz="1450">
                <a:solidFill>
                  <a:srgbClr val="4E8C6A"/>
                </a:solidFill>
                <a:latin typeface="Consolas"/>
              </a:rPr>
              <a:t>#   literally  y = f(y + z)</a:t>
            </a:r>
          </a:p>
        </p:txBody>
      </p:sp>
      <p:sp>
        <p:nvSpPr>
          <p:cNvPr id="9" name="TextBox 8"/>
          <p:cNvSpPr txBox="1"/>
          <p:nvPr/>
        </p:nvSpPr>
        <p:spPr>
          <a:xfrm>
            <a:off x="502920" y="2641727"/>
            <a:ext cx="11186129" cy="603250"/>
          </a:xfrm>
          <a:prstGeom prst="rect">
            <a:avLst/>
          </a:prstGeom>
          <a:noFill/>
        </p:spPr>
        <p:txBody>
          <a:bodyPr wrap="square" lIns="0" rIns="0" tIns="0" bIns="0">
            <a:spAutoFit/>
          </a:bodyPr>
          <a:lstStyle/>
          <a:p>
            <a:r>
              <a:rPr sz="1550" b="1" i="0">
                <a:solidFill>
                  <a:srgbClr val="23282F"/>
                </a:solidFill>
                <a:latin typeface="Calibri"/>
              </a:rPr>
              <a:t>① Both </a:t>
            </a:r>
            <a:r>
              <a:rPr sz="1500" b="1" i="0">
                <a:solidFill>
                  <a:srgbClr val="23282F"/>
                </a:solidFill>
                <a:latin typeface="Consolas"/>
              </a:rPr>
              <a:t>net</a:t>
            </a:r>
            <a:r>
              <a:rPr sz="1550" b="1" i="0">
                <a:solidFill>
                  <a:srgbClr val="23282F"/>
                </a:solidFill>
                <a:latin typeface="Calibri"/>
              </a:rPr>
              <a:t> calls are the same network.</a:t>
            </a:r>
            <a:r>
              <a:rPr sz="1550" b="0" i="0">
                <a:solidFill>
                  <a:srgbClr val="23282F"/>
                </a:solidFill>
                <a:latin typeface="Calibri"/>
              </a:rPr>
              <a:t> Same weights, called again. That is the entire parameter saving — there is nothing else to it.</a:t>
            </a:r>
          </a:p>
        </p:txBody>
      </p:sp>
      <p:sp>
        <p:nvSpPr>
          <p:cNvPr id="10" name="TextBox 9"/>
          <p:cNvSpPr txBox="1"/>
          <p:nvPr/>
        </p:nvSpPr>
        <p:spPr>
          <a:xfrm>
            <a:off x="502920" y="3244977"/>
            <a:ext cx="11186129" cy="603250"/>
          </a:xfrm>
          <a:prstGeom prst="rect">
            <a:avLst/>
          </a:prstGeom>
          <a:noFill/>
        </p:spPr>
        <p:txBody>
          <a:bodyPr wrap="square" lIns="0" rIns="0" tIns="0" bIns="0">
            <a:spAutoFit/>
          </a:bodyPr>
          <a:lstStyle/>
          <a:p>
            <a:r>
              <a:rPr sz="1550" b="1" i="0">
                <a:solidFill>
                  <a:srgbClr val="23282F"/>
                </a:solidFill>
                <a:latin typeface="Calibri"/>
              </a:rPr>
              <a:t>② Inputs are added, never concatenated.</a:t>
            </a:r>
            <a:r>
              <a:rPr sz="1550" b="0" i="0">
                <a:solidFill>
                  <a:srgbClr val="23282F"/>
                </a:solidFill>
                <a:latin typeface="Calibri"/>
              </a:rPr>
              <a:t> So </a:t>
            </a:r>
            <a:r>
              <a:rPr sz="1500" b="0" i="0">
                <a:solidFill>
                  <a:srgbClr val="6B7482"/>
                </a:solidFill>
                <a:latin typeface="Consolas"/>
              </a:rPr>
              <a:t>f</a:t>
            </a:r>
            <a:r>
              <a:rPr sz="1550" b="0" i="0">
                <a:solidFill>
                  <a:srgbClr val="23282F"/>
                </a:solidFill>
                <a:latin typeface="Calibri"/>
              </a:rPr>
              <a:t>'s input is the same shape on call 1 and on call 63. Concatenate instead and the shape grows every round; deep recursion becomes impossible.</a:t>
            </a:r>
          </a:p>
        </p:txBody>
      </p:sp>
      <p:sp>
        <p:nvSpPr>
          <p:cNvPr id="11" name="TextBox 10"/>
          <p:cNvSpPr txBox="1"/>
          <p:nvPr/>
        </p:nvSpPr>
        <p:spPr>
          <a:xfrm>
            <a:off x="502920" y="3848227"/>
            <a:ext cx="11186129" cy="859155"/>
          </a:xfrm>
          <a:prstGeom prst="rect">
            <a:avLst/>
          </a:prstGeom>
          <a:noFill/>
        </p:spPr>
        <p:txBody>
          <a:bodyPr wrap="square" lIns="0" rIns="0" tIns="0" bIns="0">
            <a:spAutoFit/>
          </a:bodyPr>
          <a:lstStyle/>
          <a:p>
            <a:r>
              <a:rPr sz="1550" b="1" i="0">
                <a:solidFill>
                  <a:srgbClr val="23282F"/>
                </a:solidFill>
                <a:latin typeface="Calibri"/>
              </a:rPr>
              <a:t>③ </a:t>
            </a:r>
            <a:r>
              <a:rPr sz="1500" b="1" i="0">
                <a:solidFill>
                  <a:srgbClr val="23282F"/>
                </a:solidFill>
                <a:latin typeface="Consolas"/>
              </a:rPr>
              <a:t>x</a:t>
            </a:r>
            <a:r>
              <a:rPr sz="1550" b="1" i="0">
                <a:solidFill>
                  <a:srgbClr val="23282F"/>
                </a:solidFill>
                <a:latin typeface="Calibri"/>
              </a:rPr>
              <a:t> is the switch.</a:t>
            </a:r>
            <a:r>
              <a:rPr sz="1550" b="0" i="0">
                <a:solidFill>
                  <a:srgbClr val="23282F"/>
                </a:solidFill>
                <a:latin typeface="Calibri"/>
              </a:rPr>
              <a:t> The question is </a:t>
            </a:r>
            <a:r>
              <a:rPr sz="1550" b="0" i="1">
                <a:solidFill>
                  <a:srgbClr val="23282F"/>
                </a:solidFill>
                <a:latin typeface="Calibri"/>
              </a:rPr>
              <a:t>missing</a:t>
            </a:r>
            <a:r>
              <a:rPr sz="1550" b="0" i="0">
                <a:solidFill>
                  <a:srgbClr val="23282F"/>
                </a:solidFill>
                <a:latin typeface="Calibri"/>
              </a:rPr>
              <a:t> from the answer line. </a:t>
            </a:r>
            <a:r>
              <a:rPr sz="1500" b="0" i="0">
                <a:solidFill>
                  <a:srgbClr val="6B7482"/>
                </a:solidFill>
                <a:latin typeface="Consolas"/>
              </a:rPr>
              <a:t>z = f(z+y+x)</a:t>
            </a:r>
            <a:r>
              <a:rPr sz="1550" b="0" i="0">
                <a:solidFill>
                  <a:srgbClr val="23282F"/>
                </a:solidFill>
                <a:latin typeface="Calibri"/>
              </a:rPr>
              <a:t> sees </a:t>
            </a:r>
            <a:r>
              <a:rPr sz="1500" b="0" i="0">
                <a:solidFill>
                  <a:srgbClr val="6B7482"/>
                </a:solidFill>
                <a:latin typeface="Consolas"/>
              </a:rPr>
              <a:t>x</a:t>
            </a:r>
            <a:r>
              <a:rPr sz="1550" b="0" i="0">
                <a:solidFill>
                  <a:srgbClr val="23282F"/>
                </a:solidFill>
                <a:latin typeface="Calibri"/>
              </a:rPr>
              <a:t>; </a:t>
            </a:r>
            <a:r>
              <a:rPr sz="1500" b="0" i="0">
                <a:solidFill>
                  <a:srgbClr val="6B7482"/>
                </a:solidFill>
                <a:latin typeface="Consolas"/>
              </a:rPr>
              <a:t>y = f(y+z)</a:t>
            </a:r>
            <a:r>
              <a:rPr sz="1550" b="0" i="0">
                <a:solidFill>
                  <a:srgbClr val="23282F"/>
                </a:solidFill>
                <a:latin typeface="Calibri"/>
              </a:rPr>
              <a:t> does not. </a:t>
            </a:r>
            <a:r>
              <a:rPr sz="1550" b="1" i="0">
                <a:solidFill>
                  <a:srgbClr val="23282F"/>
                </a:solidFill>
                <a:latin typeface="Calibri"/>
              </a:rPr>
              <a:t>That is the only thing telling one shared network which of its two jobs to do.</a:t>
            </a:r>
            <a:r>
              <a:rPr sz="1550" b="0" i="0">
                <a:solidFill>
                  <a:srgbClr val="23282F"/>
                </a:solidFill>
                <a:latin typeface="Calibri"/>
              </a:rPr>
              <a:t> See </a:t>
            </a:r>
            <a:r>
              <a:rPr sz="1500" b="0" i="0">
                <a:solidFill>
                  <a:srgbClr val="6B7482"/>
                </a:solidFill>
                <a:latin typeface="Consolas"/>
              </a:rPr>
              <a:t>x</a:t>
            </a:r>
            <a:r>
              <a:rPr sz="1550" b="0" i="0">
                <a:solidFill>
                  <a:srgbClr val="23282F"/>
                </a:solidFill>
                <a:latin typeface="Calibri"/>
              </a:rPr>
              <a:t>, you are thinking; don't, you are answering.</a:t>
            </a:r>
          </a:p>
        </p:txBody>
      </p:sp>
      <p:graphicFrame>
        <p:nvGraphicFramePr>
          <p:cNvPr id="12" name="Table 11"/>
          <p:cNvGraphicFramePr>
            <a:graphicFrameLocks noGrp="1"/>
          </p:cNvGraphicFramePr>
          <p:nvPr/>
        </p:nvGraphicFramePr>
        <p:xfrm>
          <a:off x="502920" y="4707382"/>
          <a:ext cx="11186128" cy="1014984"/>
        </p:xfrm>
        <a:graphic>
          <a:graphicData uri="http://schemas.openxmlformats.org/drawingml/2006/table">
            <a:tbl>
              <a:tblPr bandRow="1">
                <a:tableStyleId>{5C22544A-7EE6-4342-B048-85BDC9FD1C3A}</a:tableStyleId>
              </a:tblPr>
              <a:tblGrid>
                <a:gridCol w="7340897"/>
                <a:gridCol w="1747832"/>
                <a:gridCol w="2097399"/>
              </a:tblGrid>
              <a:tr h="338328">
                <a:tc>
                  <a:txBody>
                    <a:bodyPr wrap="square"/>
                    <a:lstStyle/>
                    <a:p>
                      <a:pPr algn="l"/>
                    </a:p>
                  </a:txBody>
                  <a:tcPr marL="64008" marR="64008" marT="27432" marB="27432" anchor="ctr">
                    <a:solidFill>
                      <a:srgbClr val="F4F5F7"/>
                    </a:solidFill>
                  </a:tcPr>
                </a:tc>
                <a:tc>
                  <a:txBody>
                    <a:bodyPr wrap="square"/>
                    <a:lstStyle/>
                    <a:p>
                      <a:pPr algn="l"/>
                      <a:r>
                        <a:rPr sz="1350" b="1" i="0">
                          <a:solidFill>
                            <a:srgbClr val="5A6472"/>
                          </a:solidFill>
                          <a:latin typeface="Calibri"/>
                        </a:rPr>
                        <a:t>acc</a:t>
                      </a:r>
                    </a:p>
                  </a:txBody>
                  <a:tcPr marL="64008" marR="64008" marT="27432" marB="27432" anchor="ctr">
                    <a:solidFill>
                      <a:srgbClr val="F4F5F7"/>
                    </a:solidFill>
                  </a:tcPr>
                </a:tc>
                <a:tc>
                  <a:txBody>
                    <a:bodyPr wrap="square"/>
                    <a:lstStyle/>
                    <a:p>
                      <a:pPr algn="l"/>
                      <a:r>
                        <a:rPr sz="1350" b="1" i="0">
                          <a:solidFill>
                            <a:srgbClr val="5A6472"/>
                          </a:solidFill>
                          <a:latin typeface="Calibri"/>
                        </a:rPr>
                        <a:t>params</a:t>
                      </a:r>
                    </a:p>
                  </a:txBody>
                  <a:tcPr marL="64008" marR="64008" marT="27432" marB="27432" anchor="ctr">
                    <a:solidFill>
                      <a:srgbClr val="F4F5F7"/>
                    </a:solidFill>
                  </a:tcPr>
                </a:tc>
              </a:tr>
              <a:tr h="338328">
                <a:tc>
                  <a:txBody>
                    <a:bodyPr wrap="square"/>
                    <a:lstStyle/>
                    <a:p>
                      <a:pPr algn="l"/>
                      <a:r>
                        <a:rPr sz="1350" b="0" i="0">
                          <a:solidFill>
                            <a:srgbClr val="23282F"/>
                          </a:solidFill>
                          <a:latin typeface="Calibri"/>
                        </a:rPr>
                        <a:t>two separate networks</a:t>
                      </a:r>
                    </a:p>
                  </a:txBody>
                  <a:tcPr marL="64008" marR="64008" marT="27432" marB="27432" anchor="ctr">
                    <a:solidFill>
                      <a:srgbClr val="FFFFFF"/>
                    </a:solidFill>
                  </a:tcPr>
                </a:tc>
                <a:tc>
                  <a:txBody>
                    <a:bodyPr wrap="square"/>
                    <a:lstStyle/>
                    <a:p>
                      <a:pPr algn="r"/>
                      <a:r>
                        <a:rPr sz="1350" b="0" i="0">
                          <a:solidFill>
                            <a:srgbClr val="23282F"/>
                          </a:solidFill>
                          <a:latin typeface="Calibri"/>
                        </a:rPr>
                        <a:t>82.4%</a:t>
                      </a:r>
                    </a:p>
                  </a:txBody>
                  <a:tcPr marL="64008" marR="64008" marT="27432" marB="27432" anchor="ctr">
                    <a:solidFill>
                      <a:srgbClr val="FFFFFF"/>
                    </a:solidFill>
                  </a:tcPr>
                </a:tc>
                <a:tc>
                  <a:txBody>
                    <a:bodyPr wrap="square"/>
                    <a:lstStyle/>
                    <a:p>
                      <a:pPr algn="l"/>
                      <a:r>
                        <a:rPr sz="1350" b="0" i="0">
                          <a:solidFill>
                            <a:srgbClr val="23282F"/>
                          </a:solidFill>
                          <a:latin typeface="Calibri"/>
                        </a:rPr>
                        <a:t>10M</a:t>
                      </a:r>
                    </a:p>
                  </a:txBody>
                  <a:tcPr marL="64008" marR="64008" marT="27432" marB="27432" anchor="ctr">
                    <a:solidFill>
                      <a:srgbClr val="FFFFFF"/>
                    </a:solidFill>
                  </a:tcPr>
                </a:tc>
              </a:tr>
              <a:tr h="338328">
                <a:tc>
                  <a:txBody>
                    <a:bodyPr wrap="square"/>
                    <a:lstStyle/>
                    <a:p>
                      <a:pPr algn="l"/>
                      <a:r>
                        <a:rPr sz="1350" b="1" i="0">
                          <a:solidFill>
                            <a:srgbClr val="23282F"/>
                          </a:solidFill>
                          <a:latin typeface="Calibri"/>
                        </a:rPr>
                        <a:t>one shared </a:t>
                      </a:r>
                      <a:r>
                        <a:rPr sz="1300" b="1" i="0">
                          <a:solidFill>
                            <a:srgbClr val="23282F"/>
                          </a:solidFill>
                          <a:latin typeface="Consolas"/>
                        </a:rPr>
                        <a:t>f</a:t>
                      </a:r>
                    </a:p>
                  </a:txBody>
                  <a:tcPr marL="64008" marR="64008" marT="27432" marB="27432" anchor="ctr">
                    <a:solidFill>
                      <a:srgbClr val="FFFFFF"/>
                    </a:solidFill>
                  </a:tcPr>
                </a:tc>
                <a:tc>
                  <a:txBody>
                    <a:bodyPr wrap="square"/>
                    <a:lstStyle/>
                    <a:p>
                      <a:pPr algn="r"/>
                      <a:r>
                        <a:rPr sz="1350" b="1" i="0">
                          <a:solidFill>
                            <a:srgbClr val="23282F"/>
                          </a:solidFill>
                          <a:latin typeface="Calibri"/>
                        </a:rPr>
                        <a:t>87.4%</a:t>
                      </a:r>
                    </a:p>
                  </a:txBody>
                  <a:tcPr marL="64008" marR="64008" marT="27432" marB="27432" anchor="ctr">
                    <a:solidFill>
                      <a:srgbClr val="FFFFFF"/>
                    </a:solidFill>
                  </a:tcPr>
                </a:tc>
                <a:tc>
                  <a:txBody>
                    <a:bodyPr wrap="square"/>
                    <a:lstStyle/>
                    <a:p>
                      <a:pPr algn="l"/>
                      <a:r>
                        <a:rPr sz="1350" b="1" i="0">
                          <a:solidFill>
                            <a:srgbClr val="23282F"/>
                          </a:solidFill>
                          <a:latin typeface="Calibri"/>
                        </a:rPr>
                        <a:t>5M</a:t>
                      </a:r>
                    </a:p>
                  </a:txBody>
                  <a:tcPr marL="64008" marR="64008" marT="27432" marB="27432" anchor="ctr">
                    <a:solidFill>
                      <a:srgbClr val="FFFFFF"/>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68680" y="365760"/>
            <a:ext cx="9357329" cy="566928"/>
          </a:xfrm>
          <a:prstGeom prst="rect">
            <a:avLst/>
          </a:prstGeom>
          <a:noFill/>
        </p:spPr>
        <p:txBody>
          <a:bodyPr wrap="square" lIns="0" rIns="0" tIns="0" bIns="0">
            <a:spAutoFit/>
          </a:bodyPr>
          <a:lstStyle/>
          <a:p>
            <a:r>
              <a:rPr sz="2700" b="1" i="0">
                <a:solidFill>
                  <a:srgbClr val="23282F"/>
                </a:solidFill>
                <a:latin typeface="Calibri"/>
              </a:rPr>
              <a:t>The gradient question — the paper's real result</a:t>
            </a:r>
          </a:p>
        </p:txBody>
      </p:sp>
      <p:sp>
        <p:nvSpPr>
          <p:cNvPr id="3" name="5-Point Star 2"/>
          <p:cNvSpPr/>
          <p:nvPr/>
        </p:nvSpPr>
        <p:spPr>
          <a:xfrm>
            <a:off x="493776" y="457200"/>
            <a:ext cx="274320" cy="274320"/>
          </a:xfrm>
          <a:prstGeom prst="star5">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2:15</a:t>
            </a:r>
          </a:p>
        </p:txBody>
      </p:sp>
      <p:sp>
        <p:nvSpPr>
          <p:cNvPr id="5" name="Rectangle 4"/>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987552"/>
            <a:ext cx="1051560" cy="25603"/>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2 — What is TRM?      15</a:t>
            </a:r>
          </a:p>
        </p:txBody>
      </p:sp>
      <p:pic>
        <p:nvPicPr>
          <p:cNvPr id="8" name="Picture 7" descr="fig10_nograd.png"/>
          <p:cNvPicPr>
            <a:picLocks noChangeAspect="1"/>
          </p:cNvPicPr>
          <p:nvPr/>
        </p:nvPicPr>
        <p:blipFill>
          <a:blip r:embed="rId2"/>
          <a:stretch>
            <a:fillRect/>
          </a:stretch>
        </p:blipFill>
        <p:spPr>
          <a:xfrm>
            <a:off x="3885559" y="1115568"/>
            <a:ext cx="4420850" cy="1615820"/>
          </a:xfrm>
          <a:prstGeom prst="rect">
            <a:avLst/>
          </a:prstGeom>
        </p:spPr>
      </p:pic>
      <p:sp>
        <p:nvSpPr>
          <p:cNvPr id="9" name="TextBox 8"/>
          <p:cNvSpPr txBox="1"/>
          <p:nvPr/>
        </p:nvSpPr>
        <p:spPr>
          <a:xfrm>
            <a:off x="502920" y="2841116"/>
            <a:ext cx="11186129" cy="570230"/>
          </a:xfrm>
          <a:prstGeom prst="rect">
            <a:avLst/>
          </a:prstGeom>
          <a:noFill/>
        </p:spPr>
        <p:txBody>
          <a:bodyPr wrap="square" lIns="0" rIns="0" tIns="0" bIns="0">
            <a:spAutoFit/>
          </a:bodyPr>
          <a:lstStyle/>
          <a:p>
            <a:r>
              <a:rPr sz="1450" b="1" i="0">
                <a:solidFill>
                  <a:srgbClr val="23282F"/>
                </a:solidFill>
                <a:latin typeface="Calibri"/>
              </a:rPr>
              <a:t>The problem.</a:t>
            </a:r>
            <a:r>
              <a:rPr sz="1450" b="0" i="0">
                <a:solidFill>
                  <a:srgbClr val="23282F"/>
                </a:solidFill>
                <a:latin typeface="Calibri"/>
              </a:rPr>
              <a:t> Backpropagating through 21 calls means storing 21 sets of activations — a 21-layer memory bill, and you have thrown away the saving you came for.</a:t>
            </a:r>
          </a:p>
        </p:txBody>
      </p:sp>
      <p:sp>
        <p:nvSpPr>
          <p:cNvPr id="10" name="TextBox 9"/>
          <p:cNvSpPr txBox="1"/>
          <p:nvPr/>
        </p:nvSpPr>
        <p:spPr>
          <a:xfrm>
            <a:off x="502920" y="3411346"/>
            <a:ext cx="11186129" cy="809625"/>
          </a:xfrm>
          <a:prstGeom prst="rect">
            <a:avLst/>
          </a:prstGeom>
          <a:noFill/>
        </p:spPr>
        <p:txBody>
          <a:bodyPr wrap="square" lIns="0" rIns="0" tIns="0" bIns="0">
            <a:spAutoFit/>
          </a:bodyPr>
          <a:lstStyle/>
          <a:p>
            <a:r>
              <a:rPr sz="1450" b="1" i="0">
                <a:solidFill>
                  <a:srgbClr val="23282F"/>
                </a:solidFill>
                <a:latin typeface="Calibri"/>
              </a:rPr>
              <a:t>HRM's answer</a:t>
            </a:r>
            <a:r>
              <a:rPr sz="1450" b="0" i="0">
                <a:solidFill>
                  <a:srgbClr val="23282F"/>
                </a:solidFill>
                <a:latin typeface="Calibri"/>
              </a:rPr>
              <a:t> </a:t>
            </a:r>
            <a:r>
              <a:rPr sz="1450" b="0" i="1">
                <a:solidFill>
                  <a:srgbClr val="23282F"/>
                </a:solidFill>
                <a:latin typeface="Calibri"/>
              </a:rPr>
              <a:t>(the paper TRM is arguing with)</a:t>
            </a:r>
            <a:r>
              <a:rPr sz="1450" b="0" i="0">
                <a:solidFill>
                  <a:srgbClr val="23282F"/>
                </a:solidFill>
                <a:latin typeface="Calibri"/>
              </a:rPr>
              <a:t>: assume the recursion settles to a fixed point, invoke the Implicit Function Theorem, backpropagate through only the </a:t>
            </a:r>
            <a:r>
              <a:rPr sz="1450" b="1" i="0">
                <a:solidFill>
                  <a:srgbClr val="23282F"/>
                </a:solidFill>
                <a:latin typeface="Calibri"/>
              </a:rPr>
              <a:t>last 2 of 6</a:t>
            </a:r>
            <a:r>
              <a:rPr sz="1450" b="0" i="0">
                <a:solidFill>
                  <a:srgbClr val="23282F"/>
                </a:solidFill>
                <a:latin typeface="Calibri"/>
              </a:rPr>
              <a:t> steps. </a:t>
            </a:r>
            <a:r>
              <a:rPr sz="1450" b="1" i="0">
                <a:solidFill>
                  <a:srgbClr val="23282F"/>
                </a:solidFill>
                <a:latin typeface="Calibri"/>
              </a:rPr>
              <a:t>TRM's objection:</a:t>
            </a:r>
            <a:r>
              <a:rPr sz="1450" b="0" i="0">
                <a:solidFill>
                  <a:srgbClr val="23282F"/>
                </a:solidFill>
                <a:latin typeface="Calibri"/>
              </a:rPr>
              <a:t> there is no fixed point. HRM does 4 forward steps and then </a:t>
            </a:r>
            <a:r>
              <a:rPr sz="1450" b="0" i="1">
                <a:solidFill>
                  <a:srgbClr val="23282F"/>
                </a:solidFill>
                <a:latin typeface="Calibri"/>
              </a:rPr>
              <a:t>asserts</a:t>
            </a:r>
            <a:r>
              <a:rPr sz="1450" b="0" i="0">
                <a:solidFill>
                  <a:srgbClr val="23282F"/>
                </a:solidFill>
                <a:latin typeface="Calibri"/>
              </a:rPr>
              <a:t> it has converged; its own residual plots never reach zero.</a:t>
            </a:r>
          </a:p>
        </p:txBody>
      </p:sp>
      <p:sp>
        <p:nvSpPr>
          <p:cNvPr id="11" name="TextBox 10"/>
          <p:cNvSpPr txBox="1"/>
          <p:nvPr/>
        </p:nvSpPr>
        <p:spPr>
          <a:xfrm>
            <a:off x="502920" y="4220972"/>
            <a:ext cx="11186129" cy="809625"/>
          </a:xfrm>
          <a:prstGeom prst="rect">
            <a:avLst/>
          </a:prstGeom>
          <a:noFill/>
        </p:spPr>
        <p:txBody>
          <a:bodyPr wrap="square" lIns="0" rIns="0" tIns="0" bIns="0">
            <a:spAutoFit/>
          </a:bodyPr>
          <a:lstStyle/>
          <a:p>
            <a:r>
              <a:rPr sz="1450" b="1" i="0">
                <a:solidFill>
                  <a:srgbClr val="23282F"/>
                </a:solidFill>
                <a:latin typeface="Calibri"/>
              </a:rPr>
              <a:t>TRM's answer.</a:t>
            </a:r>
            <a:r>
              <a:rPr sz="1450" b="0" i="0">
                <a:solidFill>
                  <a:srgbClr val="23282F"/>
                </a:solidFill>
                <a:latin typeface="Calibri"/>
              </a:rPr>
              <a:t> Run 3 rounds; the first 2 under </a:t>
            </a:r>
            <a:r>
              <a:rPr sz="1400" b="0" i="0">
                <a:solidFill>
                  <a:srgbClr val="6B7482"/>
                </a:solidFill>
                <a:latin typeface="Consolas"/>
              </a:rPr>
              <a:t>no_grad</a:t>
            </a:r>
            <a:r>
              <a:rPr sz="1450" b="0" i="0">
                <a:solidFill>
                  <a:srgbClr val="23282F"/>
                </a:solidFill>
                <a:latin typeface="Calibri"/>
              </a:rPr>
              <a:t>. Backpropagate through </a:t>
            </a:r>
            <a:r>
              <a:rPr sz="1450" b="1" i="0">
                <a:solidFill>
                  <a:srgbClr val="23282F"/>
                </a:solidFill>
                <a:latin typeface="Calibri"/>
              </a:rPr>
              <a:t>one complete round</a:t>
            </a:r>
            <a:r>
              <a:rPr sz="1450" b="0" i="0">
                <a:solidFill>
                  <a:srgbClr val="23282F"/>
                </a:solidFill>
                <a:latin typeface="Calibri"/>
              </a:rPr>
              <a:t> — all 7 calls. Justified not by a theorem but by the training objective: the model is already trained to improve </a:t>
            </a:r>
            <a:r>
              <a:rPr sz="1450" b="0" i="1">
                <a:solidFill>
                  <a:srgbClr val="23282F"/>
                </a:solidFill>
                <a:latin typeface="Calibri"/>
              </a:rPr>
              <a:t>any</a:t>
            </a:r>
            <a:r>
              <a:rPr sz="1450" b="0" i="0">
                <a:solidFill>
                  <a:srgbClr val="23282F"/>
                </a:solidFill>
                <a:latin typeface="Calibri"/>
              </a:rPr>
              <a:t> answer it is handed, so untracked rounds can only help. Per pass: </a:t>
            </a:r>
            <a:r>
              <a:rPr sz="1450" b="1" i="0">
                <a:solidFill>
                  <a:srgbClr val="23282F"/>
                </a:solidFill>
                <a:latin typeface="Calibri"/>
              </a:rPr>
              <a:t>21 calls forward, 7 backward.</a:t>
            </a:r>
          </a:p>
        </p:txBody>
      </p:sp>
      <p:graphicFrame>
        <p:nvGraphicFramePr>
          <p:cNvPr id="12" name="Table 11"/>
          <p:cNvGraphicFramePr>
            <a:graphicFrameLocks noGrp="1"/>
          </p:cNvGraphicFramePr>
          <p:nvPr/>
        </p:nvGraphicFramePr>
        <p:xfrm>
          <a:off x="502920" y="5030597"/>
          <a:ext cx="11186128" cy="966216"/>
        </p:xfrm>
        <a:graphic>
          <a:graphicData uri="http://schemas.openxmlformats.org/drawingml/2006/table">
            <a:tbl>
              <a:tblPr bandRow="1">
                <a:tableStyleId>{5C22544A-7EE6-4342-B048-85BDC9FD1C3A}</a:tableStyleId>
              </a:tblPr>
              <a:tblGrid>
                <a:gridCol w="8883102"/>
                <a:gridCol w="2303026"/>
              </a:tblGrid>
              <a:tr h="322072">
                <a:tc>
                  <a:txBody>
                    <a:bodyPr wrap="square"/>
                    <a:lstStyle/>
                    <a:p>
                      <a:pPr algn="l"/>
                    </a:p>
                  </a:txBody>
                  <a:tcPr marL="64008" marR="64008" marT="27432" marB="27432" anchor="ctr">
                    <a:solidFill>
                      <a:srgbClr val="F4F5F7"/>
                    </a:solidFill>
                  </a:tcPr>
                </a:tc>
                <a:tc>
                  <a:txBody>
                    <a:bodyPr wrap="square"/>
                    <a:lstStyle/>
                    <a:p>
                      <a:pPr algn="l"/>
                      <a:r>
                        <a:rPr sz="1250" b="1" i="0">
                          <a:solidFill>
                            <a:srgbClr val="5A6472"/>
                          </a:solidFill>
                          <a:latin typeface="Calibri"/>
                        </a:rPr>
                        <a:t>Sudoku-Extreme</a:t>
                      </a:r>
                    </a:p>
                  </a:txBody>
                  <a:tcPr marL="64008" marR="64008" marT="27432" marB="27432" anchor="ctr">
                    <a:solidFill>
                      <a:srgbClr val="F4F5F7"/>
                    </a:solidFill>
                  </a:tcPr>
                </a:tc>
              </a:tr>
              <a:tr h="322072">
                <a:tc>
                  <a:txBody>
                    <a:bodyPr wrap="square"/>
                    <a:lstStyle/>
                    <a:p>
                      <a:pPr algn="l"/>
                      <a:r>
                        <a:rPr sz="1250" b="1" i="0">
                          <a:solidFill>
                            <a:srgbClr val="23282F"/>
                          </a:solidFill>
                          <a:latin typeface="Calibri"/>
                        </a:rPr>
                        <a:t>TRM — backprop a whole round</a:t>
                      </a:r>
                    </a:p>
                  </a:txBody>
                  <a:tcPr marL="64008" marR="64008" marT="27432" marB="27432" anchor="ctr">
                    <a:solidFill>
                      <a:srgbClr val="FFFFFF"/>
                    </a:solidFill>
                  </a:tcPr>
                </a:tc>
                <a:tc>
                  <a:txBody>
                    <a:bodyPr wrap="square"/>
                    <a:lstStyle/>
                    <a:p>
                      <a:pPr algn="r"/>
                      <a:r>
                        <a:rPr sz="1250" b="1" i="0">
                          <a:solidFill>
                            <a:srgbClr val="23282F"/>
                          </a:solidFill>
                          <a:latin typeface="Calibri"/>
                        </a:rPr>
                        <a:t>87.4%</a:t>
                      </a:r>
                    </a:p>
                  </a:txBody>
                  <a:tcPr marL="64008" marR="64008" marT="27432" marB="27432" anchor="ctr">
                    <a:solidFill>
                      <a:srgbClr val="FFFFFF"/>
                    </a:solidFill>
                  </a:tcPr>
                </a:tc>
              </a:tr>
              <a:tr h="322072">
                <a:tc>
                  <a:txBody>
                    <a:bodyPr wrap="square"/>
                    <a:lstStyle/>
                    <a:p>
                      <a:pPr algn="l"/>
                      <a:r>
                        <a:rPr sz="1250" b="0" i="0">
                          <a:solidFill>
                            <a:srgbClr val="23282F"/>
                          </a:solidFill>
                          <a:latin typeface="Calibri"/>
                        </a:rPr>
                        <a:t>TRM — HRM's 1-step gradient, everything else identical</a:t>
                      </a:r>
                    </a:p>
                  </a:txBody>
                  <a:tcPr marL="64008" marR="64008" marT="27432" marB="27432" anchor="ctr">
                    <a:solidFill>
                      <a:srgbClr val="FFFFFF"/>
                    </a:solidFill>
                  </a:tcPr>
                </a:tc>
                <a:tc>
                  <a:txBody>
                    <a:bodyPr wrap="square"/>
                    <a:lstStyle/>
                    <a:p>
                      <a:pPr algn="r"/>
                      <a:r>
                        <a:rPr sz="1250" b="0" i="0">
                          <a:solidFill>
                            <a:srgbClr val="23282F"/>
                          </a:solidFill>
                          <a:latin typeface="Calibri"/>
                        </a:rPr>
                        <a:t>56.5%</a:t>
                      </a:r>
                    </a:p>
                  </a:txBody>
                  <a:tcPr marL="64008" marR="64008" marT="27432" marB="27432" anchor="ctr">
                    <a:solidFill>
                      <a:srgbClr val="FFFFFF"/>
                    </a:solidFill>
                  </a:tcPr>
                </a:tc>
              </a:tr>
            </a:tbl>
          </a:graphicData>
        </a:graphic>
      </p:graphicFrame>
      <p:sp>
        <p:nvSpPr>
          <p:cNvPr id="13" name="TextBox 12"/>
          <p:cNvSpPr txBox="1"/>
          <p:nvPr/>
        </p:nvSpPr>
        <p:spPr>
          <a:xfrm>
            <a:off x="502920" y="6088252"/>
            <a:ext cx="11186129" cy="330835"/>
          </a:xfrm>
          <a:prstGeom prst="rect">
            <a:avLst/>
          </a:prstGeom>
          <a:noFill/>
        </p:spPr>
        <p:txBody>
          <a:bodyPr wrap="square" lIns="0" rIns="0" tIns="0" bIns="0">
            <a:spAutoFit/>
          </a:bodyPr>
          <a:lstStyle/>
          <a:p>
            <a:r>
              <a:rPr sz="1450" b="1" i="0">
                <a:solidFill>
                  <a:srgbClr val="23282F"/>
                </a:solidFill>
                <a:latin typeface="Calibri"/>
              </a:rPr>
              <a:t>31 points — the largest single effect in the paper</a:t>
            </a:r>
            <a:r>
              <a:rPr sz="1450" b="0" i="0">
                <a:solidFill>
                  <a:srgbClr val="23282F"/>
                </a:solidFill>
                <a:latin typeface="Calibri"/>
              </a:rPr>
              <a:t>, and it </a:t>
            </a:r>
            <a:r>
              <a:rPr sz="1450" b="0" i="1">
                <a:solidFill>
                  <a:srgbClr val="23282F"/>
                </a:solidFill>
                <a:latin typeface="Calibri"/>
              </a:rPr>
              <a:t>costs</a:t>
            </a:r>
            <a:r>
              <a:rPr sz="1450" b="0" i="0">
                <a:solidFill>
                  <a:srgbClr val="23282F"/>
                </a:solidFill>
                <a:latin typeface="Calibri"/>
              </a:rPr>
              <a:t> more memory than HRM's version, not less.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Deep supervision — and why it holds up the last slide</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1:30</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2 — What is TRM?      16</a:t>
            </a:r>
          </a:p>
        </p:txBody>
      </p:sp>
      <p:pic>
        <p:nvPicPr>
          <p:cNvPr id="7" name="Picture 6" descr="fig11_deep_supervision.png"/>
          <p:cNvPicPr>
            <a:picLocks noChangeAspect="1"/>
          </p:cNvPicPr>
          <p:nvPr/>
        </p:nvPicPr>
        <p:blipFill>
          <a:blip r:embed="rId2"/>
          <a:stretch>
            <a:fillRect/>
          </a:stretch>
        </p:blipFill>
        <p:spPr>
          <a:xfrm>
            <a:off x="2992042" y="1115568"/>
            <a:ext cx="6207885" cy="2268982"/>
          </a:xfrm>
          <a:prstGeom prst="rect">
            <a:avLst/>
          </a:prstGeom>
        </p:spPr>
      </p:pic>
      <p:sp>
        <p:nvSpPr>
          <p:cNvPr id="8" name="TextBox 7"/>
          <p:cNvSpPr txBox="1"/>
          <p:nvPr/>
        </p:nvSpPr>
        <p:spPr>
          <a:xfrm>
            <a:off x="502920" y="3494277"/>
            <a:ext cx="11186129" cy="603250"/>
          </a:xfrm>
          <a:prstGeom prst="rect">
            <a:avLst/>
          </a:prstGeom>
          <a:noFill/>
        </p:spPr>
        <p:txBody>
          <a:bodyPr wrap="square" lIns="0" rIns="0" tIns="0" bIns="0">
            <a:spAutoFit/>
          </a:bodyPr>
          <a:lstStyle/>
          <a:p>
            <a:r>
              <a:rPr sz="1550" b="1" i="0">
                <a:solidFill>
                  <a:srgbClr val="23282F"/>
                </a:solidFill>
                <a:latin typeface="Calibri"/>
              </a:rPr>
              <a:t>Run the whole recursion, take a loss, detach </a:t>
            </a:r>
            <a:r>
              <a:rPr sz="1500" b="1" i="0">
                <a:solidFill>
                  <a:srgbClr val="23282F"/>
                </a:solidFill>
                <a:latin typeface="Consolas"/>
              </a:rPr>
              <a:t>(y, z)</a:t>
            </a:r>
            <a:r>
              <a:rPr sz="1550" b="1" i="0">
                <a:solidFill>
                  <a:srgbClr val="23282F"/>
                </a:solidFill>
                <a:latin typeface="Calibri"/>
              </a:rPr>
              <a:t>, hand them to the next pass as its starting point.</a:t>
            </a:r>
            <a:r>
              <a:rPr sz="1550" b="0" i="0">
                <a:solidFill>
                  <a:srgbClr val="23282F"/>
                </a:solidFill>
                <a:latin typeface="Calibri"/>
              </a:rPr>
              <a:t> Up to </a:t>
            </a:r>
            <a:r>
              <a:rPr sz="1550" b="1" i="0">
                <a:solidFill>
                  <a:srgbClr val="23282F"/>
                </a:solidFill>
                <a:latin typeface="Calibri"/>
              </a:rPr>
              <a:t>16</a:t>
            </a:r>
            <a:r>
              <a:rPr sz="1550" b="0" i="0">
                <a:solidFill>
                  <a:srgbClr val="23282F"/>
                </a:solidFill>
                <a:latin typeface="Calibri"/>
              </a:rPr>
              <a:t> times. Without it you have one loss at the end of a 42-deep chain.</a:t>
            </a:r>
          </a:p>
        </p:txBody>
      </p:sp>
      <p:sp>
        <p:nvSpPr>
          <p:cNvPr id="9" name="TextBox 8"/>
          <p:cNvSpPr txBox="1"/>
          <p:nvPr/>
        </p:nvSpPr>
        <p:spPr>
          <a:xfrm>
            <a:off x="502920" y="4097527"/>
            <a:ext cx="11186129" cy="859155"/>
          </a:xfrm>
          <a:prstGeom prst="rect">
            <a:avLst/>
          </a:prstGeom>
          <a:noFill/>
        </p:spPr>
        <p:txBody>
          <a:bodyPr wrap="square" lIns="0" rIns="0" tIns="0" bIns="0">
            <a:spAutoFit/>
          </a:bodyPr>
          <a:lstStyle/>
          <a:p>
            <a:r>
              <a:rPr sz="1550" b="1" i="0">
                <a:solidFill>
                  <a:srgbClr val="23282F"/>
                </a:solidFill>
                <a:latin typeface="Calibri"/>
              </a:rPr>
              <a:t>Every pass is therefore handed an imperfect answer and graded on improving it — which is exactly the property the </a:t>
            </a:r>
            <a:r>
              <a:rPr sz="1500" b="1" i="0">
                <a:solidFill>
                  <a:srgbClr val="23282F"/>
                </a:solidFill>
                <a:latin typeface="Consolas"/>
              </a:rPr>
              <a:t>no_grad</a:t>
            </a:r>
            <a:r>
              <a:rPr sz="1550" b="1" i="0">
                <a:solidFill>
                  <a:srgbClr val="23282F"/>
                </a:solidFill>
                <a:latin typeface="Calibri"/>
              </a:rPr>
              <a:t> rounds relied on.</a:t>
            </a:r>
            <a:r>
              <a:rPr sz="1550" b="0" i="0">
                <a:solidFill>
                  <a:srgbClr val="23282F"/>
                </a:solidFill>
                <a:latin typeface="Calibri"/>
              </a:rPr>
              <a:t> The two ideas hold each other up; you cannot take one without the other.</a:t>
            </a:r>
          </a:p>
        </p:txBody>
      </p:sp>
      <p:sp>
        <p:nvSpPr>
          <p:cNvPr id="10" name="TextBox 9"/>
          <p:cNvSpPr txBox="1"/>
          <p:nvPr/>
        </p:nvSpPr>
        <p:spPr>
          <a:xfrm>
            <a:off x="502920" y="4956683"/>
            <a:ext cx="11186129" cy="603250"/>
          </a:xfrm>
          <a:prstGeom prst="rect">
            <a:avLst/>
          </a:prstGeom>
          <a:noFill/>
        </p:spPr>
        <p:txBody>
          <a:bodyPr wrap="square" lIns="0" rIns="0" tIns="0" bIns="0">
            <a:spAutoFit/>
          </a:bodyPr>
          <a:lstStyle/>
          <a:p>
            <a:r>
              <a:rPr sz="1550" b="1" i="0">
                <a:solidFill>
                  <a:srgbClr val="23282F"/>
                </a:solidFill>
                <a:latin typeface="Calibri"/>
              </a:rPr>
              <a:t>Effective depth</a:t>
            </a:r>
            <a:r>
              <a:rPr sz="1550" b="0" i="0">
                <a:solidFill>
                  <a:srgbClr val="23282F"/>
                </a:solidFill>
                <a:latin typeface="Calibri"/>
              </a:rPr>
              <a:t> = </a:t>
            </a:r>
            <a:r>
              <a:rPr sz="1500" b="0" i="0">
                <a:solidFill>
                  <a:srgbClr val="6B7482"/>
                </a:solidFill>
                <a:latin typeface="Consolas"/>
              </a:rPr>
              <a:t>layers × calls/round × rounds × passes</a:t>
            </a:r>
            <a:r>
              <a:rPr sz="1550" b="0" i="0">
                <a:solidFill>
                  <a:srgbClr val="23282F"/>
                </a:solidFill>
                <a:latin typeface="Calibri"/>
              </a:rPr>
              <a:t> = </a:t>
            </a:r>
            <a:r>
              <a:rPr sz="1500" b="0" i="0">
                <a:solidFill>
                  <a:srgbClr val="6B7482"/>
                </a:solidFill>
                <a:latin typeface="Consolas"/>
              </a:rPr>
              <a:t>2 × 7 × 3 × 16</a:t>
            </a:r>
            <a:r>
              <a:rPr sz="1550" b="0" i="0">
                <a:solidFill>
                  <a:srgbClr val="23282F"/>
                </a:solidFill>
                <a:latin typeface="Calibri"/>
              </a:rPr>
              <a:t> = </a:t>
            </a:r>
            <a:r>
              <a:rPr sz="1550" b="1" i="0">
                <a:solidFill>
                  <a:srgbClr val="23282F"/>
                </a:solidFill>
                <a:latin typeface="Calibri"/>
              </a:rPr>
              <a:t>672 layers deep, from 2 layers of weights.</a:t>
            </a:r>
          </a:p>
        </p:txBody>
      </p:sp>
      <p:sp>
        <p:nvSpPr>
          <p:cNvPr id="11" name="TextBox 10"/>
          <p:cNvSpPr txBox="1"/>
          <p:nvPr/>
        </p:nvSpPr>
        <p:spPr>
          <a:xfrm>
            <a:off x="502920" y="5559933"/>
            <a:ext cx="11186129" cy="859155"/>
          </a:xfrm>
          <a:prstGeom prst="rect">
            <a:avLst/>
          </a:prstGeom>
          <a:noFill/>
        </p:spPr>
        <p:txBody>
          <a:bodyPr wrap="square" lIns="0" rIns="0" tIns="0" bIns="0">
            <a:spAutoFit/>
          </a:bodyPr>
          <a:lstStyle/>
          <a:p>
            <a:r>
              <a:rPr sz="1550" b="1" i="0">
                <a:solidFill>
                  <a:srgbClr val="23282F"/>
                </a:solidFill>
                <a:latin typeface="Calibri"/>
              </a:rPr>
              <a:t>Halting.</a:t>
            </a:r>
            <a:r>
              <a:rPr sz="1550" b="0" i="0">
                <a:solidFill>
                  <a:srgbClr val="23282F"/>
                </a:solidFill>
                <a:latin typeface="Calibri"/>
              </a:rPr>
              <a:t> A second tiny head on </a:t>
            </a:r>
            <a:r>
              <a:rPr sz="1500" b="0" i="0">
                <a:solidFill>
                  <a:srgbClr val="6B7482"/>
                </a:solidFill>
                <a:latin typeface="Consolas"/>
              </a:rPr>
              <a:t>y</a:t>
            </a:r>
            <a:r>
              <a:rPr sz="1550" b="0" i="0">
                <a:solidFill>
                  <a:srgbClr val="23282F"/>
                </a:solidFill>
                <a:latin typeface="Calibri"/>
              </a:rPr>
              <a:t> emits one number — </a:t>
            </a:r>
            <a:r>
              <a:rPr sz="1550" b="0" i="1">
                <a:solidFill>
                  <a:srgbClr val="23282F"/>
                </a:solidFill>
                <a:latin typeface="Calibri"/>
              </a:rPr>
              <a:t>"is this already right?"</a:t>
            </a:r>
            <a:r>
              <a:rPr sz="1550" b="0" i="0">
                <a:solidFill>
                  <a:srgbClr val="23282F"/>
                </a:solidFill>
                <a:latin typeface="Calibri"/>
              </a:rPr>
              <a:t> Bias starts at </a:t>
            </a:r>
            <a:r>
              <a:rPr sz="1500" b="0" i="0">
                <a:solidFill>
                  <a:srgbClr val="6B7482"/>
                </a:solidFill>
                <a:latin typeface="Consolas"/>
              </a:rPr>
              <a:t>−5</a:t>
            </a:r>
            <a:r>
              <a:rPr sz="1550" b="0" i="0">
                <a:solidFill>
                  <a:srgbClr val="23282F"/>
                </a:solidFill>
                <a:latin typeface="Calibri"/>
              </a:rPr>
              <a:t>, so it opens at ~0.007: "definitely not done", and has to earn confidence. Training only. TRM drops HRM's second continue-loss forward pass: </a:t>
            </a:r>
            <a:r>
              <a:rPr sz="1550" b="1" i="0">
                <a:solidFill>
                  <a:srgbClr val="23282F"/>
                </a:solidFill>
                <a:latin typeface="Calibri"/>
              </a:rPr>
              <a:t>86.1% → 87.4%, and strictly cheaper.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8580089" cy="566928"/>
          </a:xfrm>
          <a:prstGeom prst="rect">
            <a:avLst/>
          </a:prstGeom>
          <a:noFill/>
        </p:spPr>
        <p:txBody>
          <a:bodyPr wrap="square" lIns="0" rIns="0" tIns="0" bIns="0">
            <a:spAutoFit/>
          </a:bodyPr>
          <a:lstStyle/>
          <a:p>
            <a:r>
              <a:rPr sz="2700" b="1" i="0">
                <a:solidFill>
                  <a:srgbClr val="23282F"/>
                </a:solidFill>
                <a:latin typeface="Calibri"/>
              </a:rPr>
              <a:t>What TRM deleted from HRM</a:t>
            </a:r>
          </a:p>
        </p:txBody>
      </p:sp>
      <p:sp>
        <p:nvSpPr>
          <p:cNvPr id="3" name="TextBox 2"/>
          <p:cNvSpPr txBox="1"/>
          <p:nvPr/>
        </p:nvSpPr>
        <p:spPr>
          <a:xfrm>
            <a:off x="9220169" y="457200"/>
            <a:ext cx="2468880" cy="420624"/>
          </a:xfrm>
          <a:prstGeom prst="rect">
            <a:avLst/>
          </a:prstGeom>
          <a:noFill/>
        </p:spPr>
        <p:txBody>
          <a:bodyPr wrap="square" lIns="0" rIns="0" tIns="0" bIns="0">
            <a:spAutoFit/>
          </a:bodyPr>
          <a:lstStyle/>
          <a:p>
            <a:pPr algn="r"/>
            <a:r>
              <a:rPr sz="1100">
                <a:solidFill>
                  <a:srgbClr val="6B7482"/>
                </a:solidFill>
                <a:latin typeface="Calibri"/>
              </a:rPr>
              <a:t>1:15  ·  cuttable</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2 — What is TRM?      17</a:t>
            </a:r>
          </a:p>
        </p:txBody>
      </p:sp>
      <p:sp>
        <p:nvSpPr>
          <p:cNvPr id="7" name="TextBox 6"/>
          <p:cNvSpPr txBox="1"/>
          <p:nvPr/>
        </p:nvSpPr>
        <p:spPr>
          <a:xfrm>
            <a:off x="502920" y="1115568"/>
            <a:ext cx="11186129" cy="347345"/>
          </a:xfrm>
          <a:prstGeom prst="rect">
            <a:avLst/>
          </a:prstGeom>
          <a:noFill/>
        </p:spPr>
        <p:txBody>
          <a:bodyPr wrap="square" lIns="0" rIns="0" tIns="0" bIns="0">
            <a:spAutoFit/>
          </a:bodyPr>
          <a:lstStyle/>
          <a:p>
            <a:r>
              <a:rPr sz="1550" b="0" i="0">
                <a:solidFill>
                  <a:srgbClr val="23282F"/>
                </a:solidFill>
                <a:latin typeface="Calibri"/>
              </a:rPr>
              <a:t>TRM is a </a:t>
            </a:r>
            <a:r>
              <a:rPr sz="1550" b="1" i="0">
                <a:solidFill>
                  <a:srgbClr val="23282F"/>
                </a:solidFill>
                <a:latin typeface="Calibri"/>
              </a:rPr>
              <a:t>stripped-down HRM</a:t>
            </a:r>
            <a:r>
              <a:rPr sz="1550" b="0" i="0">
                <a:solidFill>
                  <a:srgbClr val="23282F"/>
                </a:solidFill>
                <a:latin typeface="Calibri"/>
              </a:rPr>
              <a:t> (Wang et al., </a:t>
            </a:r>
            <a:r>
              <a:rPr sz="1500" b="0" i="0">
                <a:solidFill>
                  <a:srgbClr val="6B7482"/>
                </a:solidFill>
                <a:latin typeface="Consolas"/>
              </a:rPr>
              <a:t>arXiv:2506.21734</a:t>
            </a:r>
            <a:r>
              <a:rPr sz="1550" b="0" i="0">
                <a:solidFill>
                  <a:srgbClr val="23282F"/>
                </a:solidFill>
                <a:latin typeface="Calibri"/>
              </a:rPr>
              <a:t>) — and every deletion made it better.</a:t>
            </a:r>
          </a:p>
        </p:txBody>
      </p:sp>
      <p:graphicFrame>
        <p:nvGraphicFramePr>
          <p:cNvPr id="8" name="Table 7"/>
          <p:cNvGraphicFramePr>
            <a:graphicFrameLocks noGrp="1"/>
          </p:cNvGraphicFramePr>
          <p:nvPr/>
        </p:nvGraphicFramePr>
        <p:xfrm>
          <a:off x="502920" y="1462913"/>
          <a:ext cx="11186128" cy="2368296"/>
        </p:xfrm>
        <a:graphic>
          <a:graphicData uri="http://schemas.openxmlformats.org/drawingml/2006/table">
            <a:tbl>
              <a:tblPr bandRow="1">
                <a:tableStyleId>{5C22544A-7EE6-4342-B048-85BDC9FD1C3A}</a:tableStyleId>
              </a:tblPr>
              <a:tblGrid>
                <a:gridCol w="6088652"/>
                <a:gridCol w="566386"/>
                <a:gridCol w="4531090"/>
              </a:tblGrid>
              <a:tr h="338328">
                <a:tc>
                  <a:txBody>
                    <a:bodyPr wrap="square"/>
                    <a:lstStyle/>
                    <a:p>
                      <a:pPr algn="l"/>
                      <a:r>
                        <a:rPr sz="1350" b="1" i="0">
                          <a:solidFill>
                            <a:srgbClr val="5A6472"/>
                          </a:solidFill>
                          <a:latin typeface="Calibri"/>
                        </a:rPr>
                        <a:t>HRM</a:t>
                      </a:r>
                    </a:p>
                  </a:txBody>
                  <a:tcPr marL="64008" marR="64008" marT="27432" marB="27432" anchor="ctr">
                    <a:solidFill>
                      <a:srgbClr val="F4F5F7"/>
                    </a:solidFill>
                  </a:tcPr>
                </a:tc>
                <a:tc>
                  <a:txBody>
                    <a:bodyPr wrap="square"/>
                    <a:lstStyle/>
                    <a:p>
                      <a:pPr algn="l"/>
                      <a:r>
                        <a:rPr sz="1350" b="1" i="0">
                          <a:solidFill>
                            <a:srgbClr val="5A6472"/>
                          </a:solidFill>
                          <a:latin typeface="Calibri"/>
                        </a:rPr>
                        <a:t>→</a:t>
                      </a:r>
                    </a:p>
                  </a:txBody>
                  <a:tcPr marL="64008" marR="64008" marT="27432" marB="27432" anchor="ctr">
                    <a:solidFill>
                      <a:srgbClr val="F4F5F7"/>
                    </a:solidFill>
                  </a:tcPr>
                </a:tc>
                <a:tc>
                  <a:txBody>
                    <a:bodyPr wrap="square"/>
                    <a:lstStyle/>
                    <a:p>
                      <a:pPr algn="l"/>
                      <a:r>
                        <a:rPr sz="1350" b="1" i="0">
                          <a:solidFill>
                            <a:srgbClr val="5A6472"/>
                          </a:solidFill>
                          <a:latin typeface="Calibri"/>
                        </a:rPr>
                        <a:t>TRM</a:t>
                      </a:r>
                    </a:p>
                  </a:txBody>
                  <a:tcPr marL="64008" marR="64008" marT="27432" marB="27432" anchor="ctr">
                    <a:solidFill>
                      <a:srgbClr val="F4F5F7"/>
                    </a:solidFill>
                  </a:tcPr>
                </a:tc>
              </a:tr>
              <a:tr h="338328">
                <a:tc>
                  <a:txBody>
                    <a:bodyPr wrap="square"/>
                    <a:lstStyle/>
                    <a:p>
                      <a:pPr algn="l"/>
                      <a:r>
                        <a:rPr sz="1350" b="0" i="0">
                          <a:solidFill>
                            <a:srgbClr val="23282F"/>
                          </a:solidFill>
                          <a:latin typeface="Calibri"/>
                        </a:rPr>
                        <a:t>two networks at two "frequencies"</a:t>
                      </a:r>
                    </a:p>
                  </a:txBody>
                  <a:tcPr marL="64008" marR="64008" marT="27432" marB="27432" anchor="ctr">
                    <a:solidFill>
                      <a:srgbClr val="FFFFFF"/>
                    </a:solidFill>
                  </a:tcPr>
                </a:tc>
                <a:tc>
                  <a:txBody>
                    <a:bodyPr wrap="square"/>
                    <a:lstStyle/>
                    <a:p>
                      <a:pPr algn="l"/>
                      <a:r>
                        <a:rPr sz="1350" b="0" i="0">
                          <a:solidFill>
                            <a:srgbClr val="23282F"/>
                          </a:solidFill>
                          <a:latin typeface="Calibri"/>
                        </a:rPr>
                        <a:t>→</a:t>
                      </a:r>
                    </a:p>
                  </a:txBody>
                  <a:tcPr marL="64008" marR="64008" marT="27432" marB="27432" anchor="ctr">
                    <a:solidFill>
                      <a:srgbClr val="FFFFFF"/>
                    </a:solidFill>
                  </a:tcPr>
                </a:tc>
                <a:tc>
                  <a:txBody>
                    <a:bodyPr wrap="square"/>
                    <a:lstStyle/>
                    <a:p>
                      <a:pPr algn="l"/>
                      <a:r>
                        <a:rPr sz="1350" b="1" i="0">
                          <a:solidFill>
                            <a:srgbClr val="23282F"/>
                          </a:solidFill>
                          <a:latin typeface="Calibri"/>
                        </a:rPr>
                        <a:t>one</a:t>
                      </a:r>
                      <a:r>
                        <a:rPr sz="1350" b="0" i="0">
                          <a:solidFill>
                            <a:srgbClr val="23282F"/>
                          </a:solidFill>
                          <a:latin typeface="Calibri"/>
                        </a:rPr>
                        <a:t> network</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4 layers each</a:t>
                      </a:r>
                    </a:p>
                  </a:txBody>
                  <a:tcPr marL="64008" marR="64008" marT="27432" marB="27432" anchor="ctr">
                    <a:solidFill>
                      <a:srgbClr val="FFFFFF"/>
                    </a:solidFill>
                  </a:tcPr>
                </a:tc>
                <a:tc>
                  <a:txBody>
                    <a:bodyPr wrap="square"/>
                    <a:lstStyle/>
                    <a:p>
                      <a:pPr algn="l"/>
                      <a:r>
                        <a:rPr sz="1350" b="0" i="0">
                          <a:solidFill>
                            <a:srgbClr val="23282F"/>
                          </a:solidFill>
                          <a:latin typeface="Calibri"/>
                        </a:rPr>
                        <a:t>→</a:t>
                      </a:r>
                    </a:p>
                  </a:txBody>
                  <a:tcPr marL="64008" marR="64008" marT="27432" marB="27432" anchor="ctr">
                    <a:solidFill>
                      <a:srgbClr val="FFFFFF"/>
                    </a:solidFill>
                  </a:tcPr>
                </a:tc>
                <a:tc>
                  <a:txBody>
                    <a:bodyPr wrap="square"/>
                    <a:lstStyle/>
                    <a:p>
                      <a:pPr algn="l"/>
                      <a:r>
                        <a:rPr sz="1350" b="1" i="0">
                          <a:solidFill>
                            <a:srgbClr val="23282F"/>
                          </a:solidFill>
                          <a:latin typeface="Calibri"/>
                        </a:rPr>
                        <a:t>2</a:t>
                      </a:r>
                      <a:r>
                        <a:rPr sz="1350" b="0" i="0">
                          <a:solidFill>
                            <a:srgbClr val="23282F"/>
                          </a:solidFill>
                          <a:latin typeface="Calibri"/>
                        </a:rPr>
                        <a:t> layers</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biological arguments about brain timescales</a:t>
                      </a:r>
                    </a:p>
                  </a:txBody>
                  <a:tcPr marL="64008" marR="64008" marT="27432" marB="27432" anchor="ctr">
                    <a:solidFill>
                      <a:srgbClr val="FFFFFF"/>
                    </a:solidFill>
                  </a:tcPr>
                </a:tc>
                <a:tc>
                  <a:txBody>
                    <a:bodyPr wrap="square"/>
                    <a:lstStyle/>
                    <a:p>
                      <a:pPr algn="l"/>
                      <a:r>
                        <a:rPr sz="1350" b="0" i="0">
                          <a:solidFill>
                            <a:srgbClr val="23282F"/>
                          </a:solidFill>
                          <a:latin typeface="Calibri"/>
                        </a:rPr>
                        <a:t>→</a:t>
                      </a:r>
                    </a:p>
                  </a:txBody>
                  <a:tcPr marL="64008" marR="64008" marT="27432" marB="27432" anchor="ctr">
                    <a:solidFill>
                      <a:srgbClr val="FFFFFF"/>
                    </a:solidFill>
                  </a:tcPr>
                </a:tc>
                <a:tc>
                  <a:txBody>
                    <a:bodyPr wrap="square"/>
                    <a:lstStyle/>
                    <a:p>
                      <a:pPr algn="l"/>
                      <a:r>
                        <a:rPr sz="1300" b="0" i="0">
                          <a:solidFill>
                            <a:srgbClr val="6B7482"/>
                          </a:solidFill>
                          <a:latin typeface="Consolas"/>
                        </a:rPr>
                        <a:t>y</a:t>
                      </a:r>
                      <a:r>
                        <a:rPr sz="1350" b="0" i="0">
                          <a:solidFill>
                            <a:srgbClr val="23282F"/>
                          </a:solidFill>
                          <a:latin typeface="Calibri"/>
                        </a:rPr>
                        <a:t> = the answer, </a:t>
                      </a:r>
                      <a:r>
                        <a:rPr sz="1300" b="0" i="0">
                          <a:solidFill>
                            <a:srgbClr val="6B7482"/>
                          </a:solidFill>
                          <a:latin typeface="Consolas"/>
                        </a:rPr>
                        <a:t>z</a:t>
                      </a:r>
                      <a:r>
                        <a:rPr sz="1350" b="0" i="0">
                          <a:solidFill>
                            <a:srgbClr val="23282F"/>
                          </a:solidFill>
                          <a:latin typeface="Calibri"/>
                        </a:rPr>
                        <a:t> = the working</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a fixed-point theorem</a:t>
                      </a:r>
                    </a:p>
                  </a:txBody>
                  <a:tcPr marL="64008" marR="64008" marT="27432" marB="27432" anchor="ctr">
                    <a:solidFill>
                      <a:srgbClr val="FFFFFF"/>
                    </a:solidFill>
                  </a:tcPr>
                </a:tc>
                <a:tc>
                  <a:txBody>
                    <a:bodyPr wrap="square"/>
                    <a:lstStyle/>
                    <a:p>
                      <a:pPr algn="l"/>
                      <a:r>
                        <a:rPr sz="1350" b="0" i="0">
                          <a:solidFill>
                            <a:srgbClr val="23282F"/>
                          </a:solidFill>
                          <a:latin typeface="Calibri"/>
                        </a:rPr>
                        <a:t>→</a:t>
                      </a:r>
                    </a:p>
                  </a:txBody>
                  <a:tcPr marL="64008" marR="64008" marT="27432" marB="27432" anchor="ctr">
                    <a:solidFill>
                      <a:srgbClr val="FFFFFF"/>
                    </a:solidFill>
                  </a:tcPr>
                </a:tc>
                <a:tc>
                  <a:txBody>
                    <a:bodyPr wrap="square"/>
                    <a:lstStyle/>
                    <a:p>
                      <a:pPr algn="l"/>
                      <a:r>
                        <a:rPr sz="1350" b="0" i="0">
                          <a:solidFill>
                            <a:srgbClr val="23282F"/>
                          </a:solidFill>
                          <a:latin typeface="Calibri"/>
                        </a:rPr>
                        <a:t>backprop through a </a:t>
                      </a:r>
                      <a:r>
                        <a:rPr sz="1350" b="1" i="0">
                          <a:solidFill>
                            <a:srgbClr val="23282F"/>
                          </a:solidFill>
                          <a:latin typeface="Calibri"/>
                        </a:rPr>
                        <a:t>whole</a:t>
                      </a:r>
                      <a:r>
                        <a:rPr sz="1350" b="0" i="0">
                          <a:solidFill>
                            <a:srgbClr val="23282F"/>
                          </a:solidFill>
                          <a:latin typeface="Calibri"/>
                        </a:rPr>
                        <a:t> round</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halting needs a 2nd forward pass</a:t>
                      </a:r>
                    </a:p>
                  </a:txBody>
                  <a:tcPr marL="64008" marR="64008" marT="27432" marB="27432" anchor="ctr">
                    <a:solidFill>
                      <a:srgbClr val="FFFFFF"/>
                    </a:solidFill>
                  </a:tcPr>
                </a:tc>
                <a:tc>
                  <a:txBody>
                    <a:bodyPr wrap="square"/>
                    <a:lstStyle/>
                    <a:p>
                      <a:pPr algn="l"/>
                      <a:r>
                        <a:rPr sz="1350" b="0" i="0">
                          <a:solidFill>
                            <a:srgbClr val="23282F"/>
                          </a:solidFill>
                          <a:latin typeface="Calibri"/>
                        </a:rPr>
                        <a:t>→</a:t>
                      </a:r>
                    </a:p>
                  </a:txBody>
                  <a:tcPr marL="64008" marR="64008" marT="27432" marB="27432" anchor="ctr">
                    <a:solidFill>
                      <a:srgbClr val="FFFFFF"/>
                    </a:solidFill>
                  </a:tcPr>
                </a:tc>
                <a:tc>
                  <a:txBody>
                    <a:bodyPr wrap="square"/>
                    <a:lstStyle/>
                    <a:p>
                      <a:pPr algn="l"/>
                      <a:r>
                        <a:rPr sz="1350" b="0" i="0">
                          <a:solidFill>
                            <a:srgbClr val="23282F"/>
                          </a:solidFill>
                          <a:latin typeface="Calibri"/>
                        </a:rPr>
                        <a:t>one forward pass</a:t>
                      </a:r>
                    </a:p>
                  </a:txBody>
                  <a:tcPr marL="64008" marR="64008" marT="27432" marB="27432" anchor="ctr">
                    <a:solidFill>
                      <a:srgbClr val="FFFFFF"/>
                    </a:solidFill>
                  </a:tcPr>
                </a:tc>
              </a:tr>
              <a:tr h="338328">
                <a:tc>
                  <a:txBody>
                    <a:bodyPr wrap="square"/>
                    <a:lstStyle/>
                    <a:p>
                      <a:pPr algn="l"/>
                      <a:r>
                        <a:rPr sz="1350" b="1" i="0">
                          <a:solidFill>
                            <a:srgbClr val="23282F"/>
                          </a:solidFill>
                          <a:latin typeface="Calibri"/>
                        </a:rPr>
                        <a:t>27 M</a:t>
                      </a:r>
                      <a:r>
                        <a:rPr sz="1350" b="0" i="0">
                          <a:solidFill>
                            <a:srgbClr val="23282F"/>
                          </a:solidFill>
                          <a:latin typeface="Calibri"/>
                        </a:rPr>
                        <a:t> parameters</a:t>
                      </a:r>
                    </a:p>
                  </a:txBody>
                  <a:tcPr marL="64008" marR="64008" marT="27432" marB="27432" anchor="ctr">
                    <a:solidFill>
                      <a:srgbClr val="FFFFFF"/>
                    </a:solidFill>
                  </a:tcPr>
                </a:tc>
                <a:tc>
                  <a:txBody>
                    <a:bodyPr wrap="square"/>
                    <a:lstStyle/>
                    <a:p>
                      <a:pPr algn="l"/>
                      <a:r>
                        <a:rPr sz="1350" b="0" i="0">
                          <a:solidFill>
                            <a:srgbClr val="23282F"/>
                          </a:solidFill>
                          <a:latin typeface="Calibri"/>
                        </a:rPr>
                        <a:t>→</a:t>
                      </a:r>
                    </a:p>
                  </a:txBody>
                  <a:tcPr marL="64008" marR="64008" marT="27432" marB="27432" anchor="ctr">
                    <a:solidFill>
                      <a:srgbClr val="FFFFFF"/>
                    </a:solidFill>
                  </a:tcPr>
                </a:tc>
                <a:tc>
                  <a:txBody>
                    <a:bodyPr wrap="square"/>
                    <a:lstStyle/>
                    <a:p>
                      <a:pPr algn="l"/>
                      <a:r>
                        <a:rPr sz="1350" b="1" i="0">
                          <a:solidFill>
                            <a:srgbClr val="23282F"/>
                          </a:solidFill>
                          <a:latin typeface="Calibri"/>
                        </a:rPr>
                        <a:t>7 M</a:t>
                      </a:r>
                      <a:r>
                        <a:rPr sz="1350" b="0" i="0">
                          <a:solidFill>
                            <a:srgbClr val="23282F"/>
                          </a:solidFill>
                          <a:latin typeface="Calibri"/>
                        </a:rPr>
                        <a:t>, and every benchmark goes </a:t>
                      </a:r>
                      <a:r>
                        <a:rPr sz="1350" b="1" i="0">
                          <a:solidFill>
                            <a:srgbClr val="23282F"/>
                          </a:solidFill>
                          <a:latin typeface="Calibri"/>
                        </a:rPr>
                        <a:t>up</a:t>
                      </a:r>
                    </a:p>
                  </a:txBody>
                  <a:tcPr marL="64008" marR="64008" marT="27432" marB="27432" anchor="ctr">
                    <a:solidFill>
                      <a:srgbClr val="FFFFFF"/>
                    </a:solidFill>
                  </a:tcPr>
                </a:tc>
              </a:tr>
            </a:tbl>
          </a:graphicData>
        </a:graphic>
      </p:graphicFrame>
      <p:sp>
        <p:nvSpPr>
          <p:cNvPr id="9" name="TextBox 8"/>
          <p:cNvSpPr txBox="1"/>
          <p:nvPr/>
        </p:nvSpPr>
        <p:spPr>
          <a:xfrm>
            <a:off x="502920" y="3922649"/>
            <a:ext cx="11186129" cy="603250"/>
          </a:xfrm>
          <a:prstGeom prst="rect">
            <a:avLst/>
          </a:prstGeom>
          <a:noFill/>
        </p:spPr>
        <p:txBody>
          <a:bodyPr wrap="square" lIns="0" rIns="0" tIns="0" bIns="0">
            <a:spAutoFit/>
          </a:bodyPr>
          <a:lstStyle/>
          <a:p>
            <a:r>
              <a:rPr sz="1550" b="1" i="0">
                <a:solidFill>
                  <a:srgbClr val="23282F"/>
                </a:solidFill>
                <a:latin typeface="Calibri"/>
              </a:rPr>
              <a:t>There was already reason to be suspicious.</a:t>
            </a:r>
            <a:r>
              <a:rPr sz="1550" b="0" i="0">
                <a:solidFill>
                  <a:srgbClr val="23282F"/>
                </a:solidFill>
                <a:latin typeface="Calibri"/>
              </a:rPr>
              <a:t> The ARC Prize Foundation audited HRM independently: deep supervision was worth </a:t>
            </a:r>
            <a:r>
              <a:rPr sz="1550" b="1" i="0">
                <a:solidFill>
                  <a:srgbClr val="23282F"/>
                </a:solidFill>
                <a:latin typeface="Calibri"/>
              </a:rPr>
              <a:t>19% → 39%</a:t>
            </a:r>
            <a:r>
              <a:rPr sz="1550" b="0" i="0">
                <a:solidFill>
                  <a:srgbClr val="23282F"/>
                </a:solidFill>
                <a:latin typeface="Calibri"/>
              </a:rPr>
              <a:t>, while the recursion — the headline idea — moved it only </a:t>
            </a:r>
            <a:r>
              <a:rPr sz="1550" b="1" i="0">
                <a:solidFill>
                  <a:srgbClr val="23282F"/>
                </a:solidFill>
                <a:latin typeface="Calibri"/>
              </a:rPr>
              <a:t>35.7% → 39.0%</a:t>
            </a:r>
            <a:r>
              <a:rPr sz="1550" b="0" i="0">
                <a:solidFill>
                  <a:srgbClr val="23282F"/>
                </a:solidFill>
                <a:latin typeface="Calibri"/>
              </a:rPr>
              <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8580089" cy="566928"/>
          </a:xfrm>
          <a:prstGeom prst="rect">
            <a:avLst/>
          </a:prstGeom>
          <a:noFill/>
        </p:spPr>
        <p:txBody>
          <a:bodyPr wrap="square" lIns="0" rIns="0" tIns="0" bIns="0">
            <a:spAutoFit/>
          </a:bodyPr>
          <a:lstStyle/>
          <a:p>
            <a:r>
              <a:rPr sz="2700" b="1" i="0">
                <a:solidFill>
                  <a:srgbClr val="23282F"/>
                </a:solidFill>
                <a:latin typeface="Calibri"/>
              </a:rPr>
              <a:t>Does it work — and what it does not claim</a:t>
            </a:r>
          </a:p>
        </p:txBody>
      </p:sp>
      <p:sp>
        <p:nvSpPr>
          <p:cNvPr id="3" name="TextBox 2"/>
          <p:cNvSpPr txBox="1"/>
          <p:nvPr/>
        </p:nvSpPr>
        <p:spPr>
          <a:xfrm>
            <a:off x="9220169" y="457200"/>
            <a:ext cx="2468880" cy="420624"/>
          </a:xfrm>
          <a:prstGeom prst="rect">
            <a:avLst/>
          </a:prstGeom>
          <a:noFill/>
        </p:spPr>
        <p:txBody>
          <a:bodyPr wrap="square" lIns="0" rIns="0" tIns="0" bIns="0">
            <a:spAutoFit/>
          </a:bodyPr>
          <a:lstStyle/>
          <a:p>
            <a:pPr algn="r"/>
            <a:r>
              <a:rPr sz="1100">
                <a:solidFill>
                  <a:srgbClr val="6B7482"/>
                </a:solidFill>
                <a:latin typeface="Calibri"/>
              </a:rPr>
              <a:t>1:25  ·  cuttable</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2 — What is TRM?      18</a:t>
            </a:r>
          </a:p>
        </p:txBody>
      </p:sp>
      <p:sp>
        <p:nvSpPr>
          <p:cNvPr id="7" name="TextBox 6"/>
          <p:cNvSpPr txBox="1"/>
          <p:nvPr/>
        </p:nvSpPr>
        <p:spPr>
          <a:xfrm>
            <a:off x="502920" y="1115568"/>
            <a:ext cx="11186129" cy="603250"/>
          </a:xfrm>
          <a:prstGeom prst="rect">
            <a:avLst/>
          </a:prstGeom>
          <a:noFill/>
        </p:spPr>
        <p:txBody>
          <a:bodyPr wrap="square" lIns="0" rIns="0" tIns="0" bIns="0">
            <a:spAutoFit/>
          </a:bodyPr>
          <a:lstStyle/>
          <a:p>
            <a:r>
              <a:rPr sz="1550" b="1" i="0">
                <a:solidFill>
                  <a:srgbClr val="23282F"/>
                </a:solidFill>
                <a:latin typeface="Calibri"/>
              </a:rPr>
              <a:t>7 M parameters, ~1000 training examples.</a:t>
            </a:r>
            <a:r>
              <a:rPr sz="1550" b="0" i="0">
                <a:solidFill>
                  <a:srgbClr val="23282F"/>
                </a:solidFill>
                <a:latin typeface="Calibri"/>
              </a:rPr>
              <a:t> On Sudoku and Maze every LLM in the comparison scores a flat </a:t>
            </a:r>
            <a:r>
              <a:rPr sz="1550" b="1" i="0">
                <a:solidFill>
                  <a:srgbClr val="23282F"/>
                </a:solidFill>
                <a:latin typeface="Calibri"/>
              </a:rPr>
              <a:t>0.0</a:t>
            </a:r>
            <a:r>
              <a:rPr sz="1550" b="0" i="0">
                <a:solidFill>
                  <a:srgbClr val="23282F"/>
                </a:solidFill>
                <a:latin typeface="Calibri"/>
              </a:rPr>
              <a:t>; TRM scores 87.4 and 85.3.</a:t>
            </a:r>
          </a:p>
        </p:txBody>
      </p:sp>
      <p:graphicFrame>
        <p:nvGraphicFramePr>
          <p:cNvPr id="8" name="Table 7"/>
          <p:cNvGraphicFramePr>
            <a:graphicFrameLocks noGrp="1"/>
          </p:cNvGraphicFramePr>
          <p:nvPr/>
        </p:nvGraphicFramePr>
        <p:xfrm>
          <a:off x="502920" y="1718817"/>
          <a:ext cx="11186128" cy="2029968"/>
        </p:xfrm>
        <a:graphic>
          <a:graphicData uri="http://schemas.openxmlformats.org/drawingml/2006/table">
            <a:tbl>
              <a:tblPr bandRow="1">
                <a:tableStyleId>{5C22544A-7EE6-4342-B048-85BDC9FD1C3A}</a:tableStyleId>
              </a:tblPr>
              <a:tblGrid>
                <a:gridCol w="3995046"/>
                <a:gridCol w="1598018"/>
                <a:gridCol w="1598018"/>
                <a:gridCol w="1331682"/>
                <a:gridCol w="1331682"/>
                <a:gridCol w="1331682"/>
              </a:tblGrid>
              <a:tr h="338328">
                <a:tc>
                  <a:txBody>
                    <a:bodyPr wrap="square"/>
                    <a:lstStyle/>
                    <a:p>
                      <a:pPr algn="l"/>
                    </a:p>
                  </a:txBody>
                  <a:tcPr marL="64008" marR="64008" marT="27432" marB="27432" anchor="ctr">
                    <a:solidFill>
                      <a:srgbClr val="F4F5F7"/>
                    </a:solidFill>
                  </a:tcPr>
                </a:tc>
                <a:tc>
                  <a:txBody>
                    <a:bodyPr wrap="square"/>
                    <a:lstStyle/>
                    <a:p>
                      <a:pPr algn="l"/>
                      <a:r>
                        <a:rPr sz="1350" b="1" i="0">
                          <a:solidFill>
                            <a:srgbClr val="5A6472"/>
                          </a:solidFill>
                          <a:latin typeface="Calibri"/>
                        </a:rPr>
                        <a:t>params</a:t>
                      </a:r>
                    </a:p>
                  </a:txBody>
                  <a:tcPr marL="64008" marR="64008" marT="27432" marB="27432" anchor="ctr">
                    <a:solidFill>
                      <a:srgbClr val="F4F5F7"/>
                    </a:solidFill>
                  </a:tcPr>
                </a:tc>
                <a:tc>
                  <a:txBody>
                    <a:bodyPr wrap="square"/>
                    <a:lstStyle/>
                    <a:p>
                      <a:pPr algn="l"/>
                      <a:r>
                        <a:rPr sz="1350" b="1" i="0">
                          <a:solidFill>
                            <a:srgbClr val="5A6472"/>
                          </a:solidFill>
                          <a:latin typeface="Calibri"/>
                        </a:rPr>
                        <a:t>Sudoku</a:t>
                      </a:r>
                    </a:p>
                  </a:txBody>
                  <a:tcPr marL="64008" marR="64008" marT="27432" marB="27432" anchor="ctr">
                    <a:solidFill>
                      <a:srgbClr val="F4F5F7"/>
                    </a:solidFill>
                  </a:tcPr>
                </a:tc>
                <a:tc>
                  <a:txBody>
                    <a:bodyPr wrap="square"/>
                    <a:lstStyle/>
                    <a:p>
                      <a:pPr algn="l"/>
                      <a:r>
                        <a:rPr sz="1350" b="1" i="0">
                          <a:solidFill>
                            <a:srgbClr val="5A6472"/>
                          </a:solidFill>
                          <a:latin typeface="Calibri"/>
                        </a:rPr>
                        <a:t>Maze</a:t>
                      </a:r>
                    </a:p>
                  </a:txBody>
                  <a:tcPr marL="64008" marR="64008" marT="27432" marB="27432" anchor="ctr">
                    <a:solidFill>
                      <a:srgbClr val="F4F5F7"/>
                    </a:solidFill>
                  </a:tcPr>
                </a:tc>
                <a:tc>
                  <a:txBody>
                    <a:bodyPr wrap="square"/>
                    <a:lstStyle/>
                    <a:p>
                      <a:pPr algn="l"/>
                      <a:r>
                        <a:rPr sz="1350" b="1" i="0">
                          <a:solidFill>
                            <a:srgbClr val="5A6472"/>
                          </a:solidFill>
                          <a:latin typeface="Calibri"/>
                        </a:rPr>
                        <a:t>ARC-1</a:t>
                      </a:r>
                    </a:p>
                  </a:txBody>
                  <a:tcPr marL="64008" marR="64008" marT="27432" marB="27432" anchor="ctr">
                    <a:solidFill>
                      <a:srgbClr val="F4F5F7"/>
                    </a:solidFill>
                  </a:tcPr>
                </a:tc>
                <a:tc>
                  <a:txBody>
                    <a:bodyPr wrap="square"/>
                    <a:lstStyle/>
                    <a:p>
                      <a:pPr algn="l"/>
                      <a:r>
                        <a:rPr sz="1350" b="1" i="0">
                          <a:solidFill>
                            <a:srgbClr val="5A6472"/>
                          </a:solidFill>
                          <a:latin typeface="Calibri"/>
                        </a:rPr>
                        <a:t>ARC-2</a:t>
                      </a:r>
                    </a:p>
                  </a:txBody>
                  <a:tcPr marL="64008" marR="64008" marT="27432" marB="27432" anchor="ctr">
                    <a:solidFill>
                      <a:srgbClr val="F4F5F7"/>
                    </a:solidFill>
                  </a:tcPr>
                </a:tc>
              </a:tr>
              <a:tr h="338328">
                <a:tc>
                  <a:txBody>
                    <a:bodyPr wrap="square"/>
                    <a:lstStyle/>
                    <a:p>
                      <a:pPr algn="l"/>
                      <a:r>
                        <a:rPr sz="1350" b="0" i="0">
                          <a:solidFill>
                            <a:srgbClr val="23282F"/>
                          </a:solidFill>
                          <a:latin typeface="Calibri"/>
                        </a:rPr>
                        <a:t>Deepseek R1</a:t>
                      </a:r>
                    </a:p>
                  </a:txBody>
                  <a:tcPr marL="64008" marR="64008" marT="27432" marB="27432" anchor="ctr">
                    <a:solidFill>
                      <a:srgbClr val="FFFFFF"/>
                    </a:solidFill>
                  </a:tcPr>
                </a:tc>
                <a:tc>
                  <a:txBody>
                    <a:bodyPr wrap="square"/>
                    <a:lstStyle/>
                    <a:p>
                      <a:pPr algn="l"/>
                      <a:r>
                        <a:rPr sz="1350" b="0" i="0">
                          <a:solidFill>
                            <a:srgbClr val="23282F"/>
                          </a:solidFill>
                          <a:latin typeface="Calibri"/>
                        </a:rPr>
                        <a:t>671B</a:t>
                      </a:r>
                    </a:p>
                  </a:txBody>
                  <a:tcPr marL="64008" marR="64008" marT="27432" marB="27432" anchor="ctr">
                    <a:solidFill>
                      <a:srgbClr val="FFFFFF"/>
                    </a:solidFill>
                  </a:tcPr>
                </a:tc>
                <a:tc>
                  <a:txBody>
                    <a:bodyPr wrap="square"/>
                    <a:lstStyle/>
                    <a:p>
                      <a:pPr algn="r"/>
                      <a:r>
                        <a:rPr sz="1350" b="0" i="0">
                          <a:solidFill>
                            <a:srgbClr val="23282F"/>
                          </a:solidFill>
                          <a:latin typeface="Calibri"/>
                        </a:rPr>
                        <a:t>0.0</a:t>
                      </a:r>
                    </a:p>
                  </a:txBody>
                  <a:tcPr marL="64008" marR="64008" marT="27432" marB="27432" anchor="ctr">
                    <a:solidFill>
                      <a:srgbClr val="FFFFFF"/>
                    </a:solidFill>
                  </a:tcPr>
                </a:tc>
                <a:tc>
                  <a:txBody>
                    <a:bodyPr wrap="square"/>
                    <a:lstStyle/>
                    <a:p>
                      <a:pPr algn="r"/>
                      <a:r>
                        <a:rPr sz="1350" b="0" i="0">
                          <a:solidFill>
                            <a:srgbClr val="23282F"/>
                          </a:solidFill>
                          <a:latin typeface="Calibri"/>
                        </a:rPr>
                        <a:t>0.0</a:t>
                      </a:r>
                    </a:p>
                  </a:txBody>
                  <a:tcPr marL="64008" marR="64008" marT="27432" marB="27432" anchor="ctr">
                    <a:solidFill>
                      <a:srgbClr val="FFFFFF"/>
                    </a:solidFill>
                  </a:tcPr>
                </a:tc>
                <a:tc>
                  <a:txBody>
                    <a:bodyPr wrap="square"/>
                    <a:lstStyle/>
                    <a:p>
                      <a:pPr algn="r"/>
                      <a:r>
                        <a:rPr sz="1350" b="0" i="0">
                          <a:solidFill>
                            <a:srgbClr val="23282F"/>
                          </a:solidFill>
                          <a:latin typeface="Calibri"/>
                        </a:rPr>
                        <a:t>15.8</a:t>
                      </a:r>
                    </a:p>
                  </a:txBody>
                  <a:tcPr marL="64008" marR="64008" marT="27432" marB="27432" anchor="ctr">
                    <a:solidFill>
                      <a:srgbClr val="FFFFFF"/>
                    </a:solidFill>
                  </a:tcPr>
                </a:tc>
                <a:tc>
                  <a:txBody>
                    <a:bodyPr wrap="square"/>
                    <a:lstStyle/>
                    <a:p>
                      <a:pPr algn="r"/>
                      <a:r>
                        <a:rPr sz="1350" b="0" i="0">
                          <a:solidFill>
                            <a:srgbClr val="23282F"/>
                          </a:solidFill>
                          <a:latin typeface="Calibri"/>
                        </a:rPr>
                        <a:t>1.3</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Grok-4-thinking</a:t>
                      </a:r>
                    </a:p>
                  </a:txBody>
                  <a:tcPr marL="64008" marR="64008" marT="27432" marB="27432" anchor="ctr">
                    <a:solidFill>
                      <a:srgbClr val="FFFFFF"/>
                    </a:solidFill>
                  </a:tcPr>
                </a:tc>
                <a:tc>
                  <a:txBody>
                    <a:bodyPr wrap="square"/>
                    <a:lstStyle/>
                    <a:p>
                      <a:pPr algn="l"/>
                      <a:r>
                        <a:rPr sz="1350" b="0" i="0">
                          <a:solidFill>
                            <a:srgbClr val="23282F"/>
                          </a:solidFill>
                          <a:latin typeface="Calibri"/>
                        </a:rPr>
                        <a:t>1.7T</a:t>
                      </a:r>
                    </a:p>
                  </a:txBody>
                  <a:tcPr marL="64008" marR="64008" marT="27432" marB="27432" anchor="ctr">
                    <a:solidFill>
                      <a:srgbClr val="FFFFFF"/>
                    </a:solidFill>
                  </a:tcPr>
                </a:tc>
                <a:tc>
                  <a:txBody>
                    <a:bodyPr wrap="square"/>
                    <a:lstStyle/>
                    <a:p>
                      <a:pPr algn="r"/>
                      <a:r>
                        <a:rPr sz="1350" b="0" i="0">
                          <a:solidFill>
                            <a:srgbClr val="23282F"/>
                          </a:solidFill>
                          <a:latin typeface="Calibri"/>
                        </a:rPr>
                        <a:t>—</a:t>
                      </a:r>
                    </a:p>
                  </a:txBody>
                  <a:tcPr marL="64008" marR="64008" marT="27432" marB="27432" anchor="ctr">
                    <a:solidFill>
                      <a:srgbClr val="FFFFFF"/>
                    </a:solidFill>
                  </a:tcPr>
                </a:tc>
                <a:tc>
                  <a:txBody>
                    <a:bodyPr wrap="square"/>
                    <a:lstStyle/>
                    <a:p>
                      <a:pPr algn="r"/>
                      <a:r>
                        <a:rPr sz="1350" b="0" i="0">
                          <a:solidFill>
                            <a:srgbClr val="23282F"/>
                          </a:solidFill>
                          <a:latin typeface="Calibri"/>
                        </a:rPr>
                        <a:t>—</a:t>
                      </a:r>
                    </a:p>
                  </a:txBody>
                  <a:tcPr marL="64008" marR="64008" marT="27432" marB="27432" anchor="ctr">
                    <a:solidFill>
                      <a:srgbClr val="FFFFFF"/>
                    </a:solidFill>
                  </a:tcPr>
                </a:tc>
                <a:tc>
                  <a:txBody>
                    <a:bodyPr wrap="square"/>
                    <a:lstStyle/>
                    <a:p>
                      <a:pPr algn="r"/>
                      <a:r>
                        <a:rPr sz="1350" b="1" i="0">
                          <a:solidFill>
                            <a:srgbClr val="23282F"/>
                          </a:solidFill>
                          <a:latin typeface="Calibri"/>
                        </a:rPr>
                        <a:t>66.7</a:t>
                      </a:r>
                    </a:p>
                  </a:txBody>
                  <a:tcPr marL="64008" marR="64008" marT="27432" marB="27432" anchor="ctr">
                    <a:solidFill>
                      <a:srgbClr val="FFFFFF"/>
                    </a:solidFill>
                  </a:tcPr>
                </a:tc>
                <a:tc>
                  <a:txBody>
                    <a:bodyPr wrap="square"/>
                    <a:lstStyle/>
                    <a:p>
                      <a:pPr algn="r"/>
                      <a:r>
                        <a:rPr sz="1350" b="1" i="0">
                          <a:solidFill>
                            <a:srgbClr val="23282F"/>
                          </a:solidFill>
                          <a:latin typeface="Calibri"/>
                        </a:rPr>
                        <a:t>16.0</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HRM</a:t>
                      </a:r>
                    </a:p>
                  </a:txBody>
                  <a:tcPr marL="64008" marR="64008" marT="27432" marB="27432" anchor="ctr">
                    <a:solidFill>
                      <a:srgbClr val="FFFFFF"/>
                    </a:solidFill>
                  </a:tcPr>
                </a:tc>
                <a:tc>
                  <a:txBody>
                    <a:bodyPr wrap="square"/>
                    <a:lstStyle/>
                    <a:p>
                      <a:pPr algn="l"/>
                      <a:r>
                        <a:rPr sz="1350" b="0" i="0">
                          <a:solidFill>
                            <a:srgbClr val="23282F"/>
                          </a:solidFill>
                          <a:latin typeface="Calibri"/>
                        </a:rPr>
                        <a:t>27M</a:t>
                      </a:r>
                    </a:p>
                  </a:txBody>
                  <a:tcPr marL="64008" marR="64008" marT="27432" marB="27432" anchor="ctr">
                    <a:solidFill>
                      <a:srgbClr val="FFFFFF"/>
                    </a:solidFill>
                  </a:tcPr>
                </a:tc>
                <a:tc>
                  <a:txBody>
                    <a:bodyPr wrap="square"/>
                    <a:lstStyle/>
                    <a:p>
                      <a:pPr algn="r"/>
                      <a:r>
                        <a:rPr sz="1350" b="0" i="0">
                          <a:solidFill>
                            <a:srgbClr val="23282F"/>
                          </a:solidFill>
                          <a:latin typeface="Calibri"/>
                        </a:rPr>
                        <a:t>55.0</a:t>
                      </a:r>
                    </a:p>
                  </a:txBody>
                  <a:tcPr marL="64008" marR="64008" marT="27432" marB="27432" anchor="ctr">
                    <a:solidFill>
                      <a:srgbClr val="FFFFFF"/>
                    </a:solidFill>
                  </a:tcPr>
                </a:tc>
                <a:tc>
                  <a:txBody>
                    <a:bodyPr wrap="square"/>
                    <a:lstStyle/>
                    <a:p>
                      <a:pPr algn="r"/>
                      <a:r>
                        <a:rPr sz="1350" b="0" i="0">
                          <a:solidFill>
                            <a:srgbClr val="23282F"/>
                          </a:solidFill>
                          <a:latin typeface="Calibri"/>
                        </a:rPr>
                        <a:t>74.5</a:t>
                      </a:r>
                    </a:p>
                  </a:txBody>
                  <a:tcPr marL="64008" marR="64008" marT="27432" marB="27432" anchor="ctr">
                    <a:solidFill>
                      <a:srgbClr val="FFFFFF"/>
                    </a:solidFill>
                  </a:tcPr>
                </a:tc>
                <a:tc>
                  <a:txBody>
                    <a:bodyPr wrap="square"/>
                    <a:lstStyle/>
                    <a:p>
                      <a:pPr algn="r"/>
                      <a:r>
                        <a:rPr sz="1350" b="0" i="0">
                          <a:solidFill>
                            <a:srgbClr val="23282F"/>
                          </a:solidFill>
                          <a:latin typeface="Calibri"/>
                        </a:rPr>
                        <a:t>40.3</a:t>
                      </a:r>
                    </a:p>
                  </a:txBody>
                  <a:tcPr marL="64008" marR="64008" marT="27432" marB="27432" anchor="ctr">
                    <a:solidFill>
                      <a:srgbClr val="FFFFFF"/>
                    </a:solidFill>
                  </a:tcPr>
                </a:tc>
                <a:tc>
                  <a:txBody>
                    <a:bodyPr wrap="square"/>
                    <a:lstStyle/>
                    <a:p>
                      <a:pPr algn="r"/>
                      <a:r>
                        <a:rPr sz="1350" b="0" i="0">
                          <a:solidFill>
                            <a:srgbClr val="23282F"/>
                          </a:solidFill>
                          <a:latin typeface="Calibri"/>
                        </a:rPr>
                        <a:t>5.0</a:t>
                      </a:r>
                    </a:p>
                  </a:txBody>
                  <a:tcPr marL="64008" marR="64008" marT="27432" marB="27432" anchor="ctr">
                    <a:solidFill>
                      <a:srgbClr val="FFFFFF"/>
                    </a:solidFill>
                  </a:tcPr>
                </a:tc>
              </a:tr>
              <a:tr h="338328">
                <a:tc>
                  <a:txBody>
                    <a:bodyPr wrap="square"/>
                    <a:lstStyle/>
                    <a:p>
                      <a:pPr algn="l"/>
                      <a:r>
                        <a:rPr sz="1350" b="1" i="0">
                          <a:solidFill>
                            <a:srgbClr val="23282F"/>
                          </a:solidFill>
                          <a:latin typeface="Calibri"/>
                        </a:rPr>
                        <a:t>TRM-Att</a:t>
                      </a:r>
                    </a:p>
                  </a:txBody>
                  <a:tcPr marL="64008" marR="64008" marT="27432" marB="27432" anchor="ctr">
                    <a:solidFill>
                      <a:srgbClr val="FFFFFF"/>
                    </a:solidFill>
                  </a:tcPr>
                </a:tc>
                <a:tc>
                  <a:txBody>
                    <a:bodyPr wrap="square"/>
                    <a:lstStyle/>
                    <a:p>
                      <a:pPr algn="l"/>
                      <a:r>
                        <a:rPr sz="1350" b="1" i="0">
                          <a:solidFill>
                            <a:srgbClr val="23282F"/>
                          </a:solidFill>
                          <a:latin typeface="Calibri"/>
                        </a:rPr>
                        <a:t>7M</a:t>
                      </a:r>
                    </a:p>
                  </a:txBody>
                  <a:tcPr marL="64008" marR="64008" marT="27432" marB="27432" anchor="ctr">
                    <a:solidFill>
                      <a:srgbClr val="FFFFFF"/>
                    </a:solidFill>
                  </a:tcPr>
                </a:tc>
                <a:tc>
                  <a:txBody>
                    <a:bodyPr wrap="square"/>
                    <a:lstStyle/>
                    <a:p>
                      <a:pPr algn="r"/>
                      <a:r>
                        <a:rPr sz="1350" b="0" i="0">
                          <a:solidFill>
                            <a:srgbClr val="23282F"/>
                          </a:solidFill>
                          <a:latin typeface="Calibri"/>
                        </a:rPr>
                        <a:t>74.7</a:t>
                      </a:r>
                    </a:p>
                  </a:txBody>
                  <a:tcPr marL="64008" marR="64008" marT="27432" marB="27432" anchor="ctr">
                    <a:solidFill>
                      <a:srgbClr val="FFFFFF"/>
                    </a:solidFill>
                  </a:tcPr>
                </a:tc>
                <a:tc>
                  <a:txBody>
                    <a:bodyPr wrap="square"/>
                    <a:lstStyle/>
                    <a:p>
                      <a:pPr algn="r"/>
                      <a:r>
                        <a:rPr sz="1350" b="1" i="0">
                          <a:solidFill>
                            <a:srgbClr val="23282F"/>
                          </a:solidFill>
                          <a:latin typeface="Calibri"/>
                        </a:rPr>
                        <a:t>85.3</a:t>
                      </a:r>
                    </a:p>
                  </a:txBody>
                  <a:tcPr marL="64008" marR="64008" marT="27432" marB="27432" anchor="ctr">
                    <a:solidFill>
                      <a:srgbClr val="FFFFFF"/>
                    </a:solidFill>
                  </a:tcPr>
                </a:tc>
                <a:tc>
                  <a:txBody>
                    <a:bodyPr wrap="square"/>
                    <a:lstStyle/>
                    <a:p>
                      <a:pPr algn="r"/>
                      <a:r>
                        <a:rPr sz="1350" b="0" i="0">
                          <a:solidFill>
                            <a:srgbClr val="23282F"/>
                          </a:solidFill>
                          <a:latin typeface="Calibri"/>
                        </a:rPr>
                        <a:t>44.6</a:t>
                      </a:r>
                    </a:p>
                  </a:txBody>
                  <a:tcPr marL="64008" marR="64008" marT="27432" marB="27432" anchor="ctr">
                    <a:solidFill>
                      <a:srgbClr val="FFFFFF"/>
                    </a:solidFill>
                  </a:tcPr>
                </a:tc>
                <a:tc>
                  <a:txBody>
                    <a:bodyPr wrap="square"/>
                    <a:lstStyle/>
                    <a:p>
                      <a:pPr algn="r"/>
                      <a:r>
                        <a:rPr sz="1350" b="0" i="0">
                          <a:solidFill>
                            <a:srgbClr val="23282F"/>
                          </a:solidFill>
                          <a:latin typeface="Calibri"/>
                        </a:rPr>
                        <a:t>7.8</a:t>
                      </a:r>
                    </a:p>
                  </a:txBody>
                  <a:tcPr marL="64008" marR="64008" marT="27432" marB="27432" anchor="ctr">
                    <a:solidFill>
                      <a:srgbClr val="FFFFFF"/>
                    </a:solidFill>
                  </a:tcPr>
                </a:tc>
              </a:tr>
              <a:tr h="338328">
                <a:tc>
                  <a:txBody>
                    <a:bodyPr wrap="square"/>
                    <a:lstStyle/>
                    <a:p>
                      <a:pPr algn="l"/>
                      <a:r>
                        <a:rPr sz="1350" b="1" i="0">
                          <a:solidFill>
                            <a:srgbClr val="23282F"/>
                          </a:solidFill>
                          <a:latin typeface="Calibri"/>
                        </a:rPr>
                        <a:t>TRM-MLP</a:t>
                      </a:r>
                    </a:p>
                  </a:txBody>
                  <a:tcPr marL="64008" marR="64008" marT="27432" marB="27432" anchor="ctr">
                    <a:solidFill>
                      <a:srgbClr val="FFFFFF"/>
                    </a:solidFill>
                  </a:tcPr>
                </a:tc>
                <a:tc>
                  <a:txBody>
                    <a:bodyPr wrap="square"/>
                    <a:lstStyle/>
                    <a:p>
                      <a:pPr algn="l"/>
                      <a:r>
                        <a:rPr sz="1350" b="0" i="0">
                          <a:solidFill>
                            <a:srgbClr val="23282F"/>
                          </a:solidFill>
                          <a:latin typeface="Calibri"/>
                        </a:rPr>
                        <a:t>5M</a:t>
                      </a:r>
                    </a:p>
                  </a:txBody>
                  <a:tcPr marL="64008" marR="64008" marT="27432" marB="27432" anchor="ctr">
                    <a:solidFill>
                      <a:srgbClr val="FFFFFF"/>
                    </a:solidFill>
                  </a:tcPr>
                </a:tc>
                <a:tc>
                  <a:txBody>
                    <a:bodyPr wrap="square"/>
                    <a:lstStyle/>
                    <a:p>
                      <a:pPr algn="r"/>
                      <a:r>
                        <a:rPr sz="1350" b="1" i="0">
                          <a:solidFill>
                            <a:srgbClr val="23282F"/>
                          </a:solidFill>
                          <a:latin typeface="Calibri"/>
                        </a:rPr>
                        <a:t>87.4</a:t>
                      </a:r>
                    </a:p>
                  </a:txBody>
                  <a:tcPr marL="64008" marR="64008" marT="27432" marB="27432" anchor="ctr">
                    <a:solidFill>
                      <a:srgbClr val="FFFFFF"/>
                    </a:solidFill>
                  </a:tcPr>
                </a:tc>
                <a:tc>
                  <a:txBody>
                    <a:bodyPr wrap="square"/>
                    <a:lstStyle/>
                    <a:p>
                      <a:pPr algn="r"/>
                      <a:r>
                        <a:rPr sz="1350" b="1" i="0">
                          <a:solidFill>
                            <a:srgbClr val="23282F"/>
                          </a:solidFill>
                          <a:latin typeface="Calibri"/>
                        </a:rPr>
                        <a:t>0.0</a:t>
                      </a:r>
                      <a:r>
                        <a:rPr sz="1350" b="0" i="0">
                          <a:solidFill>
                            <a:srgbClr val="23282F"/>
                          </a:solidFill>
                          <a:latin typeface="Calibri"/>
                        </a:rPr>
                        <a:t> </a:t>
                      </a:r>
                      <a:r>
                        <a:rPr sz="1350" b="1" i="0">
                          <a:solidFill>
                            <a:srgbClr val="B4553F"/>
                          </a:solidFill>
                          <a:latin typeface="Calibri"/>
                        </a:rPr>
                        <a:t>●</a:t>
                      </a:r>
                    </a:p>
                  </a:txBody>
                  <a:tcPr marL="64008" marR="64008" marT="27432" marB="27432" anchor="ctr">
                    <a:solidFill>
                      <a:srgbClr val="FFFFFF"/>
                    </a:solidFill>
                  </a:tcPr>
                </a:tc>
                <a:tc>
                  <a:txBody>
                    <a:bodyPr wrap="square"/>
                    <a:lstStyle/>
                    <a:p>
                      <a:pPr algn="r"/>
                      <a:r>
                        <a:rPr sz="1350" b="0" i="0">
                          <a:solidFill>
                            <a:srgbClr val="23282F"/>
                          </a:solidFill>
                          <a:latin typeface="Calibri"/>
                        </a:rPr>
                        <a:t>29.6</a:t>
                      </a:r>
                    </a:p>
                  </a:txBody>
                  <a:tcPr marL="64008" marR="64008" marT="27432" marB="27432" anchor="ctr">
                    <a:solidFill>
                      <a:srgbClr val="FFFFFF"/>
                    </a:solidFill>
                  </a:tcPr>
                </a:tc>
                <a:tc>
                  <a:txBody>
                    <a:bodyPr wrap="square"/>
                    <a:lstStyle/>
                    <a:p>
                      <a:pPr algn="r"/>
                      <a:r>
                        <a:rPr sz="1350" b="0" i="0">
                          <a:solidFill>
                            <a:srgbClr val="23282F"/>
                          </a:solidFill>
                          <a:latin typeface="Calibri"/>
                        </a:rPr>
                        <a:t>2.4</a:t>
                      </a:r>
                    </a:p>
                  </a:txBody>
                  <a:tcPr marL="64008" marR="64008" marT="27432" marB="27432" anchor="ctr">
                    <a:solidFill>
                      <a:srgbClr val="FFFFFF"/>
                    </a:solidFill>
                  </a:tcPr>
                </a:tc>
              </a:tr>
            </a:tbl>
          </a:graphicData>
        </a:graphic>
      </p:graphicFrame>
      <p:sp>
        <p:nvSpPr>
          <p:cNvPr id="9" name="TextBox 8"/>
          <p:cNvSpPr txBox="1"/>
          <p:nvPr/>
        </p:nvSpPr>
        <p:spPr>
          <a:xfrm>
            <a:off x="539496" y="3840226"/>
            <a:ext cx="11149553" cy="1828038"/>
          </a:xfrm>
          <a:prstGeom prst="rect">
            <a:avLst/>
          </a:prstGeom>
          <a:noFill/>
        </p:spPr>
        <p:txBody>
          <a:bodyPr wrap="square" lIns="0" rIns="0" tIns="0" bIns="0">
            <a:spAutoFit/>
          </a:bodyPr>
          <a:lstStyle/>
          <a:p>
            <a:pPr>
              <a:spcAft>
                <a:spcPts val="400"/>
              </a:spcAft>
            </a:pPr>
            <a:r>
              <a:rPr sz="1550" b="1">
                <a:solidFill>
                  <a:srgbClr val="6A5A92"/>
                </a:solidFill>
                <a:latin typeface="Calibri"/>
              </a:rPr>
              <a:t>•  </a:t>
            </a:r>
            <a:r>
              <a:rPr sz="1550" b="1" i="0">
                <a:solidFill>
                  <a:srgbClr val="23282F"/>
                </a:solidFill>
                <a:latin typeface="Calibri"/>
              </a:rPr>
              <a:t>Grok-4 beats it on both ARC benchmarks.</a:t>
            </a:r>
            <a:r>
              <a:rPr sz="1550" b="0" i="0">
                <a:solidFill>
                  <a:srgbClr val="23282F"/>
                </a:solidFill>
                <a:latin typeface="Calibri"/>
              </a:rPr>
              <a:t> The abstract says "higher than </a:t>
            </a:r>
            <a:r>
              <a:rPr sz="1550" b="0" i="1">
                <a:solidFill>
                  <a:srgbClr val="23282F"/>
                </a:solidFill>
                <a:latin typeface="Calibri"/>
              </a:rPr>
              <a:t>most</a:t>
            </a:r>
            <a:r>
              <a:rPr sz="1550" b="0" i="0">
                <a:solidFill>
                  <a:srgbClr val="23282F"/>
                </a:solidFill>
                <a:latin typeface="Calibri"/>
              </a:rPr>
              <a:t> LLMs" and means it.</a:t>
            </a:r>
          </a:p>
          <a:p>
            <a:pPr>
              <a:spcAft>
                <a:spcPts val="400"/>
              </a:spcAft>
            </a:pPr>
            <a:r>
              <a:rPr sz="1550" b="1">
                <a:solidFill>
                  <a:srgbClr val="6A5A92"/>
                </a:solidFill>
                <a:latin typeface="Calibri"/>
              </a:rPr>
              <a:t>•  </a:t>
            </a:r>
            <a:r>
              <a:rPr sz="1550" b="1" i="0">
                <a:solidFill>
                  <a:srgbClr val="23282F"/>
                </a:solidFill>
                <a:latin typeface="Calibri"/>
              </a:rPr>
              <a:t>The mixer is sharply task-dependent.</a:t>
            </a:r>
            <a:r>
              <a:rPr sz="1550" b="0" i="0">
                <a:solidFill>
                  <a:srgbClr val="23282F"/>
                </a:solidFill>
                <a:latin typeface="Calibri"/>
              </a:rPr>
              <a:t> TRM-MLP wins Sudoku by 13 points and scores </a:t>
            </a:r>
            <a:r>
              <a:rPr sz="1550" b="1" i="0">
                <a:solidFill>
                  <a:srgbClr val="23282F"/>
                </a:solidFill>
                <a:latin typeface="Calibri"/>
              </a:rPr>
              <a:t>0.0</a:t>
            </a:r>
            <a:r>
              <a:rPr sz="1550" b="0" i="0">
                <a:solidFill>
                  <a:srgbClr val="23282F"/>
                </a:solidFill>
                <a:latin typeface="Calibri"/>
              </a:rPr>
              <a:t> on mazes. Remember this — it comes back in Part 3.</a:t>
            </a:r>
          </a:p>
          <a:p>
            <a:pPr>
              <a:spcAft>
                <a:spcPts val="400"/>
              </a:spcAft>
            </a:pPr>
            <a:r>
              <a:rPr sz="1550" b="1">
                <a:solidFill>
                  <a:srgbClr val="6A5A92"/>
                </a:solidFill>
                <a:latin typeface="Calibri"/>
              </a:rPr>
              <a:t>•  </a:t>
            </a:r>
            <a:r>
              <a:rPr sz="1550" b="1" i="0">
                <a:solidFill>
                  <a:srgbClr val="23282F"/>
                </a:solidFill>
                <a:latin typeface="Calibri"/>
              </a:rPr>
              <a:t>Not an LLM, not generative.</a:t>
            </a:r>
            <a:r>
              <a:rPr sz="1550" b="0" i="0">
                <a:solidFill>
                  <a:srgbClr val="23282F"/>
                </a:solidFill>
                <a:latin typeface="Calibri"/>
              </a:rPr>
              <a:t> One input, one deterministic answer.</a:t>
            </a:r>
          </a:p>
          <a:p>
            <a:pPr>
              <a:spcAft>
                <a:spcPts val="400"/>
              </a:spcAft>
            </a:pPr>
            <a:r>
              <a:rPr sz="1550" b="1">
                <a:solidFill>
                  <a:srgbClr val="6A5A92"/>
                </a:solidFill>
                <a:latin typeface="Calibri"/>
              </a:rPr>
              <a:t>•  </a:t>
            </a:r>
            <a:r>
              <a:rPr sz="1550" b="1" i="0">
                <a:solidFill>
                  <a:srgbClr val="23282F"/>
                </a:solidFill>
                <a:latin typeface="Calibri"/>
              </a:rPr>
              <a:t>Bigger is worse and nobody knows why.</a:t>
            </a:r>
            <a:r>
              <a:rPr sz="1550" b="0" i="0">
                <a:solidFill>
                  <a:srgbClr val="23282F"/>
                </a:solidFill>
                <a:latin typeface="Calibri"/>
              </a:rPr>
              <a:t> The paper's words: </a:t>
            </a:r>
            <a:r>
              <a:rPr sz="1550" b="0" i="1">
                <a:solidFill>
                  <a:srgbClr val="23282F"/>
                </a:solidFill>
                <a:latin typeface="Calibri"/>
              </a:rPr>
              <a:t>"we suspect it has to do with overfitting, but we have no theory to back this explanation."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331720"/>
            <a:ext cx="12191969" cy="91440"/>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3169" cy="914400"/>
          </a:xfrm>
          <a:prstGeom prst="rect">
            <a:avLst/>
          </a:prstGeom>
          <a:noFill/>
        </p:spPr>
        <p:txBody>
          <a:bodyPr wrap="square" lIns="0" rIns="0" tIns="0" bIns="0">
            <a:spAutoFit/>
          </a:bodyPr>
          <a:lstStyle/>
          <a:p>
            <a:r>
              <a:rPr sz="3800" b="1">
                <a:solidFill>
                  <a:srgbClr val="23282F"/>
                </a:solidFill>
                <a:latin typeface="Calibri"/>
              </a:rPr>
              <a:t>Part 3 — What we built</a:t>
            </a:r>
          </a:p>
        </p:txBody>
      </p:sp>
      <p:sp>
        <p:nvSpPr>
          <p:cNvPr id="4" name="TextBox 3"/>
          <p:cNvSpPr txBox="1"/>
          <p:nvPr/>
        </p:nvSpPr>
        <p:spPr>
          <a:xfrm>
            <a:off x="914400" y="3703320"/>
            <a:ext cx="10363169" cy="349758"/>
          </a:xfrm>
          <a:prstGeom prst="rect">
            <a:avLst/>
          </a:prstGeom>
          <a:noFill/>
        </p:spPr>
        <p:txBody>
          <a:bodyPr wrap="square" lIns="0" rIns="0" tIns="0" bIns="0">
            <a:spAutoFit/>
          </a:bodyPr>
          <a:lstStyle/>
          <a:p>
            <a:r>
              <a:rPr sz="1400" b="0" i="0">
                <a:solidFill>
                  <a:srgbClr val="6B7482"/>
                </a:solidFill>
                <a:latin typeface="Calibri"/>
              </a:rPr>
              <a:t>Back to us. The recursion is TRM's; the spectral front end and everything around it is ours.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Two backbones, one flag</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0:50</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3 — What we built      20</a:t>
            </a:r>
          </a:p>
        </p:txBody>
      </p:sp>
      <p:pic>
        <p:nvPicPr>
          <p:cNvPr id="7" name="Picture 6" descr="fig13_two_backbones.png"/>
          <p:cNvPicPr>
            <a:picLocks noChangeAspect="1"/>
          </p:cNvPicPr>
          <p:nvPr/>
        </p:nvPicPr>
        <p:blipFill>
          <a:blip r:embed="rId2"/>
          <a:stretch>
            <a:fillRect/>
          </a:stretch>
        </p:blipFill>
        <p:spPr>
          <a:xfrm>
            <a:off x="1250027" y="1115568"/>
            <a:ext cx="9691914" cy="3731386"/>
          </a:xfrm>
          <a:prstGeom prst="rect">
            <a:avLst/>
          </a:prstGeom>
        </p:spPr>
      </p:pic>
      <p:sp>
        <p:nvSpPr>
          <p:cNvPr id="8" name="TextBox 7"/>
          <p:cNvSpPr txBox="1"/>
          <p:nvPr/>
        </p:nvSpPr>
        <p:spPr>
          <a:xfrm>
            <a:off x="502920" y="4956683"/>
            <a:ext cx="11186129" cy="603250"/>
          </a:xfrm>
          <a:prstGeom prst="rect">
            <a:avLst/>
          </a:prstGeom>
          <a:noFill/>
        </p:spPr>
        <p:txBody>
          <a:bodyPr wrap="square" lIns="0" rIns="0" tIns="0" bIns="0">
            <a:spAutoFit/>
          </a:bodyPr>
          <a:lstStyle/>
          <a:p>
            <a:r>
              <a:rPr sz="1550" b="1" i="0">
                <a:solidFill>
                  <a:srgbClr val="23282F"/>
                </a:solidFill>
                <a:latin typeface="Calibri"/>
              </a:rPr>
              <a:t>The structural claim, which does not move:</a:t>
            </a:r>
            <a:r>
              <a:rPr sz="1550" b="0" i="0">
                <a:solidFill>
                  <a:srgbClr val="23282F"/>
                </a:solidFill>
                <a:latin typeface="Calibri"/>
              </a:rPr>
              <a:t> 12 distinct blocks stored once, versus </a:t>
            </a:r>
            <a:r>
              <a:rPr sz="1550" b="1" i="0">
                <a:solidFill>
                  <a:srgbClr val="23282F"/>
                </a:solidFill>
                <a:latin typeface="Calibri"/>
              </a:rPr>
              <a:t>2 blocks stored once and called 126 times</a:t>
            </a:r>
            <a:r>
              <a:rPr sz="1550" b="0" i="0">
                <a:solidFill>
                  <a:srgbClr val="23282F"/>
                </a:solidFill>
                <a:latin typeface="Calibri"/>
              </a:rPr>
              <a:t> — behind an identical interface.</a:t>
            </a:r>
          </a:p>
        </p:txBody>
      </p:sp>
      <p:sp>
        <p:nvSpPr>
          <p:cNvPr id="9" name="TextBox 8"/>
          <p:cNvSpPr txBox="1"/>
          <p:nvPr/>
        </p:nvSpPr>
        <p:spPr>
          <a:xfrm>
            <a:off x="502920" y="5559933"/>
            <a:ext cx="11186129" cy="859155"/>
          </a:xfrm>
          <a:prstGeom prst="rect">
            <a:avLst/>
          </a:prstGeom>
          <a:noFill/>
        </p:spPr>
        <p:txBody>
          <a:bodyPr wrap="square" lIns="0" rIns="0" tIns="0" bIns="0">
            <a:spAutoFit/>
          </a:bodyPr>
          <a:lstStyle/>
          <a:p>
            <a:r>
              <a:rPr sz="1550" b="1" i="0">
                <a:solidFill>
                  <a:srgbClr val="23282F"/>
                </a:solidFill>
                <a:latin typeface="Calibri"/>
              </a:rPr>
              <a:t>The multiplier does move, so be precise about it.</a:t>
            </a:r>
            <a:r>
              <a:rPr sz="1550" b="0" i="0">
                <a:solidFill>
                  <a:srgbClr val="23282F"/>
                </a:solidFill>
                <a:latin typeface="Calibri"/>
              </a:rPr>
              <a:t> 61× is against a MedMamba-width stack (96/192/384/768); against our own narrower HSI hierarchical config it is ~6×. Same flag, same pipeline, same metrics either way.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Where each piece came from</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1:00</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3 — What we built      21</a:t>
            </a:r>
          </a:p>
        </p:txBody>
      </p:sp>
      <p:pic>
        <p:nvPicPr>
          <p:cNvPr id="7" name="Picture 6" descr="fig16_lineage.png"/>
          <p:cNvPicPr>
            <a:picLocks noChangeAspect="1"/>
          </p:cNvPicPr>
          <p:nvPr/>
        </p:nvPicPr>
        <p:blipFill>
          <a:blip r:embed="rId2"/>
          <a:stretch>
            <a:fillRect/>
          </a:stretch>
        </p:blipFill>
        <p:spPr>
          <a:xfrm>
            <a:off x="1365891" y="1115568"/>
            <a:ext cx="9460186" cy="4115180"/>
          </a:xfrm>
          <a:prstGeom prst="rect">
            <a:avLst/>
          </a:prstGeom>
        </p:spPr>
      </p:pic>
      <p:sp>
        <p:nvSpPr>
          <p:cNvPr id="8" name="TextBox 7"/>
          <p:cNvSpPr txBox="1"/>
          <p:nvPr/>
        </p:nvSpPr>
        <p:spPr>
          <a:xfrm>
            <a:off x="502920" y="5340476"/>
            <a:ext cx="11186129" cy="347345"/>
          </a:xfrm>
          <a:prstGeom prst="rect">
            <a:avLst/>
          </a:prstGeom>
          <a:noFill/>
        </p:spPr>
        <p:txBody>
          <a:bodyPr wrap="square" lIns="0" rIns="0" tIns="0" bIns="0">
            <a:spAutoFit/>
          </a:bodyPr>
          <a:lstStyle/>
          <a:p>
            <a:r>
              <a:rPr sz="1550" b="1" i="0">
                <a:solidFill>
                  <a:srgbClr val="23282F"/>
                </a:solidFill>
                <a:latin typeface="Calibri"/>
              </a:rPr>
              <a:t>The subtlety worth 20 seconds</a:t>
            </a:r>
            <a:r>
              <a:rPr sz="1550" b="0" i="0">
                <a:solidFill>
                  <a:srgbClr val="23282F"/>
                </a:solidFill>
                <a:latin typeface="Calibri"/>
              </a:rPr>
              <a:t> — why the start states are </a:t>
            </a:r>
            <a:r>
              <a:rPr sz="1550" b="0" i="1">
                <a:solidFill>
                  <a:srgbClr val="23282F"/>
                </a:solidFill>
                <a:latin typeface="Calibri"/>
              </a:rPr>
              <a:t>buffers</a:t>
            </a:r>
            <a:r>
              <a:rPr sz="1550" b="0" i="0">
                <a:solidFill>
                  <a:srgbClr val="23282F"/>
                </a:solidFill>
                <a:latin typeface="Calibri"/>
              </a:rPr>
              <a:t>, not learnable parameters:</a:t>
            </a:r>
          </a:p>
        </p:txBody>
      </p:sp>
      <p:sp>
        <p:nvSpPr>
          <p:cNvPr id="9" name="Rectangle 8"/>
          <p:cNvSpPr/>
          <p:nvPr/>
        </p:nvSpPr>
        <p:spPr>
          <a:xfrm>
            <a:off x="502920" y="5687822"/>
            <a:ext cx="50292" cy="731266"/>
          </a:xfrm>
          <a:prstGeom prst="rect">
            <a:avLst/>
          </a:prstGeom>
          <a:solidFill>
            <a:srgbClr val="6A5A9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751830"/>
            <a:ext cx="10957529" cy="731266"/>
          </a:xfrm>
          <a:prstGeom prst="rect">
            <a:avLst/>
          </a:prstGeom>
          <a:noFill/>
        </p:spPr>
        <p:txBody>
          <a:bodyPr wrap="square" lIns="0" rIns="0" tIns="0" bIns="0">
            <a:spAutoFit/>
          </a:bodyPr>
          <a:lstStyle/>
          <a:p>
            <a:pPr algn="l"/>
            <a:r>
              <a:rPr sz="1500" b="0" i="0">
                <a:solidFill>
                  <a:srgbClr val="23282F"/>
                </a:solidFill>
                <a:latin typeface="Calibri"/>
              </a:rPr>
              <a:t>The first round that reads them falls </a:t>
            </a:r>
            <a:r>
              <a:rPr sz="1500" b="1" i="0">
                <a:solidFill>
                  <a:srgbClr val="23282F"/>
                </a:solidFill>
                <a:latin typeface="Calibri"/>
              </a:rPr>
              <a:t>inside</a:t>
            </a:r>
            <a:r>
              <a:rPr sz="1500" b="0" i="0">
                <a:solidFill>
                  <a:srgbClr val="23282F"/>
                </a:solidFill>
                <a:latin typeface="Calibri"/>
              </a:rPr>
              <a:t> the </a:t>
            </a:r>
            <a:r>
              <a:rPr sz="1450" b="0" i="0">
                <a:solidFill>
                  <a:srgbClr val="6B7482"/>
                </a:solidFill>
                <a:latin typeface="Consolas"/>
              </a:rPr>
              <a:t>no_grad</a:t>
            </a:r>
            <a:r>
              <a:rPr sz="1500" b="0" i="0">
                <a:solidFill>
                  <a:srgbClr val="23282F"/>
                </a:solidFill>
                <a:latin typeface="Calibri"/>
              </a:rPr>
              <a:t> block. Make them </a:t>
            </a:r>
            <a:r>
              <a:rPr sz="1450" b="0" i="0">
                <a:solidFill>
                  <a:srgbClr val="6B7482"/>
                </a:solidFill>
                <a:latin typeface="Consolas"/>
              </a:rPr>
              <a:t>nn.Parameter</a:t>
            </a:r>
            <a:r>
              <a:rPr sz="1500" b="0" i="0">
                <a:solidFill>
                  <a:srgbClr val="23282F"/>
                </a:solidFill>
                <a:latin typeface="Calibri"/>
              </a:rPr>
              <a:t> and they would </a:t>
            </a:r>
            <a:r>
              <a:rPr sz="1500" b="1" i="0">
                <a:solidFill>
                  <a:srgbClr val="23282F"/>
                </a:solidFill>
                <a:latin typeface="Calibri"/>
              </a:rPr>
              <a:t>silently never receive a gradient</a:t>
            </a:r>
            <a:r>
              <a:rPr sz="1500" b="0" i="0">
                <a:solidFill>
                  <a:srgbClr val="23282F"/>
                </a:solidFill>
                <a:latin typeface="Calibri"/>
              </a:rPr>
              <a:t> — no crash, no warning, and the loss would not move an inch.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What we changed, and why</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1:45</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3 — What we built      22</a:t>
            </a:r>
          </a:p>
        </p:txBody>
      </p:sp>
      <p:graphicFrame>
        <p:nvGraphicFramePr>
          <p:cNvPr id="7" name="Table 6"/>
          <p:cNvGraphicFramePr>
            <a:graphicFrameLocks noGrp="1"/>
          </p:cNvGraphicFramePr>
          <p:nvPr/>
        </p:nvGraphicFramePr>
        <p:xfrm>
          <a:off x="502920" y="1115568"/>
          <a:ext cx="11186127" cy="3127248"/>
        </p:xfrm>
        <a:graphic>
          <a:graphicData uri="http://schemas.openxmlformats.org/drawingml/2006/table">
            <a:tbl>
              <a:tblPr bandRow="1">
                <a:tableStyleId>{5C22544A-7EE6-4342-B048-85BDC9FD1C3A}</a:tableStyleId>
              </a:tblPr>
              <a:tblGrid>
                <a:gridCol w="1052812"/>
                <a:gridCol w="3619041"/>
                <a:gridCol w="2566229"/>
                <a:gridCol w="3948045"/>
              </a:tblGrid>
              <a:tr h="338328">
                <a:tc>
                  <a:txBody>
                    <a:bodyPr wrap="square"/>
                    <a:lstStyle/>
                    <a:p>
                      <a:pPr algn="l"/>
                    </a:p>
                  </a:txBody>
                  <a:tcPr marL="64008" marR="64008" marT="27432" marB="27432" anchor="ctr">
                    <a:solidFill>
                      <a:srgbClr val="F4F5F7"/>
                    </a:solidFill>
                  </a:tcPr>
                </a:tc>
                <a:tc>
                  <a:txBody>
                    <a:bodyPr wrap="square"/>
                    <a:lstStyle/>
                    <a:p>
                      <a:pPr algn="l"/>
                      <a:r>
                        <a:rPr sz="1350" b="1" i="0">
                          <a:solidFill>
                            <a:srgbClr val="5A6472"/>
                          </a:solidFill>
                          <a:latin typeface="Calibri"/>
                        </a:rPr>
                        <a:t>TRM</a:t>
                      </a:r>
                    </a:p>
                  </a:txBody>
                  <a:tcPr marL="64008" marR="64008" marT="27432" marB="27432" anchor="ctr">
                    <a:solidFill>
                      <a:srgbClr val="F4F5F7"/>
                    </a:solidFill>
                  </a:tcPr>
                </a:tc>
                <a:tc>
                  <a:txBody>
                    <a:bodyPr wrap="square"/>
                    <a:lstStyle/>
                    <a:p>
                      <a:pPr algn="l"/>
                      <a:r>
                        <a:rPr sz="1350" b="1" i="0">
                          <a:solidFill>
                            <a:srgbClr val="5A6472"/>
                          </a:solidFill>
                          <a:latin typeface="Calibri"/>
                        </a:rPr>
                        <a:t>us</a:t>
                      </a:r>
                    </a:p>
                  </a:txBody>
                  <a:tcPr marL="64008" marR="64008" marT="27432" marB="27432" anchor="ctr">
                    <a:solidFill>
                      <a:srgbClr val="F4F5F7"/>
                    </a:solidFill>
                  </a:tcPr>
                </a:tc>
                <a:tc>
                  <a:txBody>
                    <a:bodyPr wrap="square"/>
                    <a:lstStyle/>
                    <a:p>
                      <a:pPr algn="l"/>
                      <a:r>
                        <a:rPr sz="1350" b="1" i="0">
                          <a:solidFill>
                            <a:srgbClr val="5A6472"/>
                          </a:solidFill>
                          <a:latin typeface="Calibri"/>
                        </a:rPr>
                        <a:t>reason</a:t>
                      </a:r>
                    </a:p>
                  </a:txBody>
                  <a:tcPr marL="64008" marR="64008" marT="27432" marB="27432" anchor="ctr">
                    <a:solidFill>
                      <a:srgbClr val="F4F5F7"/>
                    </a:solidFill>
                  </a:tcPr>
                </a:tc>
              </a:tr>
              <a:tr h="338328">
                <a:tc>
                  <a:txBody>
                    <a:bodyPr wrap="square"/>
                    <a:lstStyle/>
                    <a:p>
                      <a:pPr algn="l"/>
                      <a:r>
                        <a:rPr sz="1350" b="1" i="0">
                          <a:solidFill>
                            <a:srgbClr val="23282F"/>
                          </a:solidFill>
                          <a:latin typeface="Calibri"/>
                        </a:rPr>
                        <a:t>shape</a:t>
                      </a:r>
                    </a:p>
                  </a:txBody>
                  <a:tcPr marL="64008" marR="64008" marT="27432" marB="27432" anchor="ctr">
                    <a:solidFill>
                      <a:srgbClr val="FFFFFF"/>
                    </a:solidFill>
                  </a:tcPr>
                </a:tc>
                <a:tc>
                  <a:txBody>
                    <a:bodyPr wrap="square"/>
                    <a:lstStyle/>
                    <a:p>
                      <a:pPr algn="l"/>
                      <a:r>
                        <a:rPr sz="1350" b="0" i="0">
                          <a:solidFill>
                            <a:srgbClr val="23282F"/>
                          </a:solidFill>
                          <a:latin typeface="Calibri"/>
                        </a:rPr>
                        <a:t>token sequence</a:t>
                      </a:r>
                    </a:p>
                  </a:txBody>
                  <a:tcPr marL="64008" marR="64008" marT="27432" marB="27432" anchor="ctr">
                    <a:solidFill>
                      <a:srgbClr val="FFFFFF"/>
                    </a:solidFill>
                  </a:tcPr>
                </a:tc>
                <a:tc>
                  <a:txBody>
                    <a:bodyPr wrap="square"/>
                    <a:lstStyle/>
                    <a:p>
                      <a:pPr algn="l"/>
                      <a:r>
                        <a:rPr sz="1350" b="0" i="0">
                          <a:solidFill>
                            <a:srgbClr val="23282F"/>
                          </a:solidFill>
                          <a:latin typeface="Calibri"/>
                        </a:rPr>
                        <a:t>2-D grid</a:t>
                      </a:r>
                    </a:p>
                  </a:txBody>
                  <a:tcPr marL="64008" marR="64008" marT="27432" marB="27432" anchor="ctr">
                    <a:solidFill>
                      <a:srgbClr val="FFFFFF"/>
                    </a:solidFill>
                  </a:tcPr>
                </a:tc>
                <a:tc>
                  <a:txBody>
                    <a:bodyPr wrap="square"/>
                    <a:lstStyle/>
                    <a:p>
                      <a:pPr algn="l"/>
                      <a:r>
                        <a:rPr sz="1350" b="0" i="0">
                          <a:solidFill>
                            <a:srgbClr val="23282F"/>
                          </a:solidFill>
                          <a:latin typeface="Calibri"/>
                        </a:rPr>
                        <a:t>we classify images</a:t>
                      </a:r>
                    </a:p>
                  </a:txBody>
                  <a:tcPr marL="64008" marR="64008" marT="27432" marB="27432" anchor="ctr">
                    <a:solidFill>
                      <a:srgbClr val="FFFFFF"/>
                    </a:solidFill>
                  </a:tcPr>
                </a:tc>
              </a:tr>
              <a:tr h="777240">
                <a:tc>
                  <a:txBody>
                    <a:bodyPr wrap="square"/>
                    <a:lstStyle/>
                    <a:p>
                      <a:pPr algn="l"/>
                      <a:r>
                        <a:rPr sz="1350" b="1" i="0">
                          <a:solidFill>
                            <a:srgbClr val="23282F"/>
                          </a:solidFill>
                          <a:latin typeface="Calibri"/>
                        </a:rPr>
                        <a:t>mixer in </a:t>
                      </a:r>
                      <a:r>
                        <a:rPr sz="1300" b="1" i="0">
                          <a:solidFill>
                            <a:srgbClr val="23282F"/>
                          </a:solidFill>
                          <a:latin typeface="Consolas"/>
                        </a:rPr>
                        <a:t>f</a:t>
                      </a:r>
                    </a:p>
                  </a:txBody>
                  <a:tcPr marL="64008" marR="64008" marT="27432" marB="27432" anchor="ctr">
                    <a:solidFill>
                      <a:srgbClr val="FFFFFF"/>
                    </a:solidFill>
                  </a:tcPr>
                </a:tc>
                <a:tc>
                  <a:txBody>
                    <a:bodyPr wrap="square"/>
                    <a:lstStyle/>
                    <a:p>
                      <a:pPr algn="l"/>
                      <a:r>
                        <a:rPr sz="1350" b="0" i="0">
                          <a:solidFill>
                            <a:srgbClr val="23282F"/>
                          </a:solidFill>
                          <a:latin typeface="Calibri"/>
                        </a:rPr>
                        <a:t>self-attention</a:t>
                      </a:r>
                    </a:p>
                  </a:txBody>
                  <a:tcPr marL="64008" marR="64008" marT="27432" marB="27432" anchor="ctr">
                    <a:solidFill>
                      <a:srgbClr val="FFFFFF"/>
                    </a:solidFill>
                  </a:tcPr>
                </a:tc>
                <a:tc>
                  <a:txBody>
                    <a:bodyPr wrap="square"/>
                    <a:lstStyle/>
                    <a:p>
                      <a:pPr algn="l"/>
                      <a:r>
                        <a:rPr sz="1350" b="0" i="0">
                          <a:solidFill>
                            <a:srgbClr val="23282F"/>
                          </a:solidFill>
                          <a:latin typeface="Calibri"/>
                        </a:rPr>
                        <a:t>depthwise 3×3 conv</a:t>
                      </a:r>
                    </a:p>
                  </a:txBody>
                  <a:tcPr marL="64008" marR="64008" marT="27432" marB="27432" anchor="ctr">
                    <a:solidFill>
                      <a:srgbClr val="FFFFFF"/>
                    </a:solidFill>
                  </a:tcPr>
                </a:tc>
                <a:tc>
                  <a:txBody>
                    <a:bodyPr wrap="square"/>
                    <a:lstStyle/>
                    <a:p>
                      <a:pPr algn="l"/>
                      <a:r>
                        <a:rPr sz="1350" b="0" i="0">
                          <a:solidFill>
                            <a:srgbClr val="23282F"/>
                          </a:solidFill>
                          <a:latin typeface="Calibri"/>
                        </a:rPr>
                        <a:t>attention is overkill on an 11×11 grid — and their own ablation says the mixer is task-dependent</a:t>
                      </a:r>
                    </a:p>
                  </a:txBody>
                  <a:tcPr marL="64008" marR="64008" marT="27432" marB="27432" anchor="ctr">
                    <a:solidFill>
                      <a:srgbClr val="FFFFFF"/>
                    </a:solidFill>
                  </a:tcPr>
                </a:tc>
              </a:tr>
              <a:tr h="557784">
                <a:tc>
                  <a:txBody>
                    <a:bodyPr wrap="square"/>
                    <a:lstStyle/>
                    <a:p>
                      <a:pPr algn="l"/>
                      <a:r>
                        <a:rPr sz="1300" b="1" i="0">
                          <a:solidFill>
                            <a:srgbClr val="23282F"/>
                          </a:solidFill>
                          <a:latin typeface="Consolas"/>
                        </a:rPr>
                        <a:t>n</a:t>
                      </a:r>
                      <a:r>
                        <a:rPr sz="1350" b="1" i="0">
                          <a:solidFill>
                            <a:srgbClr val="23282F"/>
                          </a:solidFill>
                          <a:latin typeface="Calibri"/>
                        </a:rPr>
                        <a:t>, </a:t>
                      </a:r>
                      <a:r>
                        <a:rPr sz="1300" b="1" i="0">
                          <a:solidFill>
                            <a:srgbClr val="23282F"/>
                          </a:solidFill>
                          <a:latin typeface="Consolas"/>
                        </a:rPr>
                        <a:t>T</a:t>
                      </a:r>
                      <a:r>
                        <a:rPr sz="1350" b="1" i="0">
                          <a:solidFill>
                            <a:srgbClr val="23282F"/>
                          </a:solidFill>
                          <a:latin typeface="Calibri"/>
                        </a:rPr>
                        <a:t>, passes</a:t>
                      </a:r>
                    </a:p>
                  </a:txBody>
                  <a:tcPr marL="64008" marR="64008" marT="27432" marB="27432" anchor="ctr">
                    <a:solidFill>
                      <a:srgbClr val="FFFFFF"/>
                    </a:solidFill>
                  </a:tcPr>
                </a:tc>
                <a:tc>
                  <a:txBody>
                    <a:bodyPr wrap="square"/>
                    <a:lstStyle/>
                    <a:p>
                      <a:pPr algn="r"/>
                      <a:r>
                        <a:rPr sz="1350" b="0" i="0">
                          <a:solidFill>
                            <a:srgbClr val="23282F"/>
                          </a:solidFill>
                          <a:latin typeface="Calibri"/>
                        </a:rPr>
                        <a:t>6, 3, 16</a:t>
                      </a:r>
                    </a:p>
                  </a:txBody>
                  <a:tcPr marL="64008" marR="64008" marT="27432" marB="27432" anchor="ctr">
                    <a:solidFill>
                      <a:srgbClr val="FFFFFF"/>
                    </a:solidFill>
                  </a:tcPr>
                </a:tc>
                <a:tc>
                  <a:txBody>
                    <a:bodyPr wrap="square"/>
                    <a:lstStyle/>
                    <a:p>
                      <a:pPr algn="r"/>
                      <a:r>
                        <a:rPr sz="1350" b="0" i="0">
                          <a:solidFill>
                            <a:srgbClr val="23282F"/>
                          </a:solidFill>
                          <a:latin typeface="Calibri"/>
                        </a:rPr>
                        <a:t>6, 3, </a:t>
                      </a:r>
                      <a:r>
                        <a:rPr sz="1350" b="1" i="0">
                          <a:solidFill>
                            <a:srgbClr val="23282F"/>
                          </a:solidFill>
                          <a:latin typeface="Calibri"/>
                        </a:rPr>
                        <a:t>3</a:t>
                      </a:r>
                    </a:p>
                  </a:txBody>
                  <a:tcPr marL="64008" marR="64008" marT="27432" marB="27432" anchor="ctr">
                    <a:solidFill>
                      <a:srgbClr val="FFFFFF"/>
                    </a:solidFill>
                  </a:tcPr>
                </a:tc>
                <a:tc>
                  <a:txBody>
                    <a:bodyPr wrap="square"/>
                    <a:lstStyle/>
                    <a:p>
                      <a:pPr algn="l"/>
                      <a:r>
                        <a:rPr sz="1350" b="0" i="0">
                          <a:solidFill>
                            <a:srgbClr val="23282F"/>
                          </a:solidFill>
                          <a:latin typeface="Calibri"/>
                        </a:rPr>
                        <a:t>same recursion, fewer passes — 63 calls to </a:t>
                      </a:r>
                      <a:r>
                        <a:rPr sz="1300" b="0" i="0">
                          <a:solidFill>
                            <a:srgbClr val="6B7482"/>
                          </a:solidFill>
                          <a:latin typeface="Consolas"/>
                        </a:rPr>
                        <a:t>f</a:t>
                      </a:r>
                      <a:r>
                        <a:rPr sz="1350" b="0" i="0">
                          <a:solidFill>
                            <a:srgbClr val="23282F"/>
                          </a:solidFill>
                          <a:latin typeface="Calibri"/>
                        </a:rPr>
                        <a:t>, not 336</a:t>
                      </a:r>
                    </a:p>
                  </a:txBody>
                  <a:tcPr marL="64008" marR="64008" marT="27432" marB="27432" anchor="ctr">
                    <a:solidFill>
                      <a:srgbClr val="FFFFFF"/>
                    </a:solidFill>
                  </a:tcPr>
                </a:tc>
              </a:tr>
              <a:tr h="557784">
                <a:tc>
                  <a:txBody>
                    <a:bodyPr wrap="square"/>
                    <a:lstStyle/>
                    <a:p>
                      <a:pPr algn="l"/>
                      <a:r>
                        <a:rPr sz="1350" b="1" i="0">
                          <a:solidFill>
                            <a:srgbClr val="23282F"/>
                          </a:solidFill>
                          <a:latin typeface="Calibri"/>
                        </a:rPr>
                        <a:t>deep supervision</a:t>
                      </a:r>
                    </a:p>
                  </a:txBody>
                  <a:tcPr marL="64008" marR="64008" marT="27432" marB="27432" anchor="ctr">
                    <a:solidFill>
                      <a:srgbClr val="FFFFFF"/>
                    </a:solidFill>
                  </a:tcPr>
                </a:tc>
                <a:tc>
                  <a:txBody>
                    <a:bodyPr wrap="square"/>
                    <a:lstStyle/>
                    <a:p>
                      <a:pPr algn="l"/>
                      <a:r>
                        <a:rPr sz="1350" b="0" i="0">
                          <a:solidFill>
                            <a:srgbClr val="23282F"/>
                          </a:solidFill>
                          <a:latin typeface="Calibri"/>
                        </a:rPr>
                        <a:t>1 pass per optimizer step, state carried </a:t>
                      </a:r>
                      <a:r>
                        <a:rPr sz="1350" b="1" i="0">
                          <a:solidFill>
                            <a:srgbClr val="23282F"/>
                          </a:solidFill>
                          <a:latin typeface="Calibri"/>
                        </a:rPr>
                        <a:t>across batches</a:t>
                      </a:r>
                    </a:p>
                  </a:txBody>
                  <a:tcPr marL="64008" marR="64008" marT="27432" marB="27432" anchor="ctr">
                    <a:solidFill>
                      <a:srgbClr val="FFFFFF"/>
                    </a:solidFill>
                  </a:tcPr>
                </a:tc>
                <a:tc>
                  <a:txBody>
                    <a:bodyPr wrap="square"/>
                    <a:lstStyle/>
                    <a:p>
                      <a:pPr algn="l"/>
                      <a:r>
                        <a:rPr sz="1350" b="1" i="0">
                          <a:solidFill>
                            <a:srgbClr val="23282F"/>
                          </a:solidFill>
                          <a:latin typeface="Calibri"/>
                        </a:rPr>
                        <a:t>all passes in one forward</a:t>
                      </a:r>
                      <a:r>
                        <a:rPr sz="1350" b="0" i="0">
                          <a:solidFill>
                            <a:srgbClr val="23282F"/>
                          </a:solidFill>
                          <a:latin typeface="Calibri"/>
                        </a:rPr>
                        <a:t>, one backward</a:t>
                      </a:r>
                    </a:p>
                  </a:txBody>
                  <a:tcPr marL="64008" marR="64008" marT="27432" marB="27432" anchor="ctr">
                    <a:solidFill>
                      <a:srgbClr val="FFFFFF"/>
                    </a:solidFill>
                  </a:tcPr>
                </a:tc>
                <a:tc>
                  <a:txBody>
                    <a:bodyPr wrap="square"/>
                    <a:lstStyle/>
                    <a:p>
                      <a:pPr algn="l"/>
                      <a:r>
                        <a:rPr sz="1350" b="0" i="0">
                          <a:solidFill>
                            <a:srgbClr val="23282F"/>
                          </a:solidFill>
                          <a:latin typeface="Calibri"/>
                        </a:rPr>
                        <a:t>keeps our per-batch stability checks working unchanged</a:t>
                      </a:r>
                    </a:p>
                  </a:txBody>
                  <a:tcPr marL="64008" marR="64008" marT="27432" marB="27432" anchor="ctr">
                    <a:solidFill>
                      <a:srgbClr val="FFFFFF"/>
                    </a:solidFill>
                  </a:tcPr>
                </a:tc>
              </a:tr>
              <a:tr h="557784">
                <a:tc>
                  <a:txBody>
                    <a:bodyPr wrap="square"/>
                    <a:lstStyle/>
                    <a:p>
                      <a:pPr algn="l"/>
                      <a:r>
                        <a:rPr sz="1350" b="1" i="0">
                          <a:solidFill>
                            <a:srgbClr val="23282F"/>
                          </a:solidFill>
                          <a:latin typeface="Calibri"/>
                        </a:rPr>
                        <a:t>halting</a:t>
                      </a:r>
                    </a:p>
                  </a:txBody>
                  <a:tcPr marL="64008" marR="64008" marT="27432" marB="27432" anchor="ctr">
                    <a:solidFill>
                      <a:srgbClr val="FFFFFF"/>
                    </a:solidFill>
                  </a:tcPr>
                </a:tc>
                <a:tc>
                  <a:txBody>
                    <a:bodyPr wrap="square"/>
                    <a:lstStyle/>
                    <a:p>
                      <a:pPr algn="l"/>
                      <a:r>
                        <a:rPr sz="1350" b="0" i="0">
                          <a:solidFill>
                            <a:srgbClr val="23282F"/>
                          </a:solidFill>
                          <a:latin typeface="Calibri"/>
                        </a:rPr>
                        <a:t>per sample</a:t>
                      </a:r>
                    </a:p>
                  </a:txBody>
                  <a:tcPr marL="64008" marR="64008" marT="27432" marB="27432" anchor="ctr">
                    <a:solidFill>
                      <a:srgbClr val="FFFFFF"/>
                    </a:solidFill>
                  </a:tcPr>
                </a:tc>
                <a:tc>
                  <a:txBody>
                    <a:bodyPr wrap="square"/>
                    <a:lstStyle/>
                    <a:p>
                      <a:pPr algn="l"/>
                      <a:r>
                        <a:rPr sz="1350" b="0" i="0">
                          <a:solidFill>
                            <a:srgbClr val="23282F"/>
                          </a:solidFill>
                          <a:latin typeface="Calibri"/>
                        </a:rPr>
                        <a:t>whole batch, and </a:t>
                      </a:r>
                      <a:r>
                        <a:rPr sz="1350" b="1" i="0">
                          <a:solidFill>
                            <a:srgbClr val="23282F"/>
                          </a:solidFill>
                          <a:latin typeface="Calibri"/>
                        </a:rPr>
                        <a:t>off</a:t>
                      </a:r>
                    </a:p>
                  </a:txBody>
                  <a:tcPr marL="64008" marR="64008" marT="27432" marB="27432" anchor="ctr">
                    <a:solidFill>
                      <a:srgbClr val="FFFFFF"/>
                    </a:solidFill>
                  </a:tcPr>
                </a:tc>
                <a:tc>
                  <a:txBody>
                    <a:bodyPr wrap="square"/>
                    <a:lstStyle/>
                    <a:p>
                      <a:pPr algn="l"/>
                      <a:r>
                        <a:rPr sz="1350" b="0" i="0">
                          <a:solidFill>
                            <a:srgbClr val="23282F"/>
                          </a:solidFill>
                          <a:latin typeface="Calibri"/>
                        </a:rPr>
                        <a:t>ours sat at chance for 33 epochs while being 20% of the loss</a:t>
                      </a:r>
                    </a:p>
                  </a:txBody>
                  <a:tcPr marL="64008" marR="64008" marT="27432" marB="27432" anchor="ctr">
                    <a:solidFill>
                      <a:srgbClr val="FFFFFF"/>
                    </a:solidFill>
                  </a:tcPr>
                </a:tc>
              </a:tr>
            </a:tbl>
          </a:graphicData>
        </a:graphic>
      </p:graphicFrame>
      <p:sp>
        <p:nvSpPr>
          <p:cNvPr id="8" name="TextBox 7"/>
          <p:cNvSpPr txBox="1"/>
          <p:nvPr/>
        </p:nvSpPr>
        <p:spPr>
          <a:xfrm>
            <a:off x="502920" y="4334256"/>
            <a:ext cx="11186129" cy="859155"/>
          </a:xfrm>
          <a:prstGeom prst="rect">
            <a:avLst/>
          </a:prstGeom>
          <a:noFill/>
        </p:spPr>
        <p:txBody>
          <a:bodyPr wrap="square" lIns="0" rIns="0" tIns="0" bIns="0">
            <a:spAutoFit/>
          </a:bodyPr>
          <a:lstStyle/>
          <a:p>
            <a:r>
              <a:rPr sz="1550" b="1" i="0">
                <a:solidFill>
                  <a:srgbClr val="23282F"/>
                </a:solidFill>
                <a:latin typeface="Calibri"/>
              </a:rPr>
              <a:t>What we did </a:t>
            </a:r>
            <a:r>
              <a:rPr sz="1550" b="1" i="1">
                <a:solidFill>
                  <a:srgbClr val="23282F"/>
                </a:solidFill>
                <a:latin typeface="Calibri"/>
              </a:rPr>
              <a:t>not</a:t>
            </a:r>
            <a:r>
              <a:rPr sz="1550" b="1" i="0">
                <a:solidFill>
                  <a:srgbClr val="23282F"/>
                </a:solidFill>
                <a:latin typeface="Calibri"/>
              </a:rPr>
              <a:t> change</a:t>
            </a:r>
            <a:r>
              <a:rPr sz="1550" b="0" i="0">
                <a:solidFill>
                  <a:srgbClr val="23282F"/>
                </a:solidFill>
                <a:latin typeface="Calibri"/>
              </a:rPr>
              <a:t> — the parts Part 2 showed were load-bearing: </a:t>
            </a:r>
            <a:r>
              <a:rPr sz="1500" b="0" i="0">
                <a:solidFill>
                  <a:srgbClr val="6B7482"/>
                </a:solidFill>
                <a:latin typeface="Consolas"/>
              </a:rPr>
              <a:t>z = f(z+y+x)</a:t>
            </a:r>
            <a:r>
              <a:rPr sz="1550" b="0" i="0">
                <a:solidFill>
                  <a:srgbClr val="23282F"/>
                </a:solidFill>
                <a:latin typeface="Calibri"/>
              </a:rPr>
              <a:t> then </a:t>
            </a:r>
            <a:r>
              <a:rPr sz="1500" b="0" i="0">
                <a:solidFill>
                  <a:srgbClr val="6B7482"/>
                </a:solidFill>
                <a:latin typeface="Consolas"/>
              </a:rPr>
              <a:t>y = f(y+z)</a:t>
            </a:r>
            <a:r>
              <a:rPr sz="1550" b="0" i="0">
                <a:solidFill>
                  <a:srgbClr val="23282F"/>
                </a:solidFill>
                <a:latin typeface="Calibri"/>
              </a:rPr>
              <a:t>, one shared network, additive inputs, two rounds under </a:t>
            </a:r>
            <a:r>
              <a:rPr sz="1500" b="0" i="0">
                <a:solidFill>
                  <a:srgbClr val="6B7482"/>
                </a:solidFill>
                <a:latin typeface="Consolas"/>
              </a:rPr>
              <a:t>no_grad</a:t>
            </a:r>
            <a:r>
              <a:rPr sz="1550" b="0" i="0">
                <a:solidFill>
                  <a:srgbClr val="23282F"/>
                </a:solidFill>
                <a:latin typeface="Calibri"/>
              </a:rPr>
              <a:t> with a </a:t>
            </a:r>
            <a:r>
              <a:rPr sz="1550" b="1" i="0">
                <a:solidFill>
                  <a:srgbClr val="23282F"/>
                </a:solidFill>
                <a:latin typeface="Calibri"/>
              </a:rPr>
              <a:t>full</a:t>
            </a:r>
            <a:r>
              <a:rPr sz="1550" b="0" i="0">
                <a:solidFill>
                  <a:srgbClr val="23282F"/>
                </a:solidFill>
                <a:latin typeface="Calibri"/>
              </a:rPr>
              <a:t> round backpropagated, detach between passes, buffer init states, EMA.</a:t>
            </a:r>
          </a:p>
        </p:txBody>
      </p:sp>
      <p:sp>
        <p:nvSpPr>
          <p:cNvPr id="9" name="TextBox 8"/>
          <p:cNvSpPr txBox="1"/>
          <p:nvPr/>
        </p:nvSpPr>
        <p:spPr>
          <a:xfrm>
            <a:off x="502920" y="5193411"/>
            <a:ext cx="11186129" cy="603250"/>
          </a:xfrm>
          <a:prstGeom prst="rect">
            <a:avLst/>
          </a:prstGeom>
          <a:noFill/>
        </p:spPr>
        <p:txBody>
          <a:bodyPr wrap="square" lIns="0" rIns="0" tIns="0" bIns="0">
            <a:spAutoFit/>
          </a:bodyPr>
          <a:lstStyle/>
          <a:p>
            <a:r>
              <a:rPr sz="1550" b="1" i="0">
                <a:solidFill>
                  <a:srgbClr val="23282F"/>
                </a:solidFill>
                <a:latin typeface="Calibri"/>
              </a:rPr>
              <a:t>The deep-supervision change has a real consequence:</a:t>
            </a:r>
            <a:r>
              <a:rPr sz="1550" b="0" i="0">
                <a:solidFill>
                  <a:srgbClr val="23282F"/>
                </a:solidFill>
                <a:latin typeface="Calibri"/>
              </a:rPr>
              <a:t> </a:t>
            </a:r>
            <a:r>
              <a:rPr sz="1550" b="1" i="0">
                <a:solidFill>
                  <a:srgbClr val="4E8C6A"/>
                </a:solidFill>
                <a:latin typeface="Calibri"/>
              </a:rPr>
              <a:t>●</a:t>
            </a:r>
            <a:r>
              <a:rPr sz="1550" b="0" i="0">
                <a:solidFill>
                  <a:srgbClr val="23282F"/>
                </a:solidFill>
                <a:latin typeface="Calibri"/>
              </a:rPr>
              <a:t> every gradient-health, class-collapse and NaN check still applies </a:t>
            </a:r>
            <a:r>
              <a:rPr sz="1550" b="1" i="0">
                <a:solidFill>
                  <a:srgbClr val="B4553F"/>
                </a:solidFill>
                <a:latin typeface="Calibri"/>
              </a:rPr>
              <a:t>●</a:t>
            </a:r>
            <a:r>
              <a:rPr sz="1550" b="0" i="0">
                <a:solidFill>
                  <a:srgbClr val="23282F"/>
                </a:solidFill>
                <a:latin typeface="Calibri"/>
              </a:rPr>
              <a:t> memory is now </a:t>
            </a:r>
            <a:r>
              <a:rPr sz="1500" b="0" i="0">
                <a:solidFill>
                  <a:srgbClr val="6B7482"/>
                </a:solidFill>
                <a:latin typeface="Consolas"/>
              </a:rPr>
              <a:t>O(passes)</a:t>
            </a:r>
            <a:r>
              <a:rPr sz="1550" b="0" i="0">
                <a:solidFill>
                  <a:srgbClr val="23282F"/>
                </a:solidFill>
                <a:latin typeface="Calibri"/>
              </a:rPr>
              <a:t>, so gradient checkpointing became </a:t>
            </a:r>
            <a:r>
              <a:rPr sz="1550" b="1" i="0">
                <a:solidFill>
                  <a:srgbClr val="23282F"/>
                </a:solidFill>
                <a:latin typeface="Calibri"/>
              </a:rPr>
              <a:t>mandatory</a:t>
            </a:r>
            <a:r>
              <a:rPr sz="1550" b="0" i="0">
                <a:solidFill>
                  <a:srgbClr val="23282F"/>
                </a:solidFill>
                <a:latin typeface="Calibri"/>
              </a:rPr>
              <a:t>, not optional.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The whole thing, properly</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1:15</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3 — What we built      23</a:t>
            </a:r>
          </a:p>
        </p:txBody>
      </p:sp>
      <p:pic>
        <p:nvPicPr>
          <p:cNvPr id="7" name="Picture 6" descr="fig17_gmedmamba_r_architecture.png"/>
          <p:cNvPicPr>
            <a:picLocks noChangeAspect="1"/>
          </p:cNvPicPr>
          <p:nvPr/>
        </p:nvPicPr>
        <p:blipFill>
          <a:blip r:embed="rId2"/>
          <a:stretch>
            <a:fillRect/>
          </a:stretch>
        </p:blipFill>
        <p:spPr>
          <a:xfrm>
            <a:off x="3352543" y="1115568"/>
            <a:ext cx="5486882" cy="4334637"/>
          </a:xfrm>
          <a:prstGeom prst="rect">
            <a:avLst/>
          </a:prstGeom>
        </p:spPr>
      </p:pic>
      <p:sp>
        <p:nvSpPr>
          <p:cNvPr id="8" name="TextBox 7"/>
          <p:cNvSpPr txBox="1"/>
          <p:nvPr/>
        </p:nvSpPr>
        <p:spPr>
          <a:xfrm>
            <a:off x="502920" y="5559933"/>
            <a:ext cx="11186129" cy="859155"/>
          </a:xfrm>
          <a:prstGeom prst="rect">
            <a:avLst/>
          </a:prstGeom>
          <a:noFill/>
        </p:spPr>
        <p:txBody>
          <a:bodyPr wrap="square" lIns="0" rIns="0" tIns="0" bIns="0">
            <a:spAutoFit/>
          </a:bodyPr>
          <a:lstStyle/>
          <a:p>
            <a:r>
              <a:rPr sz="1550" b="1" i="0">
                <a:solidFill>
                  <a:srgbClr val="23282F"/>
                </a:solidFill>
                <a:latin typeface="Calibri"/>
              </a:rPr>
              <a:t>Left panel is Part 1</a:t>
            </a:r>
            <a:r>
              <a:rPr sz="1550" b="0" i="0">
                <a:solidFill>
                  <a:srgbClr val="23282F"/>
                </a:solidFill>
                <a:latin typeface="Calibri"/>
              </a:rPr>
              <a:t> — follow it down to "mean over the BAND axis"; that is where </a:t>
            </a:r>
            <a:r>
              <a:rPr sz="1500" b="0" i="0">
                <a:solidFill>
                  <a:srgbClr val="6B7482"/>
                </a:solidFill>
                <a:latin typeface="Consolas"/>
              </a:rPr>
              <a:t>C</a:t>
            </a:r>
            <a:r>
              <a:rPr sz="1550" b="0" i="0">
                <a:solidFill>
                  <a:srgbClr val="23282F"/>
                </a:solidFill>
                <a:latin typeface="Calibri"/>
              </a:rPr>
              <a:t> disappears. </a:t>
            </a:r>
            <a:r>
              <a:rPr sz="1550" b="1" i="0">
                <a:solidFill>
                  <a:srgbClr val="23282F"/>
                </a:solidFill>
                <a:latin typeface="Calibri"/>
              </a:rPr>
              <a:t>Right panel is Part 2</a:t>
            </a:r>
            <a:r>
              <a:rPr sz="1550" b="0" i="0">
                <a:solidFill>
                  <a:srgbClr val="23282F"/>
                </a:solidFill>
                <a:latin typeface="Calibri"/>
              </a:rPr>
              <a:t> — the schedule on top, what </a:t>
            </a:r>
            <a:r>
              <a:rPr sz="1500" b="0" i="0">
                <a:solidFill>
                  <a:srgbClr val="6B7482"/>
                </a:solidFill>
                <a:latin typeface="Consolas"/>
              </a:rPr>
              <a:t>f</a:t>
            </a:r>
            <a:r>
              <a:rPr sz="1550" b="0" i="0">
                <a:solidFill>
                  <a:srgbClr val="23282F"/>
                </a:solidFill>
                <a:latin typeface="Calibri"/>
              </a:rPr>
              <a:t> actually is underneath. </a:t>
            </a:r>
            <a:r>
              <a:rPr sz="1550" b="1" i="0">
                <a:solidFill>
                  <a:srgbClr val="23282F"/>
                </a:solidFill>
                <a:latin typeface="Calibri"/>
              </a:rPr>
              <a:t>Notice what is missing:</a:t>
            </a:r>
            <a:r>
              <a:rPr sz="1550" b="0" i="0">
                <a:solidFill>
                  <a:srgbClr val="23282F"/>
                </a:solidFill>
                <a:latin typeface="Calibri"/>
              </a:rPr>
              <a:t> no stages, no patch merging, no downsampling. Width 128 from the stem to the head.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What we have not measured</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1:10</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3 — What we built      24</a:t>
            </a:r>
          </a:p>
        </p:txBody>
      </p:sp>
      <p:sp>
        <p:nvSpPr>
          <p:cNvPr id="7" name="TextBox 6"/>
          <p:cNvSpPr txBox="1"/>
          <p:nvPr/>
        </p:nvSpPr>
        <p:spPr>
          <a:xfrm>
            <a:off x="502920" y="1115568"/>
            <a:ext cx="11186129" cy="347345"/>
          </a:xfrm>
          <a:prstGeom prst="rect">
            <a:avLst/>
          </a:prstGeom>
          <a:noFill/>
        </p:spPr>
        <p:txBody>
          <a:bodyPr wrap="square" lIns="0" rIns="0" tIns="0" bIns="0">
            <a:spAutoFit/>
          </a:bodyPr>
          <a:lstStyle/>
          <a:p>
            <a:r>
              <a:rPr sz="1550" b="0" i="0">
                <a:solidFill>
                  <a:srgbClr val="23282F"/>
                </a:solidFill>
                <a:latin typeface="Calibri"/>
              </a:rPr>
              <a:t>Three questions you are entitled to ask, and the honest answers.</a:t>
            </a:r>
          </a:p>
        </p:txBody>
      </p:sp>
      <p:graphicFrame>
        <p:nvGraphicFramePr>
          <p:cNvPr id="8" name="Table 7"/>
          <p:cNvGraphicFramePr>
            <a:graphicFrameLocks noGrp="1"/>
          </p:cNvGraphicFramePr>
          <p:nvPr/>
        </p:nvGraphicFramePr>
        <p:xfrm>
          <a:off x="502920" y="1462913"/>
          <a:ext cx="11186128" cy="2011680"/>
        </p:xfrm>
        <a:graphic>
          <a:graphicData uri="http://schemas.openxmlformats.org/drawingml/2006/table">
            <a:tbl>
              <a:tblPr bandRow="1">
                <a:tableStyleId>{5C22544A-7EE6-4342-B048-85BDC9FD1C3A}</a:tableStyleId>
              </a:tblPr>
              <a:tblGrid>
                <a:gridCol w="4194798"/>
                <a:gridCol w="6991330"/>
              </a:tblGrid>
              <a:tr h="338328">
                <a:tc>
                  <a:txBody>
                    <a:bodyPr wrap="square"/>
                    <a:lstStyle/>
                    <a:p>
                      <a:pPr algn="l"/>
                      <a:r>
                        <a:rPr sz="1350" b="1" i="0">
                          <a:solidFill>
                            <a:srgbClr val="5A6472"/>
                          </a:solidFill>
                          <a:latin typeface="Calibri"/>
                        </a:rPr>
                        <a:t>question</a:t>
                      </a:r>
                    </a:p>
                  </a:txBody>
                  <a:tcPr marL="64008" marR="64008" marT="27432" marB="27432" anchor="ctr">
                    <a:solidFill>
                      <a:srgbClr val="F4F5F7"/>
                    </a:solidFill>
                  </a:tcPr>
                </a:tc>
                <a:tc>
                  <a:txBody>
                    <a:bodyPr wrap="square"/>
                    <a:lstStyle/>
                    <a:p>
                      <a:pPr algn="l"/>
                      <a:r>
                        <a:rPr sz="1350" b="1" i="0">
                          <a:solidFill>
                            <a:srgbClr val="5A6472"/>
                          </a:solidFill>
                          <a:latin typeface="Calibri"/>
                        </a:rPr>
                        <a:t>answer</a:t>
                      </a:r>
                    </a:p>
                  </a:txBody>
                  <a:tcPr marL="64008" marR="64008" marT="27432" marB="27432" anchor="ctr">
                    <a:solidFill>
                      <a:srgbClr val="F4F5F7"/>
                    </a:solidFill>
                  </a:tcPr>
                </a:tc>
              </a:tr>
              <a:tr h="557784">
                <a:tc>
                  <a:txBody>
                    <a:bodyPr wrap="square"/>
                    <a:lstStyle/>
                    <a:p>
                      <a:pPr algn="l"/>
                      <a:r>
                        <a:rPr sz="1350" b="1" i="0">
                          <a:solidFill>
                            <a:srgbClr val="23282F"/>
                          </a:solidFill>
                          <a:latin typeface="Calibri"/>
                        </a:rPr>
                        <a:t>Does the recursion help </a:t>
                      </a:r>
                      <a:r>
                        <a:rPr sz="1350" b="1" i="1">
                          <a:solidFill>
                            <a:srgbClr val="23282F"/>
                          </a:solidFill>
                          <a:latin typeface="Calibri"/>
                        </a:rPr>
                        <a:t>your</a:t>
                      </a:r>
                      <a:r>
                        <a:rPr sz="1350" b="1" i="0">
                          <a:solidFill>
                            <a:srgbClr val="23282F"/>
                          </a:solidFill>
                          <a:latin typeface="Calibri"/>
                        </a:rPr>
                        <a:t> model?</a:t>
                      </a:r>
                    </a:p>
                  </a:txBody>
                  <a:tcPr marL="64008" marR="64008" marT="27432" marB="27432" anchor="ctr">
                    <a:solidFill>
                      <a:srgbClr val="FFFFFF"/>
                    </a:solidFill>
                  </a:tcPr>
                </a:tc>
                <a:tc>
                  <a:txBody>
                    <a:bodyPr wrap="square"/>
                    <a:lstStyle/>
                    <a:p>
                      <a:pPr algn="l"/>
                      <a:r>
                        <a:rPr sz="1350" b="1" i="0">
                          <a:solidFill>
                            <a:srgbClr val="23282F"/>
                          </a:solidFill>
                          <a:latin typeface="Calibri"/>
                        </a:rPr>
                        <a:t>We don't know.</a:t>
                      </a:r>
                      <a:r>
                        <a:rPr sz="1350" b="0" i="0">
                          <a:solidFill>
                            <a:srgbClr val="23282F"/>
                          </a:solidFill>
                          <a:latin typeface="Calibri"/>
                        </a:rPr>
                        <a:t> No depth ablation, no hierarchical-vs-recursive run under matched conditions. One flag away; never run.</a:t>
                      </a:r>
                    </a:p>
                  </a:txBody>
                  <a:tcPr marL="64008" marR="64008" marT="27432" marB="27432" anchor="ctr">
                    <a:solidFill>
                      <a:srgbClr val="FFFFFF"/>
                    </a:solidFill>
                  </a:tcPr>
                </a:tc>
              </a:tr>
              <a:tr h="557784">
                <a:tc>
                  <a:txBody>
                    <a:bodyPr wrap="square"/>
                    <a:lstStyle/>
                    <a:p>
                      <a:pPr algn="l"/>
                      <a:r>
                        <a:rPr sz="1350" b="1" i="0">
                          <a:solidFill>
                            <a:srgbClr val="23282F"/>
                          </a:solidFill>
                          <a:latin typeface="Calibri"/>
                        </a:rPr>
                        <a:t>Do you inherit TRM's results?</a:t>
                      </a:r>
                    </a:p>
                  </a:txBody>
                  <a:tcPr marL="64008" marR="64008" marT="27432" marB="27432" anchor="ctr">
                    <a:solidFill>
                      <a:srgbClr val="FFFFFF"/>
                    </a:solidFill>
                  </a:tcPr>
                </a:tc>
                <a:tc>
                  <a:txBody>
                    <a:bodyPr wrap="square"/>
                    <a:lstStyle/>
                    <a:p>
                      <a:pPr algn="l"/>
                      <a:r>
                        <a:rPr sz="1350" b="1" i="0">
                          <a:solidFill>
                            <a:srgbClr val="23282F"/>
                          </a:solidFill>
                          <a:latin typeface="Calibri"/>
                        </a:rPr>
                        <a:t>No.</a:t>
                      </a:r>
                      <a:r>
                        <a:rPr sz="1350" b="0" i="0">
                          <a:solidFill>
                            <a:srgbClr val="23282F"/>
                          </a:solidFill>
                          <a:latin typeface="Calibri"/>
                        </a:rPr>
                        <a:t> Theirs are 9×9 and 30×30 puzzle grids with 1000× augmentation and a verifiable answer. We inherited the </a:t>
                      </a:r>
                      <a:r>
                        <a:rPr sz="1350" b="0" i="1">
                          <a:solidFill>
                            <a:srgbClr val="23282F"/>
                          </a:solidFill>
                          <a:latin typeface="Calibri"/>
                        </a:rPr>
                        <a:t>recursion schedule</a:t>
                      </a:r>
                      <a:r>
                        <a:rPr sz="1350" b="0" i="0">
                          <a:solidFill>
                            <a:srgbClr val="23282F"/>
                          </a:solidFill>
                          <a:latin typeface="Calibri"/>
                        </a:rPr>
                        <a:t>, not the evidence.</a:t>
                      </a:r>
                    </a:p>
                  </a:txBody>
                  <a:tcPr marL="64008" marR="64008" marT="27432" marB="27432" anchor="ctr">
                    <a:solidFill>
                      <a:srgbClr val="FFFFFF"/>
                    </a:solidFill>
                  </a:tcPr>
                </a:tc>
              </a:tr>
              <a:tr h="557784">
                <a:tc>
                  <a:txBody>
                    <a:bodyPr wrap="square"/>
                    <a:lstStyle/>
                    <a:p>
                      <a:pPr algn="l"/>
                      <a:r>
                        <a:rPr sz="1350" b="1" i="0">
                          <a:solidFill>
                            <a:srgbClr val="23282F"/>
                          </a:solidFill>
                          <a:latin typeface="Calibri"/>
                        </a:rPr>
                        <a:t>Why a conv and not SS2D in the core?</a:t>
                      </a:r>
                    </a:p>
                  </a:txBody>
                  <a:tcPr marL="64008" marR="64008" marT="27432" marB="27432" anchor="ctr">
                    <a:solidFill>
                      <a:srgbClr val="FFFFFF"/>
                    </a:solidFill>
                  </a:tcPr>
                </a:tc>
                <a:tc>
                  <a:txBody>
                    <a:bodyPr wrap="square"/>
                    <a:lstStyle/>
                    <a:p>
                      <a:pPr algn="l"/>
                      <a:r>
                        <a:rPr sz="1350" b="0" i="0">
                          <a:solidFill>
                            <a:srgbClr val="23282F"/>
                          </a:solidFill>
                          <a:latin typeface="Calibri"/>
                        </a:rPr>
                        <a:t>Speed — our selective scan is a pure-PyTorch loop, ~39× slower at dataset scale. </a:t>
                      </a:r>
                      <a:r>
                        <a:rPr sz="1300" b="0" i="0">
                          <a:solidFill>
                            <a:srgbClr val="6B7482"/>
                          </a:solidFill>
                          <a:latin typeface="Consolas"/>
                        </a:rPr>
                        <a:t>ss2d</a:t>
                      </a:r>
                      <a:r>
                        <a:rPr sz="1350" b="0" i="0">
                          <a:solidFill>
                            <a:srgbClr val="23282F"/>
                          </a:solidFill>
                          <a:latin typeface="Calibri"/>
                        </a:rPr>
                        <a:t> is implemented and has never been used in a real run.</a:t>
                      </a:r>
                    </a:p>
                  </a:txBody>
                  <a:tcPr marL="64008" marR="64008" marT="27432" marB="27432" anchor="ctr">
                    <a:solidFill>
                      <a:srgbClr val="FFFFFF"/>
                    </a:solidFill>
                  </a:tcPr>
                </a:tc>
              </a:tr>
            </a:tbl>
          </a:graphicData>
        </a:graphic>
      </p:graphicFrame>
      <p:sp>
        <p:nvSpPr>
          <p:cNvPr id="9" name="TextBox 8"/>
          <p:cNvSpPr txBox="1"/>
          <p:nvPr/>
        </p:nvSpPr>
        <p:spPr>
          <a:xfrm>
            <a:off x="502920" y="3566033"/>
            <a:ext cx="11186129" cy="603250"/>
          </a:xfrm>
          <a:prstGeom prst="rect">
            <a:avLst/>
          </a:prstGeom>
          <a:noFill/>
        </p:spPr>
        <p:txBody>
          <a:bodyPr wrap="square" lIns="0" rIns="0" tIns="0" bIns="0">
            <a:spAutoFit/>
          </a:bodyPr>
          <a:lstStyle/>
          <a:p>
            <a:r>
              <a:rPr sz="1550" b="1" i="0">
                <a:solidFill>
                  <a:srgbClr val="23282F"/>
                </a:solidFill>
                <a:latin typeface="Calibri"/>
              </a:rPr>
              <a:t>Two standing weaknesses:</a:t>
            </a:r>
            <a:r>
              <a:rPr sz="1550" b="0" i="0">
                <a:solidFill>
                  <a:srgbClr val="23282F"/>
                </a:solidFill>
                <a:latin typeface="Calibri"/>
              </a:rPr>
              <a:t> every result is a </a:t>
            </a:r>
            <a:r>
              <a:rPr sz="1550" b="1" i="0">
                <a:solidFill>
                  <a:srgbClr val="23282F"/>
                </a:solidFill>
                <a:latin typeface="Calibri"/>
              </a:rPr>
              <a:t>single seed</a:t>
            </a:r>
            <a:r>
              <a:rPr sz="1550" b="0" i="0">
                <a:solidFill>
                  <a:srgbClr val="23282F"/>
                </a:solidFill>
                <a:latin typeface="Calibri"/>
              </a:rPr>
              <a:t>, and the backbone averages away spatial detail </a:t>
            </a:r>
            <a:r>
              <a:rPr sz="1550" b="0" i="1">
                <a:solidFill>
                  <a:srgbClr val="23282F"/>
                </a:solidFill>
                <a:latin typeface="Calibri"/>
              </a:rPr>
              <a:t>inside</a:t>
            </a:r>
            <a:r>
              <a:rPr sz="1550" b="0" i="0">
                <a:solidFill>
                  <a:srgbClr val="23282F"/>
                </a:solidFill>
                <a:latin typeface="Calibri"/>
              </a:rPr>
              <a:t> each patch — free at patch size 1, and most of the image at patch size 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Takeaways</a:t>
            </a:r>
          </a:p>
        </p:txBody>
      </p:sp>
      <p:sp>
        <p:nvSpPr>
          <p:cNvPr id="3" name="TextBox 2"/>
          <p:cNvSpPr txBox="1"/>
          <p:nvPr/>
        </p:nvSpPr>
        <p:spPr>
          <a:xfrm>
            <a:off x="10363169" y="457200"/>
            <a:ext cx="1325880" cy="420624"/>
          </a:xfrm>
          <a:prstGeom prst="rect">
            <a:avLst/>
          </a:prstGeom>
          <a:noFill/>
        </p:spPr>
        <p:txBody>
          <a:bodyPr wrap="square" lIns="0" rIns="0" tIns="0" bIns="0">
            <a:spAutoFit/>
          </a:bodyPr>
          <a:lstStyle/>
          <a:p>
            <a:pPr algn="r"/>
            <a:r>
              <a:rPr sz="1300">
                <a:solidFill>
                  <a:srgbClr val="6B7482"/>
                </a:solidFill>
                <a:latin typeface="Calibri"/>
              </a:rPr>
              <a:t>0:55</a:t>
            </a:r>
          </a:p>
        </p:txBody>
      </p:sp>
      <p:sp>
        <p:nvSpPr>
          <p:cNvPr id="4" name="Rectangle 3"/>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3 — What we built      25</a:t>
            </a:r>
          </a:p>
        </p:txBody>
      </p:sp>
      <p:sp>
        <p:nvSpPr>
          <p:cNvPr id="7" name="TextBox 6"/>
          <p:cNvSpPr txBox="1"/>
          <p:nvPr/>
        </p:nvSpPr>
        <p:spPr>
          <a:xfrm>
            <a:off x="539496" y="1115568"/>
            <a:ext cx="11149553" cy="2394712"/>
          </a:xfrm>
          <a:prstGeom prst="rect">
            <a:avLst/>
          </a:prstGeom>
          <a:noFill/>
        </p:spPr>
        <p:txBody>
          <a:bodyPr wrap="square" lIns="0" rIns="0" tIns="0" bIns="0">
            <a:spAutoFit/>
          </a:bodyPr>
          <a:lstStyle/>
          <a:p>
            <a:pPr>
              <a:spcAft>
                <a:spcPts val="400"/>
              </a:spcAft>
            </a:pPr>
            <a:r>
              <a:rPr sz="1550" b="1">
                <a:solidFill>
                  <a:srgbClr val="5A6472"/>
                </a:solidFill>
                <a:latin typeface="Calibri"/>
              </a:rPr>
              <a:t>•  </a:t>
            </a:r>
            <a:r>
              <a:rPr sz="1550" b="1" i="0">
                <a:solidFill>
                  <a:srgbClr val="23282F"/>
                </a:solidFill>
                <a:latin typeface="Calibri"/>
              </a:rPr>
              <a:t>Delete </a:t>
            </a:r>
            <a:r>
              <a:rPr sz="1500" b="1" i="0">
                <a:solidFill>
                  <a:srgbClr val="23282F"/>
                </a:solidFill>
                <a:latin typeface="Consolas"/>
              </a:rPr>
              <a:t>C</a:t>
            </a:r>
            <a:r>
              <a:rPr sz="1550" b="1" i="0">
                <a:solidFill>
                  <a:srgbClr val="23282F"/>
                </a:solidFill>
                <a:latin typeface="Calibri"/>
              </a:rPr>
              <a:t> from your weight shapes</a:t>
            </a:r>
            <a:r>
              <a:rPr sz="1550" b="0" i="0">
                <a:solidFill>
                  <a:srgbClr val="23282F"/>
                </a:solidFill>
                <a:latin typeface="Calibri"/>
              </a:rPr>
              <a:t> — a shared per-value embedding plus a physical wavelength tag is all it takes, and one model then serves every sensor.</a:t>
            </a:r>
          </a:p>
          <a:p>
            <a:pPr>
              <a:spcAft>
                <a:spcPts val="400"/>
              </a:spcAft>
            </a:pPr>
            <a:r>
              <a:rPr sz="1550" b="1">
                <a:solidFill>
                  <a:srgbClr val="5A6472"/>
                </a:solidFill>
                <a:latin typeface="Calibri"/>
              </a:rPr>
              <a:t>•  </a:t>
            </a:r>
            <a:r>
              <a:rPr sz="1550" b="1" i="0">
                <a:solidFill>
                  <a:srgbClr val="23282F"/>
                </a:solidFill>
                <a:latin typeface="Calibri"/>
              </a:rPr>
              <a:t>TRM is two lines.</a:t>
            </a:r>
            <a:r>
              <a:rPr sz="1550" b="0" i="0">
                <a:solidFill>
                  <a:srgbClr val="23282F"/>
                </a:solidFill>
                <a:latin typeface="Calibri"/>
              </a:rPr>
              <a:t> </a:t>
            </a:r>
            <a:r>
              <a:rPr sz="1500" b="0" i="0">
                <a:solidFill>
                  <a:srgbClr val="6B7482"/>
                </a:solidFill>
                <a:latin typeface="Consolas"/>
              </a:rPr>
              <a:t>z = f(z+y+x)</a:t>
            </a:r>
            <a:r>
              <a:rPr sz="1550" b="0" i="0">
                <a:solidFill>
                  <a:srgbClr val="23282F"/>
                </a:solidFill>
                <a:latin typeface="Calibri"/>
              </a:rPr>
              <a:t> six times, </a:t>
            </a:r>
            <a:r>
              <a:rPr sz="1500" b="0" i="0">
                <a:solidFill>
                  <a:srgbClr val="6B7482"/>
                </a:solidFill>
                <a:latin typeface="Consolas"/>
              </a:rPr>
              <a:t>y = f(y+z)</a:t>
            </a:r>
            <a:r>
              <a:rPr sz="1550" b="0" i="0">
                <a:solidFill>
                  <a:srgbClr val="23282F"/>
                </a:solidFill>
                <a:latin typeface="Calibri"/>
              </a:rPr>
              <a:t> once, most of it under </a:t>
            </a:r>
            <a:r>
              <a:rPr sz="1500" b="0" i="0">
                <a:solidFill>
                  <a:srgbClr val="6B7482"/>
                </a:solidFill>
                <a:latin typeface="Consolas"/>
              </a:rPr>
              <a:t>no_grad</a:t>
            </a:r>
            <a:r>
              <a:rPr sz="1550" b="0" i="0">
                <a:solidFill>
                  <a:srgbClr val="23282F"/>
                </a:solidFill>
                <a:latin typeface="Calibri"/>
              </a:rPr>
              <a:t>.</a:t>
            </a:r>
          </a:p>
          <a:p>
            <a:pPr>
              <a:spcAft>
                <a:spcPts val="400"/>
              </a:spcAft>
            </a:pPr>
            <a:r>
              <a:rPr sz="1550" b="1">
                <a:solidFill>
                  <a:srgbClr val="5A6472"/>
                </a:solidFill>
                <a:latin typeface="Calibri"/>
              </a:rPr>
              <a:t>•  </a:t>
            </a:r>
            <a:r>
              <a:rPr sz="1550" b="1" i="0">
                <a:solidFill>
                  <a:srgbClr val="23282F"/>
                </a:solidFill>
                <a:latin typeface="Calibri"/>
              </a:rPr>
              <a:t>Refinement beats capacity.</a:t>
            </a:r>
            <a:r>
              <a:rPr sz="1550" b="0" i="0">
                <a:solidFill>
                  <a:srgbClr val="23282F"/>
                </a:solidFill>
                <a:latin typeface="Calibri"/>
              </a:rPr>
              <a:t> A model that only has to make an answer </a:t>
            </a:r>
            <a:r>
              <a:rPr sz="1550" b="0" i="1">
                <a:solidFill>
                  <a:srgbClr val="23282F"/>
                </a:solidFill>
                <a:latin typeface="Calibri"/>
              </a:rPr>
              <a:t>less wrong</a:t>
            </a:r>
            <a:r>
              <a:rPr sz="1550" b="0" i="0">
                <a:solidFill>
                  <a:srgbClr val="23282F"/>
                </a:solidFill>
                <a:latin typeface="Calibri"/>
              </a:rPr>
              <a:t> can be far smaller than one that must be right in one shot. It borrows what it is missing from time.</a:t>
            </a:r>
          </a:p>
          <a:p>
            <a:pPr>
              <a:spcAft>
                <a:spcPts val="400"/>
              </a:spcAft>
            </a:pPr>
            <a:r>
              <a:rPr sz="1550" b="1">
                <a:solidFill>
                  <a:srgbClr val="5A6472"/>
                </a:solidFill>
                <a:latin typeface="Calibri"/>
              </a:rPr>
              <a:t>•  </a:t>
            </a:r>
            <a:r>
              <a:rPr sz="1550" b="1" i="0">
                <a:solidFill>
                  <a:srgbClr val="23282F"/>
                </a:solidFill>
                <a:latin typeface="Calibri"/>
              </a:rPr>
              <a:t>Weight sharing trades storage for compute</a:t>
            </a:r>
            <a:r>
              <a:rPr sz="1550" b="0" i="0">
                <a:solidFill>
                  <a:srgbClr val="23282F"/>
                </a:solidFill>
                <a:latin typeface="Calibri"/>
              </a:rPr>
              <a:t>, steeply — and made gradient checkpointing mandatory. Always report both numbers.</a:t>
            </a:r>
          </a:p>
          <a:p>
            <a:pPr>
              <a:spcAft>
                <a:spcPts val="400"/>
              </a:spcAft>
            </a:pPr>
            <a:r>
              <a:rPr sz="1550" b="1">
                <a:solidFill>
                  <a:srgbClr val="5A6472"/>
                </a:solidFill>
                <a:latin typeface="Calibri"/>
              </a:rPr>
              <a:t>•  </a:t>
            </a:r>
            <a:r>
              <a:rPr sz="1550" b="1" i="0">
                <a:solidFill>
                  <a:srgbClr val="23282F"/>
                </a:solidFill>
                <a:latin typeface="Calibri"/>
              </a:rPr>
              <a:t>Be precise about provenance.</a:t>
            </a:r>
            <a:r>
              <a:rPr sz="1550" b="0" i="0">
                <a:solidFill>
                  <a:srgbClr val="23282F"/>
                </a:solidFill>
                <a:latin typeface="Calibri"/>
              </a:rPr>
              <a:t> We implemented TRM's </a:t>
            </a:r>
            <a:r>
              <a:rPr sz="1550" b="0" i="1">
                <a:solidFill>
                  <a:srgbClr val="23282F"/>
                </a:solidFill>
                <a:latin typeface="Calibri"/>
              </a:rPr>
              <a:t>recursion</a:t>
            </a:r>
            <a:r>
              <a:rPr sz="1550" b="0" i="0">
                <a:solidFill>
                  <a:srgbClr val="23282F"/>
                </a:solidFill>
                <a:latin typeface="Calibri"/>
              </a:rPr>
              <a:t>, not TRM's </a:t>
            </a:r>
            <a:r>
              <a:rPr sz="1550" b="0" i="1">
                <a:solidFill>
                  <a:srgbClr val="23282F"/>
                </a:solidFill>
                <a:latin typeface="Calibri"/>
              </a:rPr>
              <a:t>blocks</a:t>
            </a:r>
            <a:r>
              <a:rPr sz="1550" b="0" i="0">
                <a:solidFill>
                  <a:srgbClr val="23282F"/>
                </a:solidFill>
                <a:latin typeface="Calibri"/>
              </a:rPr>
              <a: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Where to go next</a:t>
            </a:r>
          </a:p>
        </p:txBody>
      </p:sp>
      <p:sp>
        <p:nvSpPr>
          <p:cNvPr id="3" name="Rectangle 2"/>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Part 3 — What we built      26</a:t>
            </a:r>
          </a:p>
        </p:txBody>
      </p:sp>
      <p:graphicFrame>
        <p:nvGraphicFramePr>
          <p:cNvPr id="6" name="Table 5"/>
          <p:cNvGraphicFramePr>
            <a:graphicFrameLocks noGrp="1"/>
          </p:cNvGraphicFramePr>
          <p:nvPr/>
        </p:nvGraphicFramePr>
        <p:xfrm>
          <a:off x="502920" y="1115568"/>
          <a:ext cx="11186129" cy="3145536"/>
        </p:xfrm>
        <a:graphic>
          <a:graphicData uri="http://schemas.openxmlformats.org/drawingml/2006/table">
            <a:tbl>
              <a:tblPr bandRow="1">
                <a:tableStyleId>{5C22544A-7EE6-4342-B048-85BDC9FD1C3A}</a:tableStyleId>
              </a:tblPr>
              <a:tblGrid>
                <a:gridCol w="4540904"/>
                <a:gridCol w="6645225"/>
              </a:tblGrid>
              <a:tr h="338328">
                <a:tc>
                  <a:txBody>
                    <a:bodyPr wrap="square"/>
                    <a:lstStyle/>
                    <a:p>
                      <a:pPr algn="l"/>
                      <a:r>
                        <a:rPr sz="1350" b="1" i="0">
                          <a:solidFill>
                            <a:srgbClr val="5A6472"/>
                          </a:solidFill>
                          <a:latin typeface="Calibri"/>
                        </a:rPr>
                        <a:t>you want</a:t>
                      </a:r>
                    </a:p>
                  </a:txBody>
                  <a:tcPr marL="64008" marR="64008" marT="27432" marB="27432" anchor="ctr">
                    <a:solidFill>
                      <a:srgbClr val="F4F5F7"/>
                    </a:solidFill>
                  </a:tcPr>
                </a:tc>
                <a:tc>
                  <a:txBody>
                    <a:bodyPr wrap="square"/>
                    <a:lstStyle/>
                    <a:p>
                      <a:pPr algn="l"/>
                      <a:r>
                        <a:rPr sz="1350" b="1" i="0">
                          <a:solidFill>
                            <a:srgbClr val="5A6472"/>
                          </a:solidFill>
                          <a:latin typeface="Calibri"/>
                        </a:rPr>
                        <a:t>go to</a:t>
                      </a:r>
                    </a:p>
                  </a:txBody>
                  <a:tcPr marL="64008" marR="64008" marT="27432" marB="27432" anchor="ctr">
                    <a:solidFill>
                      <a:srgbClr val="F4F5F7"/>
                    </a:solidFill>
                  </a:tcPr>
                </a:tc>
              </a:tr>
              <a:tr h="338328">
                <a:tc>
                  <a:txBody>
                    <a:bodyPr wrap="square"/>
                    <a:lstStyle/>
                    <a:p>
                      <a:pPr algn="l"/>
                      <a:r>
                        <a:rPr sz="1350" b="0" i="0">
                          <a:solidFill>
                            <a:srgbClr val="23282F"/>
                          </a:solidFill>
                          <a:latin typeface="Calibri"/>
                        </a:rPr>
                        <a:t>all of this in depth, with line citations</a:t>
                      </a:r>
                    </a:p>
                  </a:txBody>
                  <a:tcPr marL="64008" marR="64008" marT="27432" marB="27432" anchor="ctr">
                    <a:solidFill>
                      <a:srgbClr val="FFFFFF"/>
                    </a:solidFill>
                  </a:tcPr>
                </a:tc>
                <a:tc>
                  <a:txBody>
                    <a:bodyPr wrap="square"/>
                    <a:lstStyle/>
                    <a:p>
                      <a:pPr algn="l"/>
                      <a:r>
                        <a:rPr sz="1300" b="0" i="0">
                          <a:solidFill>
                            <a:srgbClr val="6B7482"/>
                          </a:solidFill>
                          <a:latin typeface="Consolas"/>
                        </a:rPr>
                        <a:t>doc/PROJECT_ARCHITECTURE_AND_HISTORY.md</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the model</a:t>
                      </a:r>
                    </a:p>
                  </a:txBody>
                  <a:tcPr marL="64008" marR="64008" marT="27432" marB="27432" anchor="ctr">
                    <a:solidFill>
                      <a:srgbClr val="FFFFFF"/>
                    </a:solidFill>
                  </a:tcPr>
                </a:tc>
                <a:tc>
                  <a:txBody>
                    <a:bodyPr wrap="square"/>
                    <a:lstStyle/>
                    <a:p>
                      <a:pPr algn="l"/>
                      <a:r>
                        <a:rPr sz="1300" b="0" i="0">
                          <a:solidFill>
                            <a:srgbClr val="6B7482"/>
                          </a:solidFill>
                          <a:latin typeface="Consolas"/>
                        </a:rPr>
                        <a:t>gmedmamba.py</a:t>
                      </a:r>
                      <a:r>
                        <a:rPr sz="1350" b="0" i="0">
                          <a:solidFill>
                            <a:srgbClr val="23282F"/>
                          </a:solidFill>
                          <a:latin typeface="Calibri"/>
                        </a:rPr>
                        <a:t> — </a:t>
                      </a:r>
                      <a:r>
                        <a:rPr sz="1300" b="0" i="0">
                          <a:solidFill>
                            <a:srgbClr val="6B7482"/>
                          </a:solidFill>
                          <a:latin typeface="Consolas"/>
                        </a:rPr>
                        <a:t>SpectralTokenizer:724</a:t>
                      </a:r>
                      <a:r>
                        <a:rPr sz="1350" b="0" i="0">
                          <a:solidFill>
                            <a:srgbClr val="23282F"/>
                          </a:solidFill>
                          <a:latin typeface="Calibri"/>
                        </a:rPr>
                        <a:t>, </a:t>
                      </a:r>
                      <a:r>
                        <a:rPr sz="1300" b="0" i="0">
                          <a:solidFill>
                            <a:srgbClr val="6B7482"/>
                          </a:solidFill>
                          <a:latin typeface="Consolas"/>
                        </a:rPr>
                        <a:t>RecursiveCore:1711</a:t>
                      </a:r>
                    </a:p>
                  </a:txBody>
                  <a:tcPr marL="64008" marR="64008" marT="27432" marB="27432" anchor="ctr">
                    <a:solidFill>
                      <a:srgbClr val="FFFFFF"/>
                    </a:solidFill>
                  </a:tcPr>
                </a:tc>
              </a:tr>
              <a:tr h="557784">
                <a:tc>
                  <a:txBody>
                    <a:bodyPr wrap="square"/>
                    <a:lstStyle/>
                    <a:p>
                      <a:pPr algn="l"/>
                      <a:r>
                        <a:rPr sz="1350" b="0" i="0">
                          <a:solidFill>
                            <a:srgbClr val="23282F"/>
                          </a:solidFill>
                          <a:latin typeface="Calibri"/>
                        </a:rPr>
                        <a:t>the TRM paper</a:t>
                      </a:r>
                    </a:p>
                  </a:txBody>
                  <a:tcPr marL="64008" marR="64008" marT="27432" marB="27432" anchor="ctr">
                    <a:solidFill>
                      <a:srgbClr val="FFFFFF"/>
                    </a:solidFill>
                  </a:tcPr>
                </a:tc>
                <a:tc>
                  <a:txBody>
                    <a:bodyPr wrap="square"/>
                    <a:lstStyle/>
                    <a:p>
                      <a:pPr algn="l"/>
                      <a:r>
                        <a:rPr sz="1300" b="0" i="0">
                          <a:solidFill>
                            <a:srgbClr val="6B7482"/>
                          </a:solidFill>
                          <a:latin typeface="Consolas"/>
                        </a:rPr>
                        <a:t>arXiv:2510.04871</a:t>
                      </a:r>
                      <a:r>
                        <a:rPr sz="1350" b="0" i="0">
                          <a:solidFill>
                            <a:srgbClr val="23282F"/>
                          </a:solidFill>
                          <a:latin typeface="Calibri"/>
                        </a:rPr>
                        <a:t> — Jolicoeur-Martineau, </a:t>
                      </a:r>
                      <a:r>
                        <a:rPr sz="1350" b="0" i="1">
                          <a:solidFill>
                            <a:srgbClr val="23282F"/>
                          </a:solidFill>
                          <a:latin typeface="Calibri"/>
                        </a:rPr>
                        <a:t>Less is More: Recursive Reasoning with Tiny Networks</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the HRM paper TRM reacts to</a:t>
                      </a:r>
                    </a:p>
                  </a:txBody>
                  <a:tcPr marL="64008" marR="64008" marT="27432" marB="27432" anchor="ctr">
                    <a:solidFill>
                      <a:srgbClr val="FFFFFF"/>
                    </a:solidFill>
                  </a:tcPr>
                </a:tc>
                <a:tc>
                  <a:txBody>
                    <a:bodyPr wrap="square"/>
                    <a:lstStyle/>
                    <a:p>
                      <a:pPr algn="l"/>
                      <a:r>
                        <a:rPr sz="1300" b="0" i="0">
                          <a:solidFill>
                            <a:srgbClr val="6B7482"/>
                          </a:solidFill>
                          <a:latin typeface="Consolas"/>
                        </a:rPr>
                        <a:t>arXiv:2506.21734</a:t>
                      </a:r>
                      <a:r>
                        <a:rPr sz="1350" b="0" i="0">
                          <a:solidFill>
                            <a:srgbClr val="23282F"/>
                          </a:solidFill>
                          <a:latin typeface="Calibri"/>
                        </a:rPr>
                        <a:t> — Wang et al., </a:t>
                      </a:r>
                      <a:r>
                        <a:rPr sz="1350" b="0" i="1">
                          <a:solidFill>
                            <a:srgbClr val="23282F"/>
                          </a:solidFill>
                          <a:latin typeface="Calibri"/>
                        </a:rPr>
                        <a:t>Hierarchical Reasoning Model</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the independent HRM audit</a:t>
                      </a:r>
                    </a:p>
                  </a:txBody>
                  <a:tcPr marL="64008" marR="64008" marT="27432" marB="27432" anchor="ctr">
                    <a:solidFill>
                      <a:srgbClr val="FFFFFF"/>
                    </a:solidFill>
                  </a:tcPr>
                </a:tc>
                <a:tc>
                  <a:txBody>
                    <a:bodyPr wrap="square"/>
                    <a:lstStyle/>
                    <a:p>
                      <a:pPr algn="l"/>
                      <a:r>
                        <a:rPr sz="1300" b="0" i="0">
                          <a:solidFill>
                            <a:srgbClr val="6B7482"/>
                          </a:solidFill>
                          <a:latin typeface="Consolas"/>
                        </a:rPr>
                        <a:t>arcprize.org/blog/hrm-analysis</a:t>
                      </a:r>
                    </a:p>
                  </a:txBody>
                  <a:tcPr marL="64008" marR="64008" marT="27432" marB="27432" anchor="ctr">
                    <a:solidFill>
                      <a:srgbClr val="FFFFFF"/>
                    </a:solidFill>
                  </a:tcPr>
                </a:tc>
              </a:tr>
              <a:tr h="557784">
                <a:tc>
                  <a:txBody>
                    <a:bodyPr wrap="square"/>
                    <a:lstStyle/>
                    <a:p>
                      <a:pPr algn="l"/>
                      <a:r>
                        <a:rPr sz="1350" b="0" i="0">
                          <a:solidFill>
                            <a:srgbClr val="23282F"/>
                          </a:solidFill>
                          <a:latin typeface="Calibri"/>
                        </a:rPr>
                        <a:t>TRM upstream</a:t>
                      </a:r>
                    </a:p>
                  </a:txBody>
                  <a:tcPr marL="64008" marR="64008" marT="27432" marB="27432" anchor="ctr">
                    <a:solidFill>
                      <a:srgbClr val="FFFFFF"/>
                    </a:solidFill>
                  </a:tcPr>
                </a:tc>
                <a:tc>
                  <a:txBody>
                    <a:bodyPr wrap="square"/>
                    <a:lstStyle/>
                    <a:p>
                      <a:pPr algn="l"/>
                      <a:r>
                        <a:rPr sz="1350" b="0" i="0">
                          <a:solidFill>
                            <a:srgbClr val="23282F"/>
                          </a:solidFill>
                          <a:latin typeface="Calibri"/>
                        </a:rPr>
                        <a:t>github.com/SamsungSAILMontreal/TinyRecursiveModels → </a:t>
                      </a:r>
                      <a:r>
                        <a:rPr sz="1300" b="0" i="0">
                          <a:solidFill>
                            <a:srgbClr val="6B7482"/>
                          </a:solidFill>
                          <a:latin typeface="Consolas"/>
                        </a:rPr>
                        <a:t>models/recursive_reasoning/trm.py</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to run something</a:t>
                      </a:r>
                    </a:p>
                  </a:txBody>
                  <a:tcPr marL="64008" marR="64008" marT="27432" marB="27432" anchor="ctr">
                    <a:solidFill>
                      <a:srgbClr val="FFFFFF"/>
                    </a:solidFill>
                  </a:tcPr>
                </a:tc>
                <a:tc>
                  <a:txBody>
                    <a:bodyPr wrap="square"/>
                    <a:lstStyle/>
                    <a:p>
                      <a:pPr algn="l"/>
                      <a:r>
                        <a:rPr sz="1300" b="0" i="0">
                          <a:solidFill>
                            <a:srgbClr val="6B7482"/>
                          </a:solidFill>
                          <a:latin typeface="Consolas"/>
                        </a:rPr>
                        <a:t>documentations/12_commands_datasets.md</a:t>
                      </a:r>
                    </a:p>
                  </a:txBody>
                  <a:tcPr marL="64008" marR="64008" marT="27432" marB="27432" anchor="ctr">
                    <a:solidFill>
                      <a:srgbClr val="FFFFFF"/>
                    </a:solidFill>
                  </a:tcPr>
                </a:tc>
              </a:tr>
            </a:tbl>
          </a:graphicData>
        </a:graphic>
      </p:graphicFrame>
      <p:sp>
        <p:nvSpPr>
          <p:cNvPr id="7" name="TextBox 6"/>
          <p:cNvSpPr txBox="1"/>
          <p:nvPr/>
        </p:nvSpPr>
        <p:spPr>
          <a:xfrm>
            <a:off x="502920" y="4352544"/>
            <a:ext cx="11186129" cy="347345"/>
          </a:xfrm>
          <a:prstGeom prst="rect">
            <a:avLst/>
          </a:prstGeom>
          <a:noFill/>
        </p:spPr>
        <p:txBody>
          <a:bodyPr wrap="square" lIns="0" rIns="0" tIns="0" bIns="0">
            <a:spAutoFit/>
          </a:bodyPr>
          <a:lstStyle/>
          <a:p>
            <a:r>
              <a:rPr sz="1550" b="1" i="0">
                <a:solidFill>
                  <a:srgbClr val="23282F"/>
                </a:solidFill>
                <a:latin typeface="Calibri"/>
              </a:rPr>
              <a:t>Questions?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2331720"/>
            <a:ext cx="12191969" cy="91440"/>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651760"/>
            <a:ext cx="10363169" cy="914400"/>
          </a:xfrm>
          <a:prstGeom prst="rect">
            <a:avLst/>
          </a:prstGeom>
          <a:noFill/>
        </p:spPr>
        <p:txBody>
          <a:bodyPr wrap="square" lIns="0" rIns="0" tIns="0" bIns="0">
            <a:spAutoFit/>
          </a:bodyPr>
          <a:lstStyle/>
          <a:p>
            <a:r>
              <a:rPr sz="3800" b="1">
                <a:solidFill>
                  <a:srgbClr val="23282F"/>
                </a:solidFill>
                <a:latin typeface="Calibri"/>
              </a:rPr>
              <a:t>Backup — not presented</a:t>
            </a:r>
          </a:p>
        </p:txBody>
      </p:sp>
      <p:sp>
        <p:nvSpPr>
          <p:cNvPr id="4" name="TextBox 3"/>
          <p:cNvSpPr txBox="1"/>
          <p:nvPr/>
        </p:nvSpPr>
        <p:spPr>
          <a:xfrm>
            <a:off x="914400" y="3703320"/>
            <a:ext cx="10363169" cy="349758"/>
          </a:xfrm>
          <a:prstGeom prst="rect">
            <a:avLst/>
          </a:prstGeom>
          <a:noFill/>
        </p:spPr>
        <p:txBody>
          <a:bodyPr wrap="square" lIns="0" rIns="0" tIns="0" bIns="0">
            <a:spAutoFit/>
          </a:bodyPr>
          <a:lstStyle/>
          <a:p>
            <a:r>
              <a:rPr sz="1400" b="0" i="0">
                <a:solidFill>
                  <a:srgbClr val="6B7482"/>
                </a:solidFill>
                <a:latin typeface="Calibri"/>
              </a:rPr>
              <a:t>Kept in the deck so they can be jumped to during questions. None of these are in the 25 minutes.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TRM's defaults, and the ideas that failed</a:t>
            </a:r>
          </a:p>
        </p:txBody>
      </p:sp>
      <p:sp>
        <p:nvSpPr>
          <p:cNvPr id="3" name="Rectangle 2"/>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Backup — not presented      28</a:t>
            </a:r>
          </a:p>
        </p:txBody>
      </p:sp>
      <p:graphicFrame>
        <p:nvGraphicFramePr>
          <p:cNvPr id="6" name="Table 5"/>
          <p:cNvGraphicFramePr>
            <a:graphicFrameLocks noGrp="1"/>
          </p:cNvGraphicFramePr>
          <p:nvPr/>
        </p:nvGraphicFramePr>
        <p:xfrm>
          <a:off x="502920" y="1115568"/>
          <a:ext cx="11186129" cy="3044952"/>
        </p:xfrm>
        <a:graphic>
          <a:graphicData uri="http://schemas.openxmlformats.org/drawingml/2006/table">
            <a:tbl>
              <a:tblPr bandRow="1">
                <a:tableStyleId>{5C22544A-7EE6-4342-B048-85BDC9FD1C3A}</a:tableStyleId>
              </a:tblPr>
              <a:tblGrid>
                <a:gridCol w="2674944"/>
                <a:gridCol w="2796532"/>
                <a:gridCol w="5714653"/>
              </a:tblGrid>
              <a:tr h="338328">
                <a:tc>
                  <a:txBody>
                    <a:bodyPr wrap="square"/>
                    <a:lstStyle/>
                    <a:p>
                      <a:pPr algn="l"/>
                      <a:r>
                        <a:rPr sz="1350" b="1" i="0">
                          <a:solidFill>
                            <a:srgbClr val="5A6472"/>
                          </a:solidFill>
                          <a:latin typeface="Calibri"/>
                        </a:rPr>
                        <a:t>knob</a:t>
                      </a:r>
                    </a:p>
                  </a:txBody>
                  <a:tcPr marL="64008" marR="64008" marT="27432" marB="27432" anchor="ctr">
                    <a:solidFill>
                      <a:srgbClr val="F4F5F7"/>
                    </a:solidFill>
                  </a:tcPr>
                </a:tc>
                <a:tc>
                  <a:txBody>
                    <a:bodyPr wrap="square"/>
                    <a:lstStyle/>
                    <a:p>
                      <a:pPr algn="l"/>
                      <a:r>
                        <a:rPr sz="1350" b="1" i="0">
                          <a:solidFill>
                            <a:srgbClr val="5A6472"/>
                          </a:solidFill>
                          <a:latin typeface="Calibri"/>
                        </a:rPr>
                        <a:t>value</a:t>
                      </a:r>
                    </a:p>
                  </a:txBody>
                  <a:tcPr marL="64008" marR="64008" marT="27432" marB="27432" anchor="ctr">
                    <a:solidFill>
                      <a:srgbClr val="F4F5F7"/>
                    </a:solidFill>
                  </a:tcPr>
                </a:tc>
                <a:tc>
                  <a:txBody>
                    <a:bodyPr wrap="square"/>
                    <a:lstStyle/>
                    <a:p>
                      <a:pPr algn="l"/>
                      <a:r>
                        <a:rPr sz="1350" b="1" i="0">
                          <a:solidFill>
                            <a:srgbClr val="5A6472"/>
                          </a:solidFill>
                          <a:latin typeface="Calibri"/>
                        </a:rPr>
                        <a:t>meaning</a:t>
                      </a:r>
                    </a:p>
                  </a:txBody>
                  <a:tcPr marL="64008" marR="64008" marT="27432" marB="27432" anchor="ctr">
                    <a:solidFill>
                      <a:srgbClr val="F4F5F7"/>
                    </a:solidFill>
                  </a:tcPr>
                </a:tc>
              </a:tr>
              <a:tr h="338328">
                <a:tc>
                  <a:txBody>
                    <a:bodyPr wrap="square"/>
                    <a:lstStyle/>
                    <a:p>
                      <a:pPr algn="l"/>
                      <a:r>
                        <a:rPr sz="1300" b="0" i="0">
                          <a:solidFill>
                            <a:srgbClr val="6B7482"/>
                          </a:solidFill>
                          <a:latin typeface="Consolas"/>
                        </a:rPr>
                        <a:t>L_cycles</a:t>
                      </a:r>
                      <a:r>
                        <a:rPr sz="1350" b="0" i="0">
                          <a:solidFill>
                            <a:srgbClr val="23282F"/>
                          </a:solidFill>
                          <a:latin typeface="Calibri"/>
                        </a:rPr>
                        <a:t> (</a:t>
                      </a:r>
                      <a:r>
                        <a:rPr sz="1300" b="0" i="0">
                          <a:solidFill>
                            <a:srgbClr val="6B7482"/>
                          </a:solidFill>
                          <a:latin typeface="Consolas"/>
                        </a:rPr>
                        <a:t>n</a:t>
                      </a:r>
                      <a:r>
                        <a:rPr sz="1350" b="0" i="0">
                          <a:solidFill>
                            <a:srgbClr val="23282F"/>
                          </a:solidFill>
                          <a:latin typeface="Calibri"/>
                        </a:rPr>
                        <a:t>)</a:t>
                      </a:r>
                    </a:p>
                  </a:txBody>
                  <a:tcPr marL="64008" marR="64008" marT="27432" marB="27432" anchor="ctr">
                    <a:solidFill>
                      <a:srgbClr val="FFFFFF"/>
                    </a:solidFill>
                  </a:tcPr>
                </a:tc>
                <a:tc>
                  <a:txBody>
                    <a:bodyPr wrap="square"/>
                    <a:lstStyle/>
                    <a:p>
                      <a:pPr algn="r"/>
                      <a:r>
                        <a:rPr sz="1350" b="0" i="0">
                          <a:solidFill>
                            <a:srgbClr val="23282F"/>
                          </a:solidFill>
                          <a:latin typeface="Calibri"/>
                        </a:rPr>
                        <a:t>6</a:t>
                      </a:r>
                    </a:p>
                  </a:txBody>
                  <a:tcPr marL="64008" marR="64008" marT="27432" marB="27432" anchor="ctr">
                    <a:solidFill>
                      <a:srgbClr val="FFFFFF"/>
                    </a:solidFill>
                  </a:tcPr>
                </a:tc>
                <a:tc>
                  <a:txBody>
                    <a:bodyPr wrap="square"/>
                    <a:lstStyle/>
                    <a:p>
                      <a:pPr algn="l"/>
                      <a:r>
                        <a:rPr sz="1350" b="0" i="0">
                          <a:solidFill>
                            <a:srgbClr val="23282F"/>
                          </a:solidFill>
                          <a:latin typeface="Calibri"/>
                        </a:rPr>
                        <a:t>working updates per round</a:t>
                      </a:r>
                    </a:p>
                  </a:txBody>
                  <a:tcPr marL="64008" marR="64008" marT="27432" marB="27432" anchor="ctr">
                    <a:solidFill>
                      <a:srgbClr val="FFFFFF"/>
                    </a:solidFill>
                  </a:tcPr>
                </a:tc>
              </a:tr>
              <a:tr h="338328">
                <a:tc>
                  <a:txBody>
                    <a:bodyPr wrap="square"/>
                    <a:lstStyle/>
                    <a:p>
                      <a:pPr algn="l"/>
                      <a:r>
                        <a:rPr sz="1300" b="0" i="0">
                          <a:solidFill>
                            <a:srgbClr val="6B7482"/>
                          </a:solidFill>
                          <a:latin typeface="Consolas"/>
                        </a:rPr>
                        <a:t>H_cycles</a:t>
                      </a:r>
                      <a:r>
                        <a:rPr sz="1350" b="0" i="0">
                          <a:solidFill>
                            <a:srgbClr val="23282F"/>
                          </a:solidFill>
                          <a:latin typeface="Calibri"/>
                        </a:rPr>
                        <a:t> (</a:t>
                      </a:r>
                      <a:r>
                        <a:rPr sz="1300" b="0" i="0">
                          <a:solidFill>
                            <a:srgbClr val="6B7482"/>
                          </a:solidFill>
                          <a:latin typeface="Consolas"/>
                        </a:rPr>
                        <a:t>T</a:t>
                      </a:r>
                      <a:r>
                        <a:rPr sz="1350" b="0" i="0">
                          <a:solidFill>
                            <a:srgbClr val="23282F"/>
                          </a:solidFill>
                          <a:latin typeface="Calibri"/>
                        </a:rPr>
                        <a:t>)</a:t>
                      </a:r>
                    </a:p>
                  </a:txBody>
                  <a:tcPr marL="64008" marR="64008" marT="27432" marB="27432" anchor="ctr">
                    <a:solidFill>
                      <a:srgbClr val="FFFFFF"/>
                    </a:solidFill>
                  </a:tcPr>
                </a:tc>
                <a:tc>
                  <a:txBody>
                    <a:bodyPr wrap="square"/>
                    <a:lstStyle/>
                    <a:p>
                      <a:pPr algn="r"/>
                      <a:r>
                        <a:rPr sz="1350" b="0" i="0">
                          <a:solidFill>
                            <a:srgbClr val="23282F"/>
                          </a:solidFill>
                          <a:latin typeface="Calibri"/>
                        </a:rPr>
                        <a:t>3</a:t>
                      </a:r>
                    </a:p>
                  </a:txBody>
                  <a:tcPr marL="64008" marR="64008" marT="27432" marB="27432" anchor="ctr">
                    <a:solidFill>
                      <a:srgbClr val="FFFFFF"/>
                    </a:solidFill>
                  </a:tcPr>
                </a:tc>
                <a:tc>
                  <a:txBody>
                    <a:bodyPr wrap="square"/>
                    <a:lstStyle/>
                    <a:p>
                      <a:pPr algn="l"/>
                      <a:r>
                        <a:rPr sz="1350" b="0" i="0">
                          <a:solidFill>
                            <a:srgbClr val="23282F"/>
                          </a:solidFill>
                          <a:latin typeface="Calibri"/>
                        </a:rPr>
                        <a:t>rounds per pass — </a:t>
                      </a:r>
                      <a:r>
                        <a:rPr sz="1350" b="1" i="0">
                          <a:solidFill>
                            <a:srgbClr val="23282F"/>
                          </a:solidFill>
                          <a:latin typeface="Calibri"/>
                        </a:rPr>
                        <a:t>2 of the 3 under </a:t>
                      </a:r>
                      <a:r>
                        <a:rPr sz="1300" b="1" i="0">
                          <a:solidFill>
                            <a:srgbClr val="23282F"/>
                          </a:solidFill>
                          <a:latin typeface="Consolas"/>
                        </a:rPr>
                        <a:t>no_grad</a:t>
                      </a:r>
                    </a:p>
                  </a:txBody>
                  <a:tcPr marL="64008" marR="64008" marT="27432" marB="27432" anchor="ctr">
                    <a:solidFill>
                      <a:srgbClr val="FFFFFF"/>
                    </a:solidFill>
                  </a:tcPr>
                </a:tc>
              </a:tr>
              <a:tr h="338328">
                <a:tc>
                  <a:txBody>
                    <a:bodyPr wrap="square"/>
                    <a:lstStyle/>
                    <a:p>
                      <a:pPr algn="l"/>
                      <a:r>
                        <a:rPr sz="1300" b="0" i="0">
                          <a:solidFill>
                            <a:srgbClr val="6B7482"/>
                          </a:solidFill>
                          <a:latin typeface="Consolas"/>
                        </a:rPr>
                        <a:t>L_layers</a:t>
                      </a:r>
                    </a:p>
                  </a:txBody>
                  <a:tcPr marL="64008" marR="64008" marT="27432" marB="27432" anchor="ctr">
                    <a:solidFill>
                      <a:srgbClr val="FFFFFF"/>
                    </a:solidFill>
                  </a:tcPr>
                </a:tc>
                <a:tc>
                  <a:txBody>
                    <a:bodyPr wrap="square"/>
                    <a:lstStyle/>
                    <a:p>
                      <a:pPr algn="r"/>
                      <a:r>
                        <a:rPr sz="1350" b="0" i="0">
                          <a:solidFill>
                            <a:srgbClr val="23282F"/>
                          </a:solidFill>
                          <a:latin typeface="Calibri"/>
                        </a:rPr>
                        <a:t>2</a:t>
                      </a:r>
                    </a:p>
                  </a:txBody>
                  <a:tcPr marL="64008" marR="64008" marT="27432" marB="27432" anchor="ctr">
                    <a:solidFill>
                      <a:srgbClr val="FFFFFF"/>
                    </a:solidFill>
                  </a:tcPr>
                </a:tc>
                <a:tc>
                  <a:txBody>
                    <a:bodyPr wrap="square"/>
                    <a:lstStyle/>
                    <a:p>
                      <a:pPr algn="l"/>
                      <a:r>
                        <a:rPr sz="1350" b="0" i="0">
                          <a:solidFill>
                            <a:srgbClr val="23282F"/>
                          </a:solidFill>
                          <a:latin typeface="Calibri"/>
                        </a:rPr>
                        <a:t>layers inside </a:t>
                      </a:r>
                      <a:r>
                        <a:rPr sz="1300" b="0" i="0">
                          <a:solidFill>
                            <a:srgbClr val="6B7482"/>
                          </a:solidFill>
                          <a:latin typeface="Consolas"/>
                        </a:rPr>
                        <a:t>f</a:t>
                      </a:r>
                      <a:r>
                        <a:rPr sz="1350" b="0" i="0">
                          <a:solidFill>
                            <a:srgbClr val="23282F"/>
                          </a:solidFill>
                          <a:latin typeface="Calibri"/>
                        </a:rPr>
                        <a:t> — the only weights in the model</a:t>
                      </a:r>
                    </a:p>
                  </a:txBody>
                  <a:tcPr marL="64008" marR="64008" marT="27432" marB="27432" anchor="ctr">
                    <a:solidFill>
                      <a:srgbClr val="FFFFFF"/>
                    </a:solidFill>
                  </a:tcPr>
                </a:tc>
              </a:tr>
              <a:tr h="338328">
                <a:tc>
                  <a:txBody>
                    <a:bodyPr wrap="square"/>
                    <a:lstStyle/>
                    <a:p>
                      <a:pPr algn="l"/>
                      <a:r>
                        <a:rPr sz="1300" b="0" i="0">
                          <a:solidFill>
                            <a:srgbClr val="6B7482"/>
                          </a:solidFill>
                          <a:latin typeface="Consolas"/>
                        </a:rPr>
                        <a:t>hidden_size</a:t>
                      </a:r>
                    </a:p>
                  </a:txBody>
                  <a:tcPr marL="64008" marR="64008" marT="27432" marB="27432" anchor="ctr">
                    <a:solidFill>
                      <a:srgbClr val="FFFFFF"/>
                    </a:solidFill>
                  </a:tcPr>
                </a:tc>
                <a:tc>
                  <a:txBody>
                    <a:bodyPr wrap="square"/>
                    <a:lstStyle/>
                    <a:p>
                      <a:pPr algn="r"/>
                      <a:r>
                        <a:rPr sz="1350" b="0" i="0">
                          <a:solidFill>
                            <a:srgbClr val="23282F"/>
                          </a:solidFill>
                          <a:latin typeface="Calibri"/>
                        </a:rPr>
                        <a:t>512</a:t>
                      </a:r>
                    </a:p>
                  </a:txBody>
                  <a:tcPr marL="64008" marR="64008" marT="27432" marB="27432" anchor="ctr">
                    <a:solidFill>
                      <a:srgbClr val="FFFFFF"/>
                    </a:solidFill>
                  </a:tcPr>
                </a:tc>
                <a:tc>
                  <a:txBody>
                    <a:bodyPr wrap="square"/>
                    <a:lstStyle/>
                    <a:p>
                      <a:pPr algn="l"/>
                      <a:r>
                        <a:rPr sz="1350" b="0" i="0">
                          <a:solidFill>
                            <a:srgbClr val="23282F"/>
                          </a:solidFill>
                          <a:latin typeface="Calibri"/>
                        </a:rPr>
                        <a:t>working width</a:t>
                      </a:r>
                    </a:p>
                  </a:txBody>
                  <a:tcPr marL="64008" marR="64008" marT="27432" marB="27432" anchor="ctr">
                    <a:solidFill>
                      <a:srgbClr val="FFFFFF"/>
                    </a:solidFill>
                  </a:tcPr>
                </a:tc>
              </a:tr>
              <a:tr h="338328">
                <a:tc>
                  <a:txBody>
                    <a:bodyPr wrap="square"/>
                    <a:lstStyle/>
                    <a:p>
                      <a:pPr algn="l"/>
                      <a:r>
                        <a:rPr sz="1300" b="0" i="0">
                          <a:solidFill>
                            <a:srgbClr val="6B7482"/>
                          </a:solidFill>
                          <a:latin typeface="Consolas"/>
                        </a:rPr>
                        <a:t>halt_max_steps</a:t>
                      </a:r>
                      <a:r>
                        <a:rPr sz="1350" b="0" i="0">
                          <a:solidFill>
                            <a:srgbClr val="23282F"/>
                          </a:solidFill>
                          <a:latin typeface="Calibri"/>
                        </a:rPr>
                        <a:t> (</a:t>
                      </a:r>
                      <a:r>
                        <a:rPr sz="1300" b="0" i="0">
                          <a:solidFill>
                            <a:srgbClr val="6B7482"/>
                          </a:solidFill>
                          <a:latin typeface="Consolas"/>
                        </a:rPr>
                        <a:t>N_sup</a:t>
                      </a:r>
                      <a:r>
                        <a:rPr sz="1350" b="0" i="0">
                          <a:solidFill>
                            <a:srgbClr val="23282F"/>
                          </a:solidFill>
                          <a:latin typeface="Calibri"/>
                        </a:rPr>
                        <a:t>)</a:t>
                      </a:r>
                    </a:p>
                  </a:txBody>
                  <a:tcPr marL="64008" marR="64008" marT="27432" marB="27432" anchor="ctr">
                    <a:solidFill>
                      <a:srgbClr val="FFFFFF"/>
                    </a:solidFill>
                  </a:tcPr>
                </a:tc>
                <a:tc>
                  <a:txBody>
                    <a:bodyPr wrap="square"/>
                    <a:lstStyle/>
                    <a:p>
                      <a:pPr algn="r"/>
                      <a:r>
                        <a:rPr sz="1350" b="0" i="0">
                          <a:solidFill>
                            <a:srgbClr val="23282F"/>
                          </a:solidFill>
                          <a:latin typeface="Calibri"/>
                        </a:rPr>
                        <a:t>16</a:t>
                      </a:r>
                    </a:p>
                  </a:txBody>
                  <a:tcPr marL="64008" marR="64008" marT="27432" marB="27432" anchor="ctr">
                    <a:solidFill>
                      <a:srgbClr val="FFFFFF"/>
                    </a:solidFill>
                  </a:tcPr>
                </a:tc>
                <a:tc>
                  <a:txBody>
                    <a:bodyPr wrap="square"/>
                    <a:lstStyle/>
                    <a:p>
                      <a:pPr algn="l"/>
                      <a:r>
                        <a:rPr sz="1350" b="0" i="0">
                          <a:solidFill>
                            <a:srgbClr val="23282F"/>
                          </a:solidFill>
                          <a:latin typeface="Calibri"/>
                        </a:rPr>
                        <a:t>max deep-supervision passes</a:t>
                      </a:r>
                    </a:p>
                  </a:txBody>
                  <a:tcPr marL="64008" marR="64008" marT="27432" marB="27432" anchor="ctr">
                    <a:solidFill>
                      <a:srgbClr val="FFFFFF"/>
                    </a:solidFill>
                  </a:tcPr>
                </a:tc>
              </a:tr>
              <a:tr h="338328">
                <a:tc>
                  <a:txBody>
                    <a:bodyPr wrap="square"/>
                    <a:lstStyle/>
                    <a:p>
                      <a:pPr algn="l"/>
                      <a:r>
                        <a:rPr sz="1300" b="0" i="0">
                          <a:solidFill>
                            <a:srgbClr val="6B7482"/>
                          </a:solidFill>
                          <a:latin typeface="Consolas"/>
                        </a:rPr>
                        <a:t>ema_rate</a:t>
                      </a:r>
                    </a:p>
                  </a:txBody>
                  <a:tcPr marL="64008" marR="64008" marT="27432" marB="27432" anchor="ctr">
                    <a:solidFill>
                      <a:srgbClr val="FFFFFF"/>
                    </a:solidFill>
                  </a:tcPr>
                </a:tc>
                <a:tc>
                  <a:txBody>
                    <a:bodyPr wrap="square"/>
                    <a:lstStyle/>
                    <a:p>
                      <a:pPr algn="r"/>
                      <a:r>
                        <a:rPr sz="1350" b="0" i="0">
                          <a:solidFill>
                            <a:srgbClr val="23282F"/>
                          </a:solidFill>
                          <a:latin typeface="Calibri"/>
                        </a:rPr>
                        <a:t>0.999</a:t>
                      </a:r>
                    </a:p>
                  </a:txBody>
                  <a:tcPr marL="64008" marR="64008" marT="27432" marB="27432" anchor="ctr">
                    <a:solidFill>
                      <a:srgbClr val="FFFFFF"/>
                    </a:solidFill>
                  </a:tcPr>
                </a:tc>
                <a:tc>
                  <a:txBody>
                    <a:bodyPr wrap="square"/>
                    <a:lstStyle/>
                    <a:p>
                      <a:pPr algn="l"/>
                      <a:r>
                        <a:rPr sz="1350" b="0" i="0">
                          <a:solidFill>
                            <a:srgbClr val="23282F"/>
                          </a:solidFill>
                          <a:latin typeface="Calibri"/>
                        </a:rPr>
                        <a:t>weight averaging — worth 7.5 points</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optimizer</a:t>
                      </a:r>
                    </a:p>
                  </a:txBody>
                  <a:tcPr marL="64008" marR="64008" marT="27432" marB="27432" anchor="ctr">
                    <a:solidFill>
                      <a:srgbClr val="FFFFFF"/>
                    </a:solidFill>
                  </a:tcPr>
                </a:tc>
                <a:tc>
                  <a:txBody>
                    <a:bodyPr wrap="square"/>
                    <a:lstStyle/>
                    <a:p>
                      <a:pPr algn="l"/>
                      <a:r>
                        <a:rPr sz="1350" b="0" i="0">
                          <a:solidFill>
                            <a:srgbClr val="23282F"/>
                          </a:solidFill>
                          <a:latin typeface="Calibri"/>
                        </a:rPr>
                        <a:t>AdamW</a:t>
                      </a:r>
                    </a:p>
                  </a:txBody>
                  <a:tcPr marL="64008" marR="64008" marT="27432" marB="27432" anchor="ctr">
                    <a:solidFill>
                      <a:srgbClr val="FFFFFF"/>
                    </a:solidFill>
                  </a:tcPr>
                </a:tc>
                <a:tc>
                  <a:txBody>
                    <a:bodyPr wrap="square"/>
                    <a:lstStyle/>
                    <a:p>
                      <a:pPr algn="l"/>
                      <a:r>
                        <a:rPr sz="1300" b="0" i="0">
                          <a:solidFill>
                            <a:srgbClr val="6B7482"/>
                          </a:solidFill>
                          <a:latin typeface="Consolas"/>
                        </a:rPr>
                        <a:t>β = (0.9, 0.95)</a:t>
                      </a:r>
                      <a:r>
                        <a:rPr sz="1350" b="0" i="0">
                          <a:solidFill>
                            <a:srgbClr val="23282F"/>
                          </a:solidFill>
                          <a:latin typeface="Calibri"/>
                        </a:rPr>
                        <a:t>, 2K-step warmup, batch 768</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loss</a:t>
                      </a:r>
                    </a:p>
                  </a:txBody>
                  <a:tcPr marL="64008" marR="64008" marT="27432" marB="27432" anchor="ctr">
                    <a:solidFill>
                      <a:srgbClr val="FFFFFF"/>
                    </a:solidFill>
                  </a:tcPr>
                </a:tc>
                <a:tc>
                  <a:txBody>
                    <a:bodyPr wrap="square"/>
                    <a:lstStyle/>
                    <a:p>
                      <a:pPr algn="l"/>
                      <a:r>
                        <a:rPr sz="1350" b="0" i="0">
                          <a:solidFill>
                            <a:srgbClr val="23282F"/>
                          </a:solidFill>
                          <a:latin typeface="Calibri"/>
                        </a:rPr>
                        <a:t>stablemax cross-entropy</a:t>
                      </a:r>
                    </a:p>
                  </a:txBody>
                  <a:tcPr marL="64008" marR="64008" marT="27432" marB="27432" anchor="ctr">
                    <a:solidFill>
                      <a:srgbClr val="FFFFFF"/>
                    </a:solidFill>
                  </a:tcPr>
                </a:tc>
                <a:tc>
                  <a:txBody>
                    <a:bodyPr wrap="square"/>
                    <a:lstStyle/>
                    <a:p>
                      <a:pPr algn="l"/>
                      <a:r>
                        <a:rPr sz="1350" b="0" i="0">
                          <a:solidFill>
                            <a:srgbClr val="23282F"/>
                          </a:solidFill>
                          <a:latin typeface="Calibri"/>
                        </a:rPr>
                        <a:t>chosen for numerical stability</a:t>
                      </a:r>
                    </a:p>
                  </a:txBody>
                  <a:tcPr marL="64008" marR="64008" marT="27432" marB="27432" anchor="ctr">
                    <a:solidFill>
                      <a:srgbClr val="FFFFFF"/>
                    </a:solidFill>
                  </a:tcPr>
                </a:tc>
              </a:tr>
            </a:tbl>
          </a:graphicData>
        </a:graphic>
      </p:graphicFrame>
      <p:sp>
        <p:nvSpPr>
          <p:cNvPr id="7" name="TextBox 6"/>
          <p:cNvSpPr txBox="1"/>
          <p:nvPr/>
        </p:nvSpPr>
        <p:spPr>
          <a:xfrm>
            <a:off x="502920" y="4251960"/>
            <a:ext cx="11186129" cy="859155"/>
          </a:xfrm>
          <a:prstGeom prst="rect">
            <a:avLst/>
          </a:prstGeom>
          <a:noFill/>
        </p:spPr>
        <p:txBody>
          <a:bodyPr wrap="square" lIns="0" rIns="0" tIns="0" bIns="0">
            <a:spAutoFit/>
          </a:bodyPr>
          <a:lstStyle/>
          <a:p>
            <a:r>
              <a:rPr sz="1550" b="1" i="0">
                <a:solidFill>
                  <a:srgbClr val="23282F"/>
                </a:solidFill>
                <a:latin typeface="Calibri"/>
              </a:rPr>
              <a:t>Depth is not the knob.</a:t>
            </a:r>
            <a:r>
              <a:rPr sz="1550" b="0" i="0">
                <a:solidFill>
                  <a:srgbClr val="23282F"/>
                </a:solidFill>
                <a:latin typeface="Calibri"/>
              </a:rPr>
              <a:t> Give HRM more depth and it barely moves: across effective depths 9 → 168 it only goes </a:t>
            </a:r>
            <a:r>
              <a:rPr sz="1550" b="1" i="0">
                <a:solidFill>
                  <a:srgbClr val="23282F"/>
                </a:solidFill>
                <a:latin typeface="Calibri"/>
              </a:rPr>
              <a:t>46.4% → 62.3%</a:t>
            </a:r>
            <a:r>
              <a:rPr sz="1550" b="0" i="0">
                <a:solidFill>
                  <a:srgbClr val="23282F"/>
                </a:solidFill>
                <a:latin typeface="Calibri"/>
              </a:rPr>
              <a:t>, and at the deepest setting it is </a:t>
            </a:r>
            <a:r>
              <a:rPr sz="1550" b="0" i="1">
                <a:solidFill>
                  <a:srgbClr val="23282F"/>
                </a:solidFill>
                <a:latin typeface="Calibri"/>
              </a:rPr>
              <a:t>worse</a:t>
            </a:r>
            <a:r>
              <a:rPr sz="1550" b="0" i="0">
                <a:solidFill>
                  <a:srgbClr val="23282F"/>
                </a:solidFill>
                <a:latin typeface="Calibri"/>
              </a:rPr>
              <a:t> (57.5%) than at depth 48. TRM peaks at </a:t>
            </a:r>
            <a:r>
              <a:rPr sz="1550" b="1" i="0">
                <a:solidFill>
                  <a:srgbClr val="23282F"/>
                </a:solidFill>
                <a:latin typeface="Calibri"/>
              </a:rPr>
              <a:t>87.4% at depth 42</a:t>
            </a:r>
            <a:r>
              <a:rPr sz="1550" b="0" i="0">
                <a:solidFill>
                  <a:srgbClr val="23282F"/>
                </a:solidFill>
                <a:latin typeface="Calibri"/>
              </a:rPr>
              <a:t>.</a:t>
            </a:r>
          </a:p>
        </p:txBody>
      </p:sp>
      <p:sp>
        <p:nvSpPr>
          <p:cNvPr id="8" name="TextBox 7"/>
          <p:cNvSpPr txBox="1"/>
          <p:nvPr/>
        </p:nvSpPr>
        <p:spPr>
          <a:xfrm>
            <a:off x="502920" y="5111115"/>
            <a:ext cx="11186129" cy="1115060"/>
          </a:xfrm>
          <a:prstGeom prst="rect">
            <a:avLst/>
          </a:prstGeom>
          <a:noFill/>
        </p:spPr>
        <p:txBody>
          <a:bodyPr wrap="square" lIns="0" rIns="0" tIns="0" bIns="0">
            <a:spAutoFit/>
          </a:bodyPr>
          <a:lstStyle/>
          <a:p>
            <a:r>
              <a:rPr sz="1550" b="1" i="0">
                <a:solidFill>
                  <a:srgbClr val="23282F"/>
                </a:solidFill>
                <a:latin typeface="Calibri"/>
              </a:rPr>
              <a:t>Ideas the paper tried and dropped:</a:t>
            </a:r>
            <a:r>
              <a:rPr sz="1550" b="0" i="0">
                <a:solidFill>
                  <a:srgbClr val="23282F"/>
                </a:solidFill>
                <a:latin typeface="Calibri"/>
              </a:rPr>
              <a:t> Mixture-of-Experts instead of the MLP — much worse · backprop through only the last </a:t>
            </a:r>
            <a:r>
              <a:rPr sz="1550" b="0" i="1">
                <a:solidFill>
                  <a:srgbClr val="23282F"/>
                </a:solidFill>
                <a:latin typeface="Calibri"/>
              </a:rPr>
              <a:t>k</a:t>
            </a:r>
            <a:r>
              <a:rPr sz="1550" b="0" i="0">
                <a:solidFill>
                  <a:srgbClr val="23282F"/>
                </a:solidFill>
                <a:latin typeface="Calibri"/>
              </a:rPr>
              <a:t> steps — no gain · removing halting — much worse · weight-tying input embedding to output head — much worse · </a:t>
            </a:r>
            <a:r>
              <a:rPr sz="1550" b="1" i="0">
                <a:solidFill>
                  <a:srgbClr val="23282F"/>
                </a:solidFill>
                <a:latin typeface="Calibri"/>
              </a:rPr>
              <a:t>true fixed-point iteration (TorchDEQ) — slower </a:t>
            </a:r>
            <a:r>
              <a:rPr sz="1550" b="1" i="1">
                <a:solidFill>
                  <a:srgbClr val="23282F"/>
                </a:solidFill>
                <a:latin typeface="Calibri"/>
              </a:rPr>
              <a:t>and</a:t>
            </a:r>
            <a:r>
              <a:rPr sz="1550" b="1" i="0">
                <a:solidFill>
                  <a:srgbClr val="23282F"/>
                </a:solidFill>
                <a:latin typeface="Calibri"/>
              </a:rPr>
              <a:t> worse</a:t>
            </a:r>
            <a:r>
              <a:rPr sz="1550" b="0" i="0">
                <a:solidFill>
                  <a:srgbClr val="23282F"/>
                </a:solidFill>
                <a:latin typeface="Calibri"/>
              </a:rPr>
              <a:t>, which is itself the evidence that the fixed point was never the point.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Full ablation on Sudoku-Extreme</a:t>
            </a:r>
          </a:p>
        </p:txBody>
      </p:sp>
      <p:sp>
        <p:nvSpPr>
          <p:cNvPr id="3" name="Rectangle 2"/>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Backup — not presented      29</a:t>
            </a:r>
          </a:p>
        </p:txBody>
      </p:sp>
      <p:sp>
        <p:nvSpPr>
          <p:cNvPr id="6" name="TextBox 5"/>
          <p:cNvSpPr txBox="1"/>
          <p:nvPr/>
        </p:nvSpPr>
        <p:spPr>
          <a:xfrm>
            <a:off x="502920" y="1115568"/>
            <a:ext cx="11186129" cy="347345"/>
          </a:xfrm>
          <a:prstGeom prst="rect">
            <a:avLst/>
          </a:prstGeom>
          <a:noFill/>
        </p:spPr>
        <p:txBody>
          <a:bodyPr wrap="square" lIns="0" rIns="0" tIns="0" bIns="0">
            <a:spAutoFit/>
          </a:bodyPr>
          <a:lstStyle/>
          <a:p>
            <a:r>
              <a:rPr sz="1550" b="0" i="0">
                <a:solidFill>
                  <a:srgbClr val="23282F"/>
                </a:solidFill>
                <a:latin typeface="Calibri"/>
              </a:rPr>
              <a:t>Each row is TRM with exactly one thing put back. </a:t>
            </a:r>
            <a:r>
              <a:rPr sz="1550" b="1" i="0">
                <a:solidFill>
                  <a:srgbClr val="23282F"/>
                </a:solidFill>
                <a:latin typeface="Calibri"/>
              </a:rPr>
              <a:t>87.4% is TRM as published.</a:t>
            </a:r>
          </a:p>
        </p:txBody>
      </p:sp>
      <p:graphicFrame>
        <p:nvGraphicFramePr>
          <p:cNvPr id="7" name="Table 6"/>
          <p:cNvGraphicFramePr>
            <a:graphicFrameLocks noGrp="1"/>
          </p:cNvGraphicFramePr>
          <p:nvPr/>
        </p:nvGraphicFramePr>
        <p:xfrm>
          <a:off x="502920" y="1462913"/>
          <a:ext cx="11186129" cy="3383280"/>
        </p:xfrm>
        <a:graphic>
          <a:graphicData uri="http://schemas.openxmlformats.org/drawingml/2006/table">
            <a:tbl>
              <a:tblPr bandRow="1">
                <a:tableStyleId>{5C22544A-7EE6-4342-B048-85BDC9FD1C3A}</a:tableStyleId>
              </a:tblPr>
              <a:tblGrid>
                <a:gridCol w="9114624"/>
                <a:gridCol w="828602"/>
                <a:gridCol w="1242903"/>
              </a:tblGrid>
              <a:tr h="338328">
                <a:tc>
                  <a:txBody>
                    <a:bodyPr wrap="square"/>
                    <a:lstStyle/>
                    <a:p>
                      <a:pPr algn="l"/>
                    </a:p>
                  </a:txBody>
                  <a:tcPr marL="64008" marR="64008" marT="27432" marB="27432" anchor="ctr">
                    <a:solidFill>
                      <a:srgbClr val="F4F5F7"/>
                    </a:solidFill>
                  </a:tcPr>
                </a:tc>
                <a:tc>
                  <a:txBody>
                    <a:bodyPr wrap="square"/>
                    <a:lstStyle/>
                    <a:p>
                      <a:pPr algn="l"/>
                      <a:r>
                        <a:rPr sz="1350" b="1" i="0">
                          <a:solidFill>
                            <a:srgbClr val="5A6472"/>
                          </a:solidFill>
                          <a:latin typeface="Calibri"/>
                        </a:rPr>
                        <a:t>acc</a:t>
                      </a:r>
                    </a:p>
                  </a:txBody>
                  <a:tcPr marL="64008" marR="64008" marT="27432" marB="27432" anchor="ctr">
                    <a:solidFill>
                      <a:srgbClr val="F4F5F7"/>
                    </a:solidFill>
                  </a:tcPr>
                </a:tc>
                <a:tc>
                  <a:txBody>
                    <a:bodyPr wrap="square"/>
                    <a:lstStyle/>
                    <a:p>
                      <a:pPr algn="l"/>
                      <a:r>
                        <a:rPr sz="1350" b="1" i="0">
                          <a:solidFill>
                            <a:srgbClr val="5A6472"/>
                          </a:solidFill>
                          <a:latin typeface="Calibri"/>
                        </a:rPr>
                        <a:t>params</a:t>
                      </a:r>
                    </a:p>
                  </a:txBody>
                  <a:tcPr marL="64008" marR="64008" marT="27432" marB="27432" anchor="ctr">
                    <a:solidFill>
                      <a:srgbClr val="F4F5F7"/>
                    </a:solidFill>
                  </a:tcPr>
                </a:tc>
              </a:tr>
              <a:tr h="338328">
                <a:tc>
                  <a:txBody>
                    <a:bodyPr wrap="square"/>
                    <a:lstStyle/>
                    <a:p>
                      <a:pPr algn="l"/>
                      <a:r>
                        <a:rPr sz="1350" b="1" i="0">
                          <a:solidFill>
                            <a:srgbClr val="23282F"/>
                          </a:solidFill>
                          <a:latin typeface="Calibri"/>
                        </a:rPr>
                        <a:t>TRM as published</a:t>
                      </a:r>
                    </a:p>
                  </a:txBody>
                  <a:tcPr marL="64008" marR="64008" marT="27432" marB="27432" anchor="ctr">
                    <a:solidFill>
                      <a:srgbClr val="FFFFFF"/>
                    </a:solidFill>
                  </a:tcPr>
                </a:tc>
                <a:tc>
                  <a:txBody>
                    <a:bodyPr wrap="square"/>
                    <a:lstStyle/>
                    <a:p>
                      <a:pPr algn="r"/>
                      <a:r>
                        <a:rPr sz="1350" b="1" i="0">
                          <a:solidFill>
                            <a:srgbClr val="23282F"/>
                          </a:solidFill>
                          <a:latin typeface="Calibri"/>
                        </a:rPr>
                        <a:t>87.4</a:t>
                      </a:r>
                    </a:p>
                  </a:txBody>
                  <a:tcPr marL="64008" marR="64008" marT="27432" marB="27432" anchor="ctr">
                    <a:solidFill>
                      <a:srgbClr val="FFFFFF"/>
                    </a:solidFill>
                  </a:tcPr>
                </a:tc>
                <a:tc>
                  <a:txBody>
                    <a:bodyPr wrap="square"/>
                    <a:lstStyle/>
                    <a:p>
                      <a:pPr algn="l"/>
                      <a:r>
                        <a:rPr sz="1350" b="0" i="0">
                          <a:solidFill>
                            <a:srgbClr val="23282F"/>
                          </a:solidFill>
                          <a:latin typeface="Calibri"/>
                        </a:rPr>
                        <a:t>5M</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with HRM's 1-step gradient</a:t>
                      </a:r>
                    </a:p>
                  </a:txBody>
                  <a:tcPr marL="64008" marR="64008" marT="27432" marB="27432" anchor="ctr">
                    <a:solidFill>
                      <a:srgbClr val="FFFFFF"/>
                    </a:solidFill>
                  </a:tcPr>
                </a:tc>
                <a:tc>
                  <a:txBody>
                    <a:bodyPr wrap="square"/>
                    <a:lstStyle/>
                    <a:p>
                      <a:pPr algn="r"/>
                      <a:r>
                        <a:rPr sz="1350" b="1" i="0">
                          <a:solidFill>
                            <a:srgbClr val="23282F"/>
                          </a:solidFill>
                          <a:latin typeface="Calibri"/>
                        </a:rPr>
                        <a:t>56.5</a:t>
                      </a:r>
                    </a:p>
                  </a:txBody>
                  <a:tcPr marL="64008" marR="64008" marT="27432" marB="27432" anchor="ctr">
                    <a:solidFill>
                      <a:srgbClr val="FFFFFF"/>
                    </a:solidFill>
                  </a:tcPr>
                </a:tc>
                <a:tc>
                  <a:txBody>
                    <a:bodyPr wrap="square"/>
                    <a:lstStyle/>
                    <a:p>
                      <a:pPr algn="l"/>
                      <a:r>
                        <a:rPr sz="1350" b="0" i="0">
                          <a:solidFill>
                            <a:srgbClr val="23282F"/>
                          </a:solidFill>
                          <a:latin typeface="Calibri"/>
                        </a:rPr>
                        <a:t>5M</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with HRM's recursion depth</a:t>
                      </a:r>
                    </a:p>
                  </a:txBody>
                  <a:tcPr marL="64008" marR="64008" marT="27432" marB="27432" anchor="ctr">
                    <a:solidFill>
                      <a:srgbClr val="FFFFFF"/>
                    </a:solidFill>
                  </a:tcPr>
                </a:tc>
                <a:tc>
                  <a:txBody>
                    <a:bodyPr wrap="square"/>
                    <a:lstStyle/>
                    <a:p>
                      <a:pPr algn="r"/>
                      <a:r>
                        <a:rPr sz="1350" b="0" i="0">
                          <a:solidFill>
                            <a:srgbClr val="23282F"/>
                          </a:solidFill>
                          <a:latin typeface="Calibri"/>
                        </a:rPr>
                        <a:t>73.7</a:t>
                      </a:r>
                    </a:p>
                  </a:txBody>
                  <a:tcPr marL="64008" marR="64008" marT="27432" marB="27432" anchor="ctr">
                    <a:solidFill>
                      <a:srgbClr val="FFFFFF"/>
                    </a:solidFill>
                  </a:tcPr>
                </a:tc>
                <a:tc>
                  <a:txBody>
                    <a:bodyPr wrap="square"/>
                    <a:lstStyle/>
                    <a:p>
                      <a:pPr algn="l"/>
                      <a:r>
                        <a:rPr sz="1350" b="0" i="0">
                          <a:solidFill>
                            <a:srgbClr val="23282F"/>
                          </a:solidFill>
                          <a:latin typeface="Calibri"/>
                        </a:rPr>
                        <a:t>5M</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with self-attention instead of the MLP mixer</a:t>
                      </a:r>
                    </a:p>
                  </a:txBody>
                  <a:tcPr marL="64008" marR="64008" marT="27432" marB="27432" anchor="ctr">
                    <a:solidFill>
                      <a:srgbClr val="FFFFFF"/>
                    </a:solidFill>
                  </a:tcPr>
                </a:tc>
                <a:tc>
                  <a:txBody>
                    <a:bodyPr wrap="square"/>
                    <a:lstStyle/>
                    <a:p>
                      <a:pPr algn="r"/>
                      <a:r>
                        <a:rPr sz="1350" b="0" i="0">
                          <a:solidFill>
                            <a:srgbClr val="23282F"/>
                          </a:solidFill>
                          <a:latin typeface="Calibri"/>
                        </a:rPr>
                        <a:t>74.7</a:t>
                      </a:r>
                    </a:p>
                  </a:txBody>
                  <a:tcPr marL="64008" marR="64008" marT="27432" marB="27432" anchor="ctr">
                    <a:solidFill>
                      <a:srgbClr val="FFFFFF"/>
                    </a:solidFill>
                  </a:tcPr>
                </a:tc>
                <a:tc>
                  <a:txBody>
                    <a:bodyPr wrap="square"/>
                    <a:lstStyle/>
                    <a:p>
                      <a:pPr algn="l"/>
                      <a:r>
                        <a:rPr sz="1350" b="0" i="0">
                          <a:solidFill>
                            <a:srgbClr val="23282F"/>
                          </a:solidFill>
                          <a:latin typeface="Calibri"/>
                        </a:rPr>
                        <a:t>7M</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with 4 layers instead of 2</a:t>
                      </a:r>
                    </a:p>
                  </a:txBody>
                  <a:tcPr marL="64008" marR="64008" marT="27432" marB="27432" anchor="ctr">
                    <a:solidFill>
                      <a:srgbClr val="FFFFFF"/>
                    </a:solidFill>
                  </a:tcPr>
                </a:tc>
                <a:tc>
                  <a:txBody>
                    <a:bodyPr wrap="square"/>
                    <a:lstStyle/>
                    <a:p>
                      <a:pPr algn="r"/>
                      <a:r>
                        <a:rPr sz="1350" b="0" i="0">
                          <a:solidFill>
                            <a:srgbClr val="23282F"/>
                          </a:solidFill>
                          <a:latin typeface="Calibri"/>
                        </a:rPr>
                        <a:t>79.5</a:t>
                      </a:r>
                    </a:p>
                  </a:txBody>
                  <a:tcPr marL="64008" marR="64008" marT="27432" marB="27432" anchor="ctr">
                    <a:solidFill>
                      <a:srgbClr val="FFFFFF"/>
                    </a:solidFill>
                  </a:tcPr>
                </a:tc>
                <a:tc>
                  <a:txBody>
                    <a:bodyPr wrap="square"/>
                    <a:lstStyle/>
                    <a:p>
                      <a:pPr algn="l"/>
                      <a:r>
                        <a:rPr sz="1350" b="0" i="0">
                          <a:solidFill>
                            <a:srgbClr val="23282F"/>
                          </a:solidFill>
                          <a:latin typeface="Calibri"/>
                        </a:rPr>
                        <a:t>10M</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without EMA</a:t>
                      </a:r>
                    </a:p>
                  </a:txBody>
                  <a:tcPr marL="64008" marR="64008" marT="27432" marB="27432" anchor="ctr">
                    <a:solidFill>
                      <a:srgbClr val="FFFFFF"/>
                    </a:solidFill>
                  </a:tcPr>
                </a:tc>
                <a:tc>
                  <a:txBody>
                    <a:bodyPr wrap="square"/>
                    <a:lstStyle/>
                    <a:p>
                      <a:pPr algn="r"/>
                      <a:r>
                        <a:rPr sz="1350" b="0" i="0">
                          <a:solidFill>
                            <a:srgbClr val="23282F"/>
                          </a:solidFill>
                          <a:latin typeface="Calibri"/>
                        </a:rPr>
                        <a:t>79.9</a:t>
                      </a:r>
                    </a:p>
                  </a:txBody>
                  <a:tcPr marL="64008" marR="64008" marT="27432" marB="27432" anchor="ctr">
                    <a:solidFill>
                      <a:srgbClr val="FFFFFF"/>
                    </a:solidFill>
                  </a:tcPr>
                </a:tc>
                <a:tc>
                  <a:txBody>
                    <a:bodyPr wrap="square"/>
                    <a:lstStyle/>
                    <a:p>
                      <a:pPr algn="l"/>
                      <a:r>
                        <a:rPr sz="1350" b="0" i="0">
                          <a:solidFill>
                            <a:srgbClr val="23282F"/>
                          </a:solidFill>
                          <a:latin typeface="Calibri"/>
                        </a:rPr>
                        <a:t>5M</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with two networks instead of one</a:t>
                      </a:r>
                    </a:p>
                  </a:txBody>
                  <a:tcPr marL="64008" marR="64008" marT="27432" marB="27432" anchor="ctr">
                    <a:solidFill>
                      <a:srgbClr val="FFFFFF"/>
                    </a:solidFill>
                  </a:tcPr>
                </a:tc>
                <a:tc>
                  <a:txBody>
                    <a:bodyPr wrap="square"/>
                    <a:lstStyle/>
                    <a:p>
                      <a:pPr algn="r"/>
                      <a:r>
                        <a:rPr sz="1350" b="0" i="0">
                          <a:solidFill>
                            <a:srgbClr val="23282F"/>
                          </a:solidFill>
                          <a:latin typeface="Calibri"/>
                        </a:rPr>
                        <a:t>82.4</a:t>
                      </a:r>
                    </a:p>
                  </a:txBody>
                  <a:tcPr marL="64008" marR="64008" marT="27432" marB="27432" anchor="ctr">
                    <a:solidFill>
                      <a:srgbClr val="FFFFFF"/>
                    </a:solidFill>
                  </a:tcPr>
                </a:tc>
                <a:tc>
                  <a:txBody>
                    <a:bodyPr wrap="square"/>
                    <a:lstStyle/>
                    <a:p>
                      <a:pPr algn="l"/>
                      <a:r>
                        <a:rPr sz="1350" b="0" i="0">
                          <a:solidFill>
                            <a:srgbClr val="23282F"/>
                          </a:solidFill>
                          <a:latin typeface="Calibri"/>
                        </a:rPr>
                        <a:t>10M</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with HRM's 2-pass halting</a:t>
                      </a:r>
                    </a:p>
                  </a:txBody>
                  <a:tcPr marL="64008" marR="64008" marT="27432" marB="27432" anchor="ctr">
                    <a:solidFill>
                      <a:srgbClr val="FFFFFF"/>
                    </a:solidFill>
                  </a:tcPr>
                </a:tc>
                <a:tc>
                  <a:txBody>
                    <a:bodyPr wrap="square"/>
                    <a:lstStyle/>
                    <a:p>
                      <a:pPr algn="r"/>
                      <a:r>
                        <a:rPr sz="1350" b="0" i="0">
                          <a:solidFill>
                            <a:srgbClr val="23282F"/>
                          </a:solidFill>
                          <a:latin typeface="Calibri"/>
                        </a:rPr>
                        <a:t>86.1</a:t>
                      </a:r>
                    </a:p>
                  </a:txBody>
                  <a:tcPr marL="64008" marR="64008" marT="27432" marB="27432" anchor="ctr">
                    <a:solidFill>
                      <a:srgbClr val="FFFFFF"/>
                    </a:solidFill>
                  </a:tcPr>
                </a:tc>
                <a:tc>
                  <a:txBody>
                    <a:bodyPr wrap="square"/>
                    <a:lstStyle/>
                    <a:p>
                      <a:pPr algn="l"/>
                      <a:r>
                        <a:rPr sz="1350" b="0" i="0">
                          <a:solidFill>
                            <a:srgbClr val="23282F"/>
                          </a:solidFill>
                          <a:latin typeface="Calibri"/>
                        </a:rPr>
                        <a:t>5M</a:t>
                      </a:r>
                    </a:p>
                  </a:txBody>
                  <a:tcPr marL="64008" marR="64008" marT="27432" marB="27432" anchor="ctr">
                    <a:solidFill>
                      <a:srgbClr val="FFFFFF"/>
                    </a:solidFill>
                  </a:tcPr>
                </a:tc>
              </a:tr>
              <a:tr h="338328">
                <a:tc>
                  <a:txBody>
                    <a:bodyPr wrap="square"/>
                    <a:lstStyle/>
                    <a:p>
                      <a:pPr algn="l"/>
                      <a:r>
                        <a:rPr sz="1350" b="0" i="0">
                          <a:solidFill>
                            <a:srgbClr val="23282F"/>
                          </a:solidFill>
                          <a:latin typeface="Calibri"/>
                        </a:rPr>
                        <a:t>HRM itself</a:t>
                      </a:r>
                    </a:p>
                  </a:txBody>
                  <a:tcPr marL="64008" marR="64008" marT="27432" marB="27432" anchor="ctr">
                    <a:solidFill>
                      <a:srgbClr val="FFFFFF"/>
                    </a:solidFill>
                  </a:tcPr>
                </a:tc>
                <a:tc>
                  <a:txBody>
                    <a:bodyPr wrap="square"/>
                    <a:lstStyle/>
                    <a:p>
                      <a:pPr algn="r"/>
                      <a:r>
                        <a:rPr sz="1350" b="0" i="0">
                          <a:solidFill>
                            <a:srgbClr val="23282F"/>
                          </a:solidFill>
                          <a:latin typeface="Calibri"/>
                        </a:rPr>
                        <a:t>55.0</a:t>
                      </a:r>
                    </a:p>
                  </a:txBody>
                  <a:tcPr marL="64008" marR="64008" marT="27432" marB="27432" anchor="ctr">
                    <a:solidFill>
                      <a:srgbClr val="FFFFFF"/>
                    </a:solidFill>
                  </a:tcPr>
                </a:tc>
                <a:tc>
                  <a:txBody>
                    <a:bodyPr wrap="square"/>
                    <a:lstStyle/>
                    <a:p>
                      <a:pPr algn="l"/>
                      <a:r>
                        <a:rPr sz="1350" b="0" i="0">
                          <a:solidFill>
                            <a:srgbClr val="23282F"/>
                          </a:solidFill>
                          <a:latin typeface="Calibri"/>
                        </a:rPr>
                        <a:t>27M</a:t>
                      </a:r>
                    </a:p>
                  </a:txBody>
                  <a:tcPr marL="64008" marR="64008" marT="27432" marB="27432" anchor="ctr">
                    <a:solidFill>
                      <a:srgbClr val="FFFFFF"/>
                    </a:solidFill>
                  </a:tcPr>
                </a:tc>
              </a:tr>
            </a:tbl>
          </a:graphicData>
        </a:graphic>
      </p:graphicFrame>
      <p:sp>
        <p:nvSpPr>
          <p:cNvPr id="8" name="TextBox 7"/>
          <p:cNvSpPr txBox="1"/>
          <p:nvPr/>
        </p:nvSpPr>
        <p:spPr>
          <a:xfrm>
            <a:off x="502920" y="4937633"/>
            <a:ext cx="11186129" cy="347345"/>
          </a:xfrm>
          <a:prstGeom prst="rect">
            <a:avLst/>
          </a:prstGeom>
          <a:noFill/>
        </p:spPr>
        <p:txBody>
          <a:bodyPr wrap="square" lIns="0" rIns="0" tIns="0" bIns="0">
            <a:spAutoFit/>
          </a:bodyPr>
          <a:lstStyle/>
          <a:p>
            <a:r>
              <a:rPr sz="1550" b="1" i="0">
                <a:solidFill>
                  <a:srgbClr val="23282F"/>
                </a:solidFill>
                <a:latin typeface="Calibri"/>
              </a:rPr>
              <a:t>It is also slow.</a:t>
            </a:r>
            <a:r>
              <a:rPr sz="1550" b="0" i="0">
                <a:solidFill>
                  <a:srgbClr val="23282F"/>
                </a:solidFill>
                <a:latin typeface="Calibri"/>
              </a:rPr>
              <a:t> Sudoku: &lt;36 h on an L40S. ARC: ~3 days on 4×H100. For 7 M parameters.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Figure index</a:t>
            </a:r>
          </a:p>
        </p:txBody>
      </p:sp>
      <p:sp>
        <p:nvSpPr>
          <p:cNvPr id="3" name="Rectangle 2"/>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Backup — not presented      30</a:t>
            </a:r>
          </a:p>
        </p:txBody>
      </p:sp>
      <p:graphicFrame>
        <p:nvGraphicFramePr>
          <p:cNvPr id="6" name="Table 5"/>
          <p:cNvGraphicFramePr>
            <a:graphicFrameLocks noGrp="1"/>
          </p:cNvGraphicFramePr>
          <p:nvPr/>
        </p:nvGraphicFramePr>
        <p:xfrm>
          <a:off x="502920" y="1115568"/>
          <a:ext cx="11186128" cy="3764280"/>
        </p:xfrm>
        <a:graphic>
          <a:graphicData uri="http://schemas.openxmlformats.org/drawingml/2006/table">
            <a:tbl>
              <a:tblPr bandRow="1">
                <a:tableStyleId>{5C22544A-7EE6-4342-B048-85BDC9FD1C3A}</a:tableStyleId>
              </a:tblPr>
              <a:tblGrid>
                <a:gridCol w="588743"/>
                <a:gridCol w="5004321"/>
                <a:gridCol w="5593064"/>
              </a:tblGrid>
              <a:tr h="289560">
                <a:tc>
                  <a:txBody>
                    <a:bodyPr wrap="square"/>
                    <a:lstStyle/>
                    <a:p>
                      <a:pPr algn="l"/>
                      <a:r>
                        <a:rPr sz="1050" b="1" i="0">
                          <a:solidFill>
                            <a:srgbClr val="5A6472"/>
                          </a:solidFill>
                          <a:latin typeface="Calibri"/>
                        </a:rPr>
                        <a:t>#</a:t>
                      </a:r>
                    </a:p>
                  </a:txBody>
                  <a:tcPr marL="64008" marR="64008" marT="27432" marB="27432" anchor="ctr">
                    <a:solidFill>
                      <a:srgbClr val="F4F5F7"/>
                    </a:solidFill>
                  </a:tcPr>
                </a:tc>
                <a:tc>
                  <a:txBody>
                    <a:bodyPr wrap="square"/>
                    <a:lstStyle/>
                    <a:p>
                      <a:pPr algn="l"/>
                      <a:r>
                        <a:rPr sz="1050" b="1" i="0">
                          <a:solidFill>
                            <a:srgbClr val="5A6472"/>
                          </a:solidFill>
                          <a:latin typeface="Calibri"/>
                        </a:rPr>
                        <a:t>file</a:t>
                      </a:r>
                    </a:p>
                  </a:txBody>
                  <a:tcPr marL="64008" marR="64008" marT="27432" marB="27432" anchor="ctr">
                    <a:solidFill>
                      <a:srgbClr val="F4F5F7"/>
                    </a:solidFill>
                  </a:tcPr>
                </a:tc>
                <a:tc>
                  <a:txBody>
                    <a:bodyPr wrap="square"/>
                    <a:lstStyle/>
                    <a:p>
                      <a:pPr algn="l"/>
                      <a:r>
                        <a:rPr sz="1050" b="1" i="0">
                          <a:solidFill>
                            <a:srgbClr val="5A6472"/>
                          </a:solidFill>
                          <a:latin typeface="Calibri"/>
                        </a:rPr>
                        <a:t>slide</a:t>
                      </a:r>
                    </a:p>
                  </a:txBody>
                  <a:tcPr marL="64008" marR="64008" marT="27432" marB="27432" anchor="ctr">
                    <a:solidFill>
                      <a:srgbClr val="F4F5F7"/>
                    </a:solidFill>
                  </a:tcPr>
                </a:tc>
              </a:tr>
              <a:tr h="289560">
                <a:tc>
                  <a:txBody>
                    <a:bodyPr wrap="square"/>
                    <a:lstStyle/>
                    <a:p>
                      <a:pPr algn="l"/>
                      <a:r>
                        <a:rPr sz="1050" b="0" i="0">
                          <a:solidFill>
                            <a:srgbClr val="23282F"/>
                          </a:solidFill>
                          <a:latin typeface="Calibri"/>
                        </a:rPr>
                        <a:t>1</a:t>
                      </a:r>
                    </a:p>
                  </a:txBody>
                  <a:tcPr marL="64008" marR="64008" marT="27432" marB="27432" anchor="ctr">
                    <a:solidFill>
                      <a:srgbClr val="FFFFFF"/>
                    </a:solidFill>
                  </a:tcPr>
                </a:tc>
                <a:tc>
                  <a:txBody>
                    <a:bodyPr wrap="square"/>
                    <a:lstStyle/>
                    <a:p>
                      <a:pPr algn="l"/>
                      <a:r>
                        <a:rPr sz="1000" b="0" i="0">
                          <a:solidFill>
                            <a:srgbClr val="6B7482"/>
                          </a:solidFill>
                          <a:latin typeface="Consolas"/>
                        </a:rPr>
                        <a:t>fig01_medmamba_simple.svg</a:t>
                      </a:r>
                    </a:p>
                  </a:txBody>
                  <a:tcPr marL="64008" marR="64008" marT="27432" marB="27432" anchor="ctr">
                    <a:solidFill>
                      <a:srgbClr val="FFFFFF"/>
                    </a:solidFill>
                  </a:tcPr>
                </a:tc>
                <a:tc>
                  <a:txBody>
                    <a:bodyPr wrap="square"/>
                    <a:lstStyle/>
                    <a:p>
                      <a:pPr algn="l"/>
                      <a:r>
                        <a:rPr sz="1050" b="0" i="0">
                          <a:solidFill>
                            <a:srgbClr val="23282F"/>
                          </a:solidFill>
                          <a:latin typeface="Calibri"/>
                        </a:rPr>
                        <a:t>MedMamba, in one slide</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3</a:t>
                      </a:r>
                    </a:p>
                  </a:txBody>
                  <a:tcPr marL="64008" marR="64008" marT="27432" marB="27432" anchor="ctr">
                    <a:solidFill>
                      <a:srgbClr val="FFFFFF"/>
                    </a:solidFill>
                  </a:tcPr>
                </a:tc>
                <a:tc>
                  <a:txBody>
                    <a:bodyPr wrap="square"/>
                    <a:lstStyle/>
                    <a:p>
                      <a:pPr algn="l"/>
                      <a:r>
                        <a:rPr sz="1000" b="0" i="0">
                          <a:solidFill>
                            <a:srgbClr val="6B7482"/>
                          </a:solidFill>
                          <a:latin typeface="Consolas"/>
                        </a:rPr>
                        <a:t>fig03_block.svg</a:t>
                      </a:r>
                    </a:p>
                  </a:txBody>
                  <a:tcPr marL="64008" marR="64008" marT="27432" marB="27432" anchor="ctr">
                    <a:solidFill>
                      <a:srgbClr val="FFFFFF"/>
                    </a:solidFill>
                  </a:tcPr>
                </a:tc>
                <a:tc>
                  <a:txBody>
                    <a:bodyPr wrap="square"/>
                    <a:lstStyle/>
                    <a:p>
                      <a:pPr algn="l"/>
                      <a:r>
                        <a:rPr sz="1050" b="0" i="0">
                          <a:solidFill>
                            <a:srgbClr val="23282F"/>
                          </a:solidFill>
                          <a:latin typeface="Calibri"/>
                        </a:rPr>
                        <a:t>the three things we hung off the block</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4</a:t>
                      </a:r>
                    </a:p>
                  </a:txBody>
                  <a:tcPr marL="64008" marR="64008" marT="27432" marB="27432" anchor="ctr">
                    <a:solidFill>
                      <a:srgbClr val="FFFFFF"/>
                    </a:solidFill>
                  </a:tcPr>
                </a:tc>
                <a:tc>
                  <a:txBody>
                    <a:bodyPr wrap="square"/>
                    <a:lstStyle/>
                    <a:p>
                      <a:pPr algn="l"/>
                      <a:r>
                        <a:rPr sz="1000" b="0" i="0">
                          <a:solidFill>
                            <a:srgbClr val="6B7482"/>
                          </a:solidFill>
                          <a:latin typeface="Consolas"/>
                        </a:rPr>
                        <a:t>fig04_the_problem.svg</a:t>
                      </a:r>
                    </a:p>
                  </a:txBody>
                  <a:tcPr marL="64008" marR="64008" marT="27432" marB="27432" anchor="ctr">
                    <a:solidFill>
                      <a:srgbClr val="FFFFFF"/>
                    </a:solidFill>
                  </a:tcPr>
                </a:tc>
                <a:tc>
                  <a:txBody>
                    <a:bodyPr wrap="square"/>
                    <a:lstStyle/>
                    <a:p>
                      <a:pPr algn="l"/>
                      <a:r>
                        <a:rPr sz="1000" b="0" i="0">
                          <a:solidFill>
                            <a:srgbClr val="6B7482"/>
                          </a:solidFill>
                          <a:latin typeface="Consolas"/>
                        </a:rPr>
                        <a:t>C</a:t>
                      </a:r>
                      <a:r>
                        <a:rPr sz="1050" b="0" i="0">
                          <a:solidFill>
                            <a:srgbClr val="23282F"/>
                          </a:solidFill>
                          <a:latin typeface="Calibri"/>
                        </a:rPr>
                        <a:t> welded into the weights</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5</a:t>
                      </a:r>
                    </a:p>
                  </a:txBody>
                  <a:tcPr marL="64008" marR="64008" marT="27432" marB="27432" anchor="ctr">
                    <a:solidFill>
                      <a:srgbClr val="FFFFFF"/>
                    </a:solidFill>
                  </a:tcPr>
                </a:tc>
                <a:tc>
                  <a:txBody>
                    <a:bodyPr wrap="square"/>
                    <a:lstStyle/>
                    <a:p>
                      <a:pPr algn="l"/>
                      <a:r>
                        <a:rPr sz="1000" b="0" i="0">
                          <a:solidFill>
                            <a:srgbClr val="6B7482"/>
                          </a:solidFill>
                          <a:latin typeface="Consolas"/>
                        </a:rPr>
                        <a:t>fig05_stem_swap.svg</a:t>
                      </a:r>
                    </a:p>
                  </a:txBody>
                  <a:tcPr marL="64008" marR="64008" marT="27432" marB="27432" anchor="ctr">
                    <a:solidFill>
                      <a:srgbClr val="FFFFFF"/>
                    </a:solidFill>
                  </a:tcPr>
                </a:tc>
                <a:tc>
                  <a:txBody>
                    <a:bodyPr wrap="square"/>
                    <a:lstStyle/>
                    <a:p>
                      <a:pPr algn="l"/>
                      <a:r>
                        <a:rPr sz="1050" b="0" i="0">
                          <a:solidFill>
                            <a:srgbClr val="23282F"/>
                          </a:solidFill>
                          <a:latin typeface="Calibri"/>
                        </a:rPr>
                        <a:t>the fix: delete the stem</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6</a:t>
                      </a:r>
                    </a:p>
                  </a:txBody>
                  <a:tcPr marL="64008" marR="64008" marT="27432" marB="27432" anchor="ctr">
                    <a:solidFill>
                      <a:srgbClr val="FFFFFF"/>
                    </a:solidFill>
                  </a:tcPr>
                </a:tc>
                <a:tc>
                  <a:txBody>
                    <a:bodyPr wrap="square"/>
                    <a:lstStyle/>
                    <a:p>
                      <a:pPr algn="l"/>
                      <a:r>
                        <a:rPr sz="1000" b="0" i="0">
                          <a:solidFill>
                            <a:srgbClr val="6B7482"/>
                          </a:solidFill>
                          <a:latin typeface="Consolas"/>
                        </a:rPr>
                        <a:t>fig06_why_c_vanishes.svg</a:t>
                      </a:r>
                    </a:p>
                  </a:txBody>
                  <a:tcPr marL="64008" marR="64008" marT="27432" marB="27432" anchor="ctr">
                    <a:solidFill>
                      <a:srgbClr val="FFFFFF"/>
                    </a:solidFill>
                  </a:tcPr>
                </a:tc>
                <a:tc>
                  <a:txBody>
                    <a:bodyPr wrap="square"/>
                    <a:lstStyle/>
                    <a:p>
                      <a:pPr algn="l"/>
                      <a:r>
                        <a:rPr sz="1050" b="1" i="0">
                          <a:solidFill>
                            <a:srgbClr val="C2703A"/>
                          </a:solidFill>
                          <a:latin typeface="Calibri"/>
                        </a:rPr>
                        <a:t>●</a:t>
                      </a:r>
                      <a:r>
                        <a:rPr sz="1050" b="0" i="0">
                          <a:solidFill>
                            <a:srgbClr val="23282F"/>
                          </a:solidFill>
                          <a:latin typeface="Calibri"/>
                        </a:rPr>
                        <a:t> why </a:t>
                      </a:r>
                      <a:r>
                        <a:rPr sz="1000" b="0" i="0">
                          <a:solidFill>
                            <a:srgbClr val="6B7482"/>
                          </a:solidFill>
                          <a:latin typeface="Consolas"/>
                        </a:rPr>
                        <a:t>C</a:t>
                      </a:r>
                      <a:r>
                        <a:rPr sz="1050" b="0" i="0">
                          <a:solidFill>
                            <a:srgbClr val="23282F"/>
                          </a:solidFill>
                          <a:latin typeface="Calibri"/>
                        </a:rPr>
                        <a:t> vanishes</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19</a:t>
                      </a:r>
                    </a:p>
                  </a:txBody>
                  <a:tcPr marL="64008" marR="64008" marT="27432" marB="27432" anchor="ctr">
                    <a:solidFill>
                      <a:srgbClr val="FFFFFF"/>
                    </a:solidFill>
                  </a:tcPr>
                </a:tc>
                <a:tc>
                  <a:txBody>
                    <a:bodyPr wrap="square"/>
                    <a:lstStyle/>
                    <a:p>
                      <a:pPr algn="l"/>
                      <a:r>
                        <a:rPr sz="1000" b="0" i="0">
                          <a:solidFill>
                            <a:srgbClr val="6B7482"/>
                          </a:solidFill>
                          <a:latin typeface="Consolas"/>
                        </a:rPr>
                        <a:t>fig19_trm_maze.svg</a:t>
                      </a:r>
                    </a:p>
                  </a:txBody>
                  <a:tcPr marL="64008" marR="64008" marT="27432" marB="27432" anchor="ctr">
                    <a:solidFill>
                      <a:srgbClr val="FFFFFF"/>
                    </a:solidFill>
                  </a:tcPr>
                </a:tc>
                <a:tc>
                  <a:txBody>
                    <a:bodyPr wrap="square"/>
                    <a:lstStyle/>
                    <a:p>
                      <a:pPr algn="l"/>
                      <a:r>
                        <a:rPr sz="1050" b="1" i="0">
                          <a:solidFill>
                            <a:srgbClr val="C2703A"/>
                          </a:solidFill>
                          <a:latin typeface="Calibri"/>
                        </a:rPr>
                        <a:t>●</a:t>
                      </a:r>
                      <a:r>
                        <a:rPr sz="1050" b="0" i="0">
                          <a:solidFill>
                            <a:srgbClr val="23282F"/>
                          </a:solidFill>
                          <a:latin typeface="Calibri"/>
                        </a:rPr>
                        <a:t> a maze, solved in pencil</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20</a:t>
                      </a:r>
                    </a:p>
                  </a:txBody>
                  <a:tcPr marL="64008" marR="64008" marT="27432" marB="27432" anchor="ctr">
                    <a:solidFill>
                      <a:srgbClr val="FFFFFF"/>
                    </a:solidFill>
                  </a:tcPr>
                </a:tc>
                <a:tc>
                  <a:txBody>
                    <a:bodyPr wrap="square"/>
                    <a:lstStyle/>
                    <a:p>
                      <a:pPr algn="l"/>
                      <a:r>
                        <a:rPr sz="1000" b="0" i="0">
                          <a:solidFill>
                            <a:srgbClr val="6B7482"/>
                          </a:solidFill>
                          <a:latin typeface="Consolas"/>
                        </a:rPr>
                        <a:t>fig20_trm_maze_refine.svg</a:t>
                      </a:r>
                    </a:p>
                  </a:txBody>
                  <a:tcPr marL="64008" marR="64008" marT="27432" marB="27432" anchor="ctr">
                    <a:solidFill>
                      <a:srgbClr val="FFFFFF"/>
                    </a:solidFill>
                  </a:tcPr>
                </a:tc>
                <a:tc>
                  <a:txBody>
                    <a:bodyPr wrap="square"/>
                    <a:lstStyle/>
                    <a:p>
                      <a:pPr algn="l"/>
                      <a:r>
                        <a:rPr sz="1050" b="0" i="0">
                          <a:solidFill>
                            <a:srgbClr val="23282F"/>
                          </a:solidFill>
                          <a:latin typeface="Calibri"/>
                        </a:rPr>
                        <a:t>why it gets better each pass</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10</a:t>
                      </a:r>
                    </a:p>
                  </a:txBody>
                  <a:tcPr marL="64008" marR="64008" marT="27432" marB="27432" anchor="ctr">
                    <a:solidFill>
                      <a:srgbClr val="FFFFFF"/>
                    </a:solidFill>
                  </a:tcPr>
                </a:tc>
                <a:tc>
                  <a:txBody>
                    <a:bodyPr wrap="square"/>
                    <a:lstStyle/>
                    <a:p>
                      <a:pPr algn="l"/>
                      <a:r>
                        <a:rPr sz="1000" b="0" i="0">
                          <a:solidFill>
                            <a:srgbClr val="6B7482"/>
                          </a:solidFill>
                          <a:latin typeface="Consolas"/>
                        </a:rPr>
                        <a:t>fig10_nograd.svg</a:t>
                      </a:r>
                    </a:p>
                  </a:txBody>
                  <a:tcPr marL="64008" marR="64008" marT="27432" marB="27432" anchor="ctr">
                    <a:solidFill>
                      <a:srgbClr val="FFFFFF"/>
                    </a:solidFill>
                  </a:tcPr>
                </a:tc>
                <a:tc>
                  <a:txBody>
                    <a:bodyPr wrap="square"/>
                    <a:lstStyle/>
                    <a:p>
                      <a:pPr algn="l"/>
                      <a:r>
                        <a:rPr sz="1050" b="1" i="0">
                          <a:solidFill>
                            <a:srgbClr val="C2703A"/>
                          </a:solidFill>
                          <a:latin typeface="Calibri"/>
                        </a:rPr>
                        <a:t>●</a:t>
                      </a:r>
                      <a:r>
                        <a:rPr sz="1050" b="0" i="0">
                          <a:solidFill>
                            <a:srgbClr val="23282F"/>
                          </a:solidFill>
                          <a:latin typeface="Calibri"/>
                        </a:rPr>
                        <a:t> the gradient question</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11</a:t>
                      </a:r>
                    </a:p>
                  </a:txBody>
                  <a:tcPr marL="64008" marR="64008" marT="27432" marB="27432" anchor="ctr">
                    <a:solidFill>
                      <a:srgbClr val="FFFFFF"/>
                    </a:solidFill>
                  </a:tcPr>
                </a:tc>
                <a:tc>
                  <a:txBody>
                    <a:bodyPr wrap="square"/>
                    <a:lstStyle/>
                    <a:p>
                      <a:pPr algn="l"/>
                      <a:r>
                        <a:rPr sz="1000" b="0" i="0">
                          <a:solidFill>
                            <a:srgbClr val="6B7482"/>
                          </a:solidFill>
                          <a:latin typeface="Consolas"/>
                        </a:rPr>
                        <a:t>fig11_deep_supervision.svg</a:t>
                      </a:r>
                    </a:p>
                  </a:txBody>
                  <a:tcPr marL="64008" marR="64008" marT="27432" marB="27432" anchor="ctr">
                    <a:solidFill>
                      <a:srgbClr val="FFFFFF"/>
                    </a:solidFill>
                  </a:tcPr>
                </a:tc>
                <a:tc>
                  <a:txBody>
                    <a:bodyPr wrap="square"/>
                    <a:lstStyle/>
                    <a:p>
                      <a:pPr algn="l"/>
                      <a:r>
                        <a:rPr sz="1050" b="0" i="0">
                          <a:solidFill>
                            <a:srgbClr val="23282F"/>
                          </a:solidFill>
                          <a:latin typeface="Calibri"/>
                        </a:rPr>
                        <a:t>deep supervision and halting</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13</a:t>
                      </a:r>
                    </a:p>
                  </a:txBody>
                  <a:tcPr marL="64008" marR="64008" marT="27432" marB="27432" anchor="ctr">
                    <a:solidFill>
                      <a:srgbClr val="FFFFFF"/>
                    </a:solidFill>
                  </a:tcPr>
                </a:tc>
                <a:tc>
                  <a:txBody>
                    <a:bodyPr wrap="square"/>
                    <a:lstStyle/>
                    <a:p>
                      <a:pPr algn="l"/>
                      <a:r>
                        <a:rPr sz="1000" b="0" i="0">
                          <a:solidFill>
                            <a:srgbClr val="6B7482"/>
                          </a:solidFill>
                          <a:latin typeface="Consolas"/>
                        </a:rPr>
                        <a:t>fig13_two_backbones.svg</a:t>
                      </a:r>
                    </a:p>
                  </a:txBody>
                  <a:tcPr marL="64008" marR="64008" marT="27432" marB="27432" anchor="ctr">
                    <a:solidFill>
                      <a:srgbClr val="FFFFFF"/>
                    </a:solidFill>
                  </a:tcPr>
                </a:tc>
                <a:tc>
                  <a:txBody>
                    <a:bodyPr wrap="square"/>
                    <a:lstStyle/>
                    <a:p>
                      <a:pPr algn="l"/>
                      <a:r>
                        <a:rPr sz="1050" b="0" i="0">
                          <a:solidFill>
                            <a:srgbClr val="23282F"/>
                          </a:solidFill>
                          <a:latin typeface="Calibri"/>
                        </a:rPr>
                        <a:t>two backbones, one flag</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16</a:t>
                      </a:r>
                    </a:p>
                  </a:txBody>
                  <a:tcPr marL="64008" marR="64008" marT="27432" marB="27432" anchor="ctr">
                    <a:solidFill>
                      <a:srgbClr val="FFFFFF"/>
                    </a:solidFill>
                  </a:tcPr>
                </a:tc>
                <a:tc>
                  <a:txBody>
                    <a:bodyPr wrap="square"/>
                    <a:lstStyle/>
                    <a:p>
                      <a:pPr algn="l"/>
                      <a:r>
                        <a:rPr sz="1000" b="0" i="0">
                          <a:solidFill>
                            <a:srgbClr val="6B7482"/>
                          </a:solidFill>
                          <a:latin typeface="Consolas"/>
                        </a:rPr>
                        <a:t>fig16_lineage.svg</a:t>
                      </a:r>
                    </a:p>
                  </a:txBody>
                  <a:tcPr marL="64008" marR="64008" marT="27432" marB="27432" anchor="ctr">
                    <a:solidFill>
                      <a:srgbClr val="FFFFFF"/>
                    </a:solidFill>
                  </a:tcPr>
                </a:tc>
                <a:tc>
                  <a:txBody>
                    <a:bodyPr wrap="square"/>
                    <a:lstStyle/>
                    <a:p>
                      <a:pPr algn="l"/>
                      <a:r>
                        <a:rPr sz="1050" b="0" i="0">
                          <a:solidFill>
                            <a:srgbClr val="23282F"/>
                          </a:solidFill>
                          <a:latin typeface="Calibri"/>
                        </a:rPr>
                        <a:t>provenance</a:t>
                      </a:r>
                    </a:p>
                  </a:txBody>
                  <a:tcPr marL="64008" marR="64008" marT="27432" marB="27432" anchor="ctr">
                    <a:solidFill>
                      <a:srgbClr val="FFFFFF"/>
                    </a:solidFill>
                  </a:tcPr>
                </a:tc>
              </a:tr>
              <a:tr h="289560">
                <a:tc>
                  <a:txBody>
                    <a:bodyPr wrap="square"/>
                    <a:lstStyle/>
                    <a:p>
                      <a:pPr algn="l"/>
                      <a:r>
                        <a:rPr sz="1050" b="0" i="0">
                          <a:solidFill>
                            <a:srgbClr val="23282F"/>
                          </a:solidFill>
                          <a:latin typeface="Calibri"/>
                        </a:rPr>
                        <a:t>17</a:t>
                      </a:r>
                    </a:p>
                  </a:txBody>
                  <a:tcPr marL="64008" marR="64008" marT="27432" marB="27432" anchor="ctr">
                    <a:solidFill>
                      <a:srgbClr val="FFFFFF"/>
                    </a:solidFill>
                  </a:tcPr>
                </a:tc>
                <a:tc>
                  <a:txBody>
                    <a:bodyPr wrap="square"/>
                    <a:lstStyle/>
                    <a:p>
                      <a:pPr algn="l"/>
                      <a:r>
                        <a:rPr sz="1000" b="0" i="0">
                          <a:solidFill>
                            <a:srgbClr val="6B7482"/>
                          </a:solidFill>
                          <a:latin typeface="Consolas"/>
                        </a:rPr>
                        <a:t>fig17_gmedmamba_r_architecture.svg</a:t>
                      </a:r>
                    </a:p>
                  </a:txBody>
                  <a:tcPr marL="64008" marR="64008" marT="27432" marB="27432" anchor="ctr">
                    <a:solidFill>
                      <a:srgbClr val="FFFFFF"/>
                    </a:solidFill>
                  </a:tcPr>
                </a:tc>
                <a:tc>
                  <a:txBody>
                    <a:bodyPr wrap="square"/>
                    <a:lstStyle/>
                    <a:p>
                      <a:pPr algn="l"/>
                      <a:r>
                        <a:rPr sz="1050" b="1" i="0">
                          <a:solidFill>
                            <a:srgbClr val="C2703A"/>
                          </a:solidFill>
                          <a:latin typeface="Calibri"/>
                        </a:rPr>
                        <a:t>●</a:t>
                      </a:r>
                      <a:r>
                        <a:rPr sz="1050" b="0" i="0">
                          <a:solidFill>
                            <a:srgbClr val="23282F"/>
                          </a:solidFill>
                          <a:latin typeface="Calibri"/>
                        </a:rPr>
                        <a:t> full architecture</a:t>
                      </a:r>
                    </a:p>
                  </a:txBody>
                  <a:tcPr marL="64008" marR="64008" marT="27432" marB="27432" anchor="ctr">
                    <a:solidFill>
                      <a:srgbClr val="FFFFFF"/>
                    </a:solidFill>
                  </a:tcPr>
                </a:tc>
              </a:tr>
            </a:tbl>
          </a:graphicData>
        </a:graphic>
      </p:graphicFrame>
      <p:sp>
        <p:nvSpPr>
          <p:cNvPr id="7" name="TextBox 6"/>
          <p:cNvSpPr txBox="1"/>
          <p:nvPr/>
        </p:nvSpPr>
        <p:spPr>
          <a:xfrm>
            <a:off x="502920" y="4971287"/>
            <a:ext cx="11186129" cy="710565"/>
          </a:xfrm>
          <a:prstGeom prst="rect">
            <a:avLst/>
          </a:prstGeom>
          <a:noFill/>
        </p:spPr>
        <p:txBody>
          <a:bodyPr wrap="square" lIns="0" rIns="0" tIns="0" bIns="0">
            <a:spAutoFit/>
          </a:bodyPr>
          <a:lstStyle/>
          <a:p>
            <a:r>
              <a:rPr sz="1250" b="1" i="0">
                <a:solidFill>
                  <a:srgbClr val="23282F"/>
                </a:solidFill>
                <a:latin typeface="Calibri"/>
              </a:rPr>
              <a:t>Figures 19 and 20 are generated</a:t>
            </a:r>
            <a:r>
              <a:rPr sz="1250" b="0" i="0">
                <a:solidFill>
                  <a:srgbClr val="23282F"/>
                </a:solidFill>
                <a:latin typeface="Calibri"/>
              </a:rPr>
              <a:t>, not hand-drawn — </a:t>
            </a:r>
            <a:r>
              <a:rPr sz="1200" b="0" i="0">
                <a:solidFill>
                  <a:srgbClr val="6B7482"/>
                </a:solidFill>
                <a:latin typeface="Consolas"/>
              </a:rPr>
              <a:t>doc/figures/make_maze_figs.py</a:t>
            </a:r>
            <a:r>
              <a:rPr sz="1250" b="0" i="0">
                <a:solidFill>
                  <a:srgbClr val="23282F"/>
                </a:solidFill>
                <a:latin typeface="Calibri"/>
              </a:rPr>
              <a:t> builds the maze, its true solution and two dead-end detours, and asserts that every drawn line is a walk over adjacent cells. Both carry </a:t>
            </a:r>
            <a:r>
              <a:rPr sz="1250" b="0" i="1">
                <a:solidFill>
                  <a:srgbClr val="23282F"/>
                </a:solidFill>
                <a:latin typeface="Calibri"/>
              </a:rPr>
              <a:t>"Illustration of the idea, not model output"</a:t>
            </a:r>
            <a:r>
              <a:rPr sz="1250" b="0" i="0">
                <a:solidFill>
                  <a:srgbClr val="23282F"/>
                </a:solidFill>
                <a:latin typeface="Calibri"/>
              </a:rPr>
              <a:t> on the figure itself; keep that line if you edit them.</a:t>
            </a:r>
          </a:p>
        </p:txBody>
      </p:sp>
      <p:sp>
        <p:nvSpPr>
          <p:cNvPr id="8" name="TextBox 7"/>
          <p:cNvSpPr txBox="1"/>
          <p:nvPr/>
        </p:nvSpPr>
        <p:spPr>
          <a:xfrm>
            <a:off x="502920" y="5681852"/>
            <a:ext cx="11186129" cy="710565"/>
          </a:xfrm>
          <a:prstGeom prst="rect">
            <a:avLst/>
          </a:prstGeom>
          <a:noFill/>
        </p:spPr>
        <p:txBody>
          <a:bodyPr wrap="square" lIns="0" rIns="0" tIns="0" bIns="0">
            <a:spAutoFit/>
          </a:bodyPr>
          <a:lstStyle/>
          <a:p>
            <a:r>
              <a:rPr sz="1250" b="1" i="0">
                <a:solidFill>
                  <a:srgbClr val="23282F"/>
                </a:solidFill>
                <a:latin typeface="Calibri"/>
              </a:rPr>
              <a:t>Held out of this version of the deck:</a:t>
            </a:r>
            <a:r>
              <a:rPr sz="1250" b="0" i="0">
                <a:solidFill>
                  <a:srgbClr val="23282F"/>
                </a:solidFill>
                <a:latin typeface="Calibri"/>
              </a:rPr>
              <a:t> </a:t>
            </a:r>
            <a:r>
              <a:rPr sz="1200" b="0" i="0">
                <a:solidFill>
                  <a:srgbClr val="6B7482"/>
                </a:solidFill>
                <a:latin typeface="Consolas"/>
              </a:rPr>
              <a:t>fig02_ss2d</a:t>
            </a:r>
            <a:r>
              <a:rPr sz="1250" b="0" i="0">
                <a:solidFill>
                  <a:srgbClr val="23282F"/>
                </a:solidFill>
                <a:latin typeface="Calibri"/>
              </a:rPr>
              <a:t>, </a:t>
            </a:r>
            <a:r>
              <a:rPr sz="1200" b="0" i="0">
                <a:solidFill>
                  <a:srgbClr val="6B7482"/>
                </a:solidFill>
                <a:latin typeface="Consolas"/>
              </a:rPr>
              <a:t>fig07_magnitude_bug</a:t>
            </a:r>
            <a:r>
              <a:rPr sz="1250" b="0" i="0">
                <a:solidFill>
                  <a:srgbClr val="23282F"/>
                </a:solidFill>
                <a:latin typeface="Calibri"/>
              </a:rPr>
              <a:t>, </a:t>
            </a:r>
            <a:r>
              <a:rPr sz="1200" b="0" i="0">
                <a:solidFill>
                  <a:srgbClr val="6B7482"/>
                </a:solidFill>
                <a:latin typeface="Consolas"/>
              </a:rPr>
              <a:t>fig08_trm_idea</a:t>
            </a:r>
            <a:r>
              <a:rPr sz="1250" b="0" i="0">
                <a:solidFill>
                  <a:srgbClr val="23282F"/>
                </a:solidFill>
                <a:latin typeface="Calibri"/>
              </a:rPr>
              <a:t>, </a:t>
            </a:r>
            <a:r>
              <a:rPr sz="1200" b="0" i="0">
                <a:solidFill>
                  <a:srgbClr val="6B7482"/>
                </a:solidFill>
                <a:latin typeface="Consolas"/>
              </a:rPr>
              <a:t>fig09_trm_loop</a:t>
            </a:r>
            <a:r>
              <a:rPr sz="1250" b="0" i="0">
                <a:solidFill>
                  <a:srgbClr val="23282F"/>
                </a:solidFill>
                <a:latin typeface="Calibri"/>
              </a:rPr>
              <a:t>, </a:t>
            </a:r>
            <a:r>
              <a:rPr sz="1200" b="0" i="0">
                <a:solidFill>
                  <a:srgbClr val="6B7482"/>
                </a:solidFill>
                <a:latin typeface="Consolas"/>
              </a:rPr>
              <a:t>fig12_gmedmamba_r_simple</a:t>
            </a:r>
            <a:r>
              <a:rPr sz="1250" b="0" i="0">
                <a:solidFill>
                  <a:srgbClr val="23282F"/>
                </a:solidFill>
                <a:latin typeface="Calibri"/>
              </a:rPr>
              <a:t>, </a:t>
            </a:r>
            <a:r>
              <a:rPr sz="1200" b="0" i="0">
                <a:solidFill>
                  <a:srgbClr val="6B7482"/>
                </a:solidFill>
                <a:latin typeface="Consolas"/>
              </a:rPr>
              <a:t>fig14_results</a:t>
            </a:r>
            <a:r>
              <a:rPr sz="1250" b="0" i="0">
                <a:solidFill>
                  <a:srgbClr val="23282F"/>
                </a:solidFill>
                <a:latin typeface="Calibri"/>
              </a:rPr>
              <a:t>, </a:t>
            </a:r>
            <a:r>
              <a:rPr sz="1200" b="0" i="0">
                <a:solidFill>
                  <a:srgbClr val="6B7482"/>
                </a:solidFill>
                <a:latin typeface="Consolas"/>
              </a:rPr>
              <a:t>fig15_the_catch</a:t>
            </a:r>
            <a:r>
              <a:rPr sz="1250" b="0" i="0">
                <a:solidFill>
                  <a:srgbClr val="23282F"/>
                </a:solidFill>
                <a:latin typeface="Calibri"/>
              </a:rPr>
              <a:t>, </a:t>
            </a:r>
            <a:r>
              <a:rPr sz="1200" b="0" i="0">
                <a:solidFill>
                  <a:srgbClr val="6B7482"/>
                </a:solidFill>
                <a:latin typeface="Consolas"/>
              </a:rPr>
              <a:t>fig18_then_vs_now</a:t>
            </a:r>
            <a:r>
              <a:rPr sz="1250" b="0" i="0">
                <a:solidFill>
                  <a:srgbClr val="23282F"/>
                </a:solidFill>
                <a:latin typeface="Calibri"/>
              </a:rPr>
              <a:t>. They are not stale — they are slides this version does not give. </a:t>
            </a:r>
            <a:r>
              <a:rPr sz="1200" b="0" i="0">
                <a:solidFill>
                  <a:srgbClr val="6B7482"/>
                </a:solidFill>
                <a:latin typeface="Consolas"/>
              </a:rPr>
              <a:t>fig14</a:t>
            </a:r>
            <a:r>
              <a:rPr sz="1250" b="0" i="0">
                <a:solidFill>
                  <a:srgbClr val="23282F"/>
                </a:solidFill>
                <a:latin typeface="Calibri"/>
              </a:rPr>
              <a:t> and </a:t>
            </a:r>
            <a:r>
              <a:rPr sz="1200" b="0" i="0">
                <a:solidFill>
                  <a:srgbClr val="6B7482"/>
                </a:solidFill>
                <a:latin typeface="Consolas"/>
              </a:rPr>
              <a:t>fig15</a:t>
            </a:r>
            <a:r>
              <a:rPr sz="1250" b="0" i="0">
                <a:solidFill>
                  <a:srgbClr val="23282F"/>
                </a:solidFill>
                <a:latin typeface="Calibri"/>
              </a:rPr>
              <a:t> are the results and cost figures, deliberately kept for Q&amp;A rather than the deck.</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02920" y="365760"/>
            <a:ext cx="9723089" cy="566928"/>
          </a:xfrm>
          <a:prstGeom prst="rect">
            <a:avLst/>
          </a:prstGeom>
          <a:noFill/>
        </p:spPr>
        <p:txBody>
          <a:bodyPr wrap="square" lIns="0" rIns="0" tIns="0" bIns="0">
            <a:spAutoFit/>
          </a:bodyPr>
          <a:lstStyle/>
          <a:p>
            <a:r>
              <a:rPr sz="2700" b="1" i="0">
                <a:solidFill>
                  <a:srgbClr val="23282F"/>
                </a:solidFill>
                <a:latin typeface="Calibri"/>
              </a:rPr>
              <a:t>If you're running long</a:t>
            </a:r>
          </a:p>
        </p:txBody>
      </p:sp>
      <p:sp>
        <p:nvSpPr>
          <p:cNvPr id="3" name="Rectangle 2"/>
          <p:cNvSpPr/>
          <p:nvPr/>
        </p:nvSpPr>
        <p:spPr>
          <a:xfrm>
            <a:off x="502920" y="987552"/>
            <a:ext cx="11186129" cy="25603"/>
          </a:xfrm>
          <a:prstGeom prst="rect">
            <a:avLst/>
          </a:prstGeom>
          <a:solidFill>
            <a:srgbClr val="D8DC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02920" y="987552"/>
            <a:ext cx="1051560" cy="25603"/>
          </a:xfrm>
          <a:prstGeom prst="rect">
            <a:avLst/>
          </a:prstGeom>
          <a:solidFill>
            <a:srgbClr val="5A647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2920" y="6473952"/>
            <a:ext cx="11186129" cy="237744"/>
          </a:xfrm>
          <a:prstGeom prst="rect">
            <a:avLst/>
          </a:prstGeom>
          <a:noFill/>
        </p:spPr>
        <p:txBody>
          <a:bodyPr wrap="square" lIns="0" rIns="0" tIns="0" bIns="0">
            <a:spAutoFit/>
          </a:bodyPr>
          <a:lstStyle/>
          <a:p>
            <a:r>
              <a:rPr sz="1000">
                <a:solidFill>
                  <a:srgbClr val="9AA2AD"/>
                </a:solidFill>
                <a:latin typeface="Calibri"/>
              </a:rPr>
              <a:t>Backup — not presented      31</a:t>
            </a:r>
          </a:p>
        </p:txBody>
      </p:sp>
      <p:sp>
        <p:nvSpPr>
          <p:cNvPr id="6" name="TextBox 5"/>
          <p:cNvSpPr txBox="1"/>
          <p:nvPr/>
        </p:nvSpPr>
        <p:spPr>
          <a:xfrm>
            <a:off x="502920" y="1115568"/>
            <a:ext cx="11186129" cy="859155"/>
          </a:xfrm>
          <a:prstGeom prst="rect">
            <a:avLst/>
          </a:prstGeom>
          <a:noFill/>
        </p:spPr>
        <p:txBody>
          <a:bodyPr wrap="square" lIns="0" rIns="0" tIns="0" bIns="0">
            <a:spAutoFit/>
          </a:bodyPr>
          <a:lstStyle/>
          <a:p>
            <a:r>
              <a:rPr sz="1550" b="0" i="0">
                <a:solidFill>
                  <a:srgbClr val="23282F"/>
                </a:solidFill>
                <a:latin typeface="Calibri"/>
              </a:rPr>
              <a:t>The authoritative cut table lives in </a:t>
            </a:r>
            <a:r>
              <a:rPr sz="1500" b="0" i="0">
                <a:solidFill>
                  <a:srgbClr val="6B7482"/>
                </a:solidFill>
                <a:latin typeface="Consolas"/>
              </a:rPr>
              <a:t>PRESENTATION_SPEAKER_SCRIPT.md</a:t>
            </a:r>
            <a:r>
              <a:rPr sz="1550" b="0" i="0">
                <a:solidFill>
                  <a:srgbClr val="23282F"/>
                </a:solidFill>
                <a:latin typeface="Calibri"/>
              </a:rPr>
              <a:t>, measured from the script itself. In short: drop </a:t>
            </a:r>
            <a:r>
              <a:rPr sz="1550" b="0" i="1">
                <a:solidFill>
                  <a:srgbClr val="23282F"/>
                </a:solidFill>
                <a:latin typeface="Calibri"/>
              </a:rPr>
              <a:t>What TRM deleted from HRM</a:t>
            </a:r>
            <a:r>
              <a:rPr sz="1550" b="0" i="0">
                <a:solidFill>
                  <a:srgbClr val="23282F"/>
                </a:solidFill>
                <a:latin typeface="Calibri"/>
              </a:rPr>
              <a:t> and </a:t>
            </a:r>
            <a:r>
              <a:rPr sz="1550" b="0" i="1">
                <a:solidFill>
                  <a:srgbClr val="23282F"/>
                </a:solidFill>
                <a:latin typeface="Calibri"/>
              </a:rPr>
              <a:t>Does it work</a:t>
            </a:r>
            <a:r>
              <a:rPr sz="1550" b="0" i="0">
                <a:solidFill>
                  <a:srgbClr val="23282F"/>
                </a:solidFill>
                <a:latin typeface="Calibri"/>
              </a:rPr>
              <a:t> first — both sit at the end of Part 2, so nothing downstream depends on them.</a:t>
            </a:r>
          </a:p>
        </p:txBody>
      </p:sp>
      <p:sp>
        <p:nvSpPr>
          <p:cNvPr id="7" name="TextBox 6"/>
          <p:cNvSpPr txBox="1"/>
          <p:nvPr/>
        </p:nvSpPr>
        <p:spPr>
          <a:xfrm>
            <a:off x="502920" y="1974723"/>
            <a:ext cx="11186129" cy="603250"/>
          </a:xfrm>
          <a:prstGeom prst="rect">
            <a:avLst/>
          </a:prstGeom>
          <a:noFill/>
        </p:spPr>
        <p:txBody>
          <a:bodyPr wrap="square" lIns="0" rIns="0" tIns="0" bIns="0">
            <a:spAutoFit/>
          </a:bodyPr>
          <a:lstStyle/>
          <a:p>
            <a:r>
              <a:rPr sz="1550" b="1" i="0">
                <a:solidFill>
                  <a:srgbClr val="23282F"/>
                </a:solidFill>
                <a:latin typeface="Calibri"/>
              </a:rPr>
              <a:t>Do not get shorter by gutting the middle of Part 2.</a:t>
            </a:r>
            <a:r>
              <a:rPr sz="1550" b="0" i="0">
                <a:solidFill>
                  <a:srgbClr val="23282F"/>
                </a:solidFill>
                <a:latin typeface="Calibri"/>
              </a:rPr>
              <a:t> Half a tutorial leaves a room that cannot follow Part 3. If you are handed 15 minutes, drop </a:t>
            </a:r>
            <a:r>
              <a:rPr sz="1550" b="1" i="0">
                <a:solidFill>
                  <a:srgbClr val="23282F"/>
                </a:solidFill>
                <a:latin typeface="Calibri"/>
              </a:rPr>
              <a:t>Part 3</a:t>
            </a:r>
            <a:r>
              <a:rPr sz="1550" b="0" i="0">
                <a:solidFill>
                  <a:srgbClr val="23282F"/>
                </a:solidFill>
                <a:latin typeface="Calibri"/>
              </a:rPr>
              <a:t>, not Part 2 — Part 2 stands alone and Part 3 does not.</a:t>
            </a:r>
          </a:p>
        </p:txBody>
      </p:sp>
      <p:sp>
        <p:nvSpPr>
          <p:cNvPr id="8" name="TextBox 7"/>
          <p:cNvSpPr txBox="1"/>
          <p:nvPr/>
        </p:nvSpPr>
        <p:spPr>
          <a:xfrm>
            <a:off x="502920" y="2577973"/>
            <a:ext cx="11186129" cy="603250"/>
          </a:xfrm>
          <a:prstGeom prst="rect">
            <a:avLst/>
          </a:prstGeom>
          <a:noFill/>
        </p:spPr>
        <p:txBody>
          <a:bodyPr wrap="square" lIns="0" rIns="0" tIns="0" bIns="0">
            <a:spAutoFit/>
          </a:bodyPr>
          <a:lstStyle/>
          <a:p>
            <a:r>
              <a:rPr sz="1550" b="1" i="0">
                <a:solidFill>
                  <a:srgbClr val="23282F"/>
                </a:solidFill>
                <a:latin typeface="Calibri"/>
              </a:rPr>
              <a:t>Never cut:</a:t>
            </a:r>
            <a:r>
              <a:rPr sz="1550" b="0" i="0">
                <a:solidFill>
                  <a:srgbClr val="23282F"/>
                </a:solidFill>
                <a:latin typeface="Calibri"/>
              </a:rPr>
              <a:t> </a:t>
            </a:r>
            <a:r>
              <a:rPr sz="1550" b="0" i="1">
                <a:solidFill>
                  <a:srgbClr val="23282F"/>
                </a:solidFill>
                <a:latin typeface="Calibri"/>
              </a:rPr>
              <a:t>Why C vanishes</a:t>
            </a:r>
            <a:r>
              <a:rPr sz="1550" b="0" i="0">
                <a:solidFill>
                  <a:srgbClr val="23282F"/>
                </a:solidFill>
                <a:latin typeface="Calibri"/>
              </a:rPr>
              <a:t> · </a:t>
            </a:r>
            <a:r>
              <a:rPr sz="1550" b="0" i="1">
                <a:solidFill>
                  <a:srgbClr val="23282F"/>
                </a:solidFill>
                <a:latin typeface="Calibri"/>
              </a:rPr>
              <a:t>Problem 2</a:t>
            </a:r>
            <a:r>
              <a:rPr sz="1550" b="0" i="0">
                <a:solidFill>
                  <a:srgbClr val="23282F"/>
                </a:solidFill>
                <a:latin typeface="Calibri"/>
              </a:rPr>
              <a:t> · </a:t>
            </a:r>
            <a:r>
              <a:rPr sz="1550" b="0" i="1">
                <a:solidFill>
                  <a:srgbClr val="23282F"/>
                </a:solidFill>
                <a:latin typeface="Calibri"/>
              </a:rPr>
              <a:t>A maze, solved in pencil</a:t>
            </a:r>
            <a:r>
              <a:rPr sz="1550" b="0" i="0">
                <a:solidFill>
                  <a:srgbClr val="23282F"/>
                </a:solidFill>
                <a:latin typeface="Calibri"/>
              </a:rPr>
              <a:t> · </a:t>
            </a:r>
            <a:r>
              <a:rPr sz="1550" b="0" i="1">
                <a:solidFill>
                  <a:srgbClr val="23282F"/>
                </a:solidFill>
                <a:latin typeface="Calibri"/>
              </a:rPr>
              <a:t>Why it gets better each pass</a:t>
            </a:r>
            <a:r>
              <a:rPr sz="1550" b="0" i="0">
                <a:solidFill>
                  <a:srgbClr val="23282F"/>
                </a:solidFill>
                <a:latin typeface="Calibri"/>
              </a:rPr>
              <a:t> · </a:t>
            </a:r>
            <a:r>
              <a:rPr sz="1550" b="0" i="1">
                <a:solidFill>
                  <a:srgbClr val="23282F"/>
                </a:solidFill>
                <a:latin typeface="Calibri"/>
              </a:rPr>
              <a:t>The same thing, precisely</a:t>
            </a:r>
            <a:r>
              <a:rPr sz="1550" b="0" i="0">
                <a:solidFill>
                  <a:srgbClr val="23282F"/>
                </a:solidFill>
                <a:latin typeface="Calibri"/>
              </a:rPr>
              <a:t> · </a:t>
            </a:r>
            <a:r>
              <a:rPr sz="1550" b="0" i="1">
                <a:solidFill>
                  <a:srgbClr val="23282F"/>
                </a:solidFill>
                <a:latin typeface="Calibri"/>
              </a:rPr>
              <a:t>The gradient question</a:t>
            </a:r>
            <a:r>
              <a:rPr sz="1550" b="0" i="0">
                <a:solidFill>
                  <a:srgbClr val="23282F"/>
                </a:solidFill>
                <a:latin typeface="Calibri"/>
              </a:rPr>
              <a: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